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6256000" cy="9144000"/>
  <p:notesSz cx="9144000" cy="16256000"/>
  <p:embeddedFontLst>
    <p:embeddedFont>
      <p:font typeface="Quattrocento Sans" charset="-122" pitchFamily="34"/>
      <p:regular r:id="rId21"/>
    </p:embeddedFont>
    <p:embeddedFont>
      <p:font typeface="Liter" charset="-122" pitchFamily="34"/>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Query Count</c:v>
                </c:pt>
              </c:strCache>
            </c:strRef>
          </c:tx>
          <c:spPr>
            <a:solidFill>
              <a:srgbClr val="1E3A3A"/>
            </a:solidFill>
            <a:effectLst/>
          </c:spPr>
          <c:invertIfNegative val="0"/>
          <c:dLbls>
            <c:numFmt formatCode="#,##0" sourceLinked="0"/>
            <c:txPr>
              <a:bodyPr/>
              <a:lstStyle/>
              <a:p>
                <a:pPr>
                  <a:defRPr b="0" i="0" strike="noStrike" sz="1200" u="none">
                    <a:solidFill>
                      <a:srgbClr val="F2EDE4"/>
                    </a:solidFill>
                    <a:latin typeface="Arial"/>
                  </a:defRPr>
                </a:pPr>
              </a:p>
            </c:txPr>
            <c:showLegendKey val="0"/>
            <c:showVal val="1"/>
            <c:showCatName val="0"/>
            <c:showSerName val="0"/>
            <c:showPercent val="0"/>
            <c:showBubbleSize val="0"/>
            <c:showLeaderLines val="0"/>
          </c:dLbls>
          <c:cat>
            <c:multiLvlStrRef>
              <c:f>Sheet1!$A$2:$A$8</c:f>
              <c:multiLvlStrCache>
                <c:ptCount val="7"/>
                <c:lvl>
                  <c:pt idx="0">
                    <c:v>SELECT</c:v>
                  </c:pt>
                  <c:pt idx="1">
                    <c:v>WHERE</c:v>
                  </c:pt>
                  <c:pt idx="2">
                    <c:v>ORDER BY</c:v>
                  </c:pt>
                  <c:pt idx="3">
                    <c:v>GROUP BY</c:v>
                  </c:pt>
                  <c:pt idx="4">
                    <c:v>HAVING</c:v>
                  </c:pt>
                  <c:pt idx="5">
                    <c:v>JOIN</c:v>
                  </c:pt>
                  <c:pt idx="6">
                    <c:v>AGGREGATES</c:v>
                  </c:pt>
                </c:lvl>
              </c:multiLvlStrCache>
            </c:multiLvlStrRef>
          </c:cat>
          <c:val>
            <c:numRef>
              <c:f>Sheet1!$B$2:$B$8</c:f>
              <c:numCache>
                <c:formatCode>General</c:formatCode>
                <c:ptCount val="7"/>
                <c:pt idx="0">
                  <c:v>20</c:v>
                </c:pt>
                <c:pt idx="1">
                  <c:v>15</c:v>
                </c:pt>
                <c:pt idx="2">
                  <c:v>10</c:v>
                </c:pt>
                <c:pt idx="3">
                  <c:v>12</c:v>
                </c:pt>
                <c:pt idx="4">
                  <c:v>8</c:v>
                </c:pt>
                <c:pt idx="5">
                  <c:v>14</c:v>
                </c:pt>
                <c:pt idx="6">
                  <c:v>18</c:v>
                </c:pt>
              </c:numCache>
            </c:numRef>
          </c:val>
        </c:ser>
        <c:dLbls>
          <c:numFmt formatCode="#,##0" sourceLinked="0"/>
          <c:txPr>
            <a:bodyPr/>
            <a:lstStyle/>
            <a:p>
              <a:pPr>
                <a:defRPr b="0" i="0" strike="noStrike" sz="1200" u="none">
                  <a:solidFill>
                    <a:srgbClr val="F2EDE4"/>
                  </a:solidFill>
                  <a:latin typeface="Arial"/>
                </a:defRPr>
              </a:pPr>
            </a:p>
          </c:txPr>
          <c:showLegendKey val="0"/>
          <c:showVal val="1"/>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C1C1C"/>
                </a:solidFill>
                <a:latin typeface="Arial"/>
              </a:defRPr>
            </a:pPr>
            <a:endParaRPr lang="en-US"/>
          </a:p>
        </c:txPr>
        <c:crossAx val="2094734552"/>
        <c:crosses val="autoZero"/>
        <c:auto val="1"/>
        <c:lblAlgn val="ctr"/>
        <c:noMultiLvlLbl val="1"/>
      </c:catAx>
      <c:valAx>
        <c:axId val="2094734552"/>
        <c:scaling>
          <c:orientation val="minMax"/>
        </c:scaling>
        <c:delete val="1"/>
        <c:axPos val="l"/>
        <c:majorGridlines>
          <c:spPr>
            <a:ln w="12700" cap="flat">
              <a:solidFill>
                <a:srgbClr val="E0E6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value</c:v>
                </c:pt>
              </c:strCache>
            </c:strRef>
          </c:tx>
          <c:spPr>
            <a:solidFill>
              <a:schemeClr val="accent1"/>
            </a:solidFill>
            <a:ln w="9525" cap="flat">
              <a:solidFill>
                <a:srgbClr val="F9F9F9"/>
              </a:solidFill>
              <a:prstDash val="solid"/>
              <a:round/>
            </a:ln>
            <a:effectLst/>
          </c:spPr>
          <c:dPt>
            <c:idx val="0"/>
            <c:bubble3D val="0"/>
            <c:spPr>
              <a:solidFill>
                <a:srgbClr val="1E3A3A"/>
              </a:solidFill>
              <a:effectLst/>
            </c:spPr>
          </c:dPt>
          <c:dPt>
            <c:idx val="1"/>
            <c:bubble3D val="0"/>
            <c:spPr>
              <a:solidFill>
                <a:srgbClr val="B87333"/>
              </a:solidFill>
              <a:effectLst/>
            </c:spPr>
          </c:dPt>
          <c:dLbls>
            <c:dLbl>
              <c:idx val="0"/>
              <c:numFmt formatCode="0%" sourceLinked="0"/>
              <c:spPr/>
              <c:txPr>
                <a:bodyPr/>
                <a:lstStyle/>
                <a:p>
                  <a:pPr>
                    <a:defRPr sz="1200" b="0" i="0" u="none" strike="noStrike">
                      <a:solidFill>
                        <a:srgbClr val="F2EDE4"/>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2EDE4"/>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Single Table</c:v>
                </c:pt>
                <c:pt idx="1">
                  <c:v>Multi-Table Join</c:v>
                </c:pt>
              </c:strCache>
            </c:strRef>
          </c:cat>
          <c:val>
            <c:numRef>
              <c:f>Sheet1!$B$2:$B$3</c:f>
              <c:numCache>
                <c:ptCount val="2"/>
                <c:pt idx="0">
                  <c:v>6</c:v>
                </c:pt>
                <c:pt idx="1">
                  <c:v>4</c:v>
                </c:pt>
              </c:numCache>
            </c:numRef>
          </c:val>
        </c:ser>
        <c:firstSliceAng val="0"/>
        <c:holeSize val="50"/>
      </c:doughnutChart>
      <c:spPr>
        <a:noFill/>
        <a:ln>
          <a:noFill/>
        </a:ln>
        <a:effectLst/>
      </c:spPr>
    </c:plotArea>
    <c:legend>
      <c:legendPos val="b"/>
      <c:overlay val="0"/>
      <c:txPr>
        <a:bodyPr/>
        <a:lstStyle/>
        <a:p>
          <a:pPr>
            <a:defRPr sz="1200">
              <a:solidFill>
                <a:srgbClr val="1C1C1C"/>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Sales ($)</c:v>
                </c:pt>
              </c:strCache>
            </c:strRef>
          </c:tx>
          <c:spPr>
            <a:solidFill>
              <a:srgbClr val="1E3A3A"/>
            </a:solidFill>
            <a:effectLst/>
          </c:spPr>
          <c:invertIfNegative val="0"/>
          <c:dLbls>
            <c:numFmt formatCode="#,##0" sourceLinked="0"/>
            <c:txPr>
              <a:bodyPr/>
              <a:lstStyle/>
              <a:p>
                <a:pPr>
                  <a:defRPr b="0" i="0" strike="noStrike" sz="1200" u="none">
                    <a:solidFill>
                      <a:srgbClr val="F2EDE4"/>
                    </a:solidFill>
                    <a:latin typeface="Arial"/>
                  </a:defRPr>
                </a:pPr>
              </a:p>
            </c:txPr>
            <c:showLegendKey val="0"/>
            <c:showVal val="1"/>
            <c:showCatName val="0"/>
            <c:showSerName val="0"/>
            <c:showPercent val="0"/>
            <c:showBubbleSize val="0"/>
            <c:showLeaderLines val="0"/>
          </c:dLbls>
          <c:cat>
            <c:multiLvlStrRef>
              <c:f>Sheet1!$A$2:$A$7</c:f>
              <c:multiLvlStrCache>
                <c:ptCount val="6"/>
                <c:lvl>
                  <c:pt idx="0">
                    <c:v>Fiction</c:v>
                  </c:pt>
                  <c:pt idx="1">
                    <c:v>Fantasy</c:v>
                  </c:pt>
                  <c:pt idx="2">
                    <c:v>Non-Fiction</c:v>
                  </c:pt>
                  <c:pt idx="3">
                    <c:v>Mystery</c:v>
                  </c:pt>
                  <c:pt idx="4">
                    <c:v>Sci-Fi</c:v>
                  </c:pt>
                  <c:pt idx="5">
                    <c:v>Romance</c:v>
                  </c:pt>
                </c:lvl>
              </c:multiLvlStrCache>
            </c:multiLvlStrRef>
          </c:cat>
          <c:val>
            <c:numRef>
              <c:f>Sheet1!$B$2:$B$7</c:f>
              <c:numCache>
                <c:formatCode>General</c:formatCode>
                <c:ptCount val="6"/>
                <c:pt idx="0">
                  <c:v>4500</c:v>
                </c:pt>
                <c:pt idx="1">
                  <c:v>3200</c:v>
                </c:pt>
                <c:pt idx="2">
                  <c:v>2800</c:v>
                </c:pt>
                <c:pt idx="3">
                  <c:v>2100</c:v>
                </c:pt>
                <c:pt idx="4">
                  <c:v>1800</c:v>
                </c:pt>
                <c:pt idx="5">
                  <c:v>1500</c:v>
                </c:pt>
              </c:numCache>
            </c:numRef>
          </c:val>
        </c:ser>
        <c:dLbls>
          <c:numFmt formatCode="#,##0" sourceLinked="0"/>
          <c:txPr>
            <a:bodyPr/>
            <a:lstStyle/>
            <a:p>
              <a:pPr>
                <a:defRPr b="0" i="0" strike="noStrike" sz="1200" u="none">
                  <a:solidFill>
                    <a:srgbClr val="F2EDE4"/>
                  </a:solidFill>
                  <a:latin typeface="Arial"/>
                </a:defRPr>
              </a:pPr>
            </a:p>
          </c:txPr>
          <c:showLegendKey val="0"/>
          <c:showVal val="1"/>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C1C1C"/>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d5cfc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1C1C1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Remaining Stock</c:v>
                </c:pt>
              </c:strCache>
            </c:strRef>
          </c:tx>
          <c:spPr>
            <a:solidFill>
              <a:srgbClr val="1E3A3A"/>
            </a:solidFill>
            <a:effectLst/>
          </c:spPr>
          <c:invertIfNegative val="0"/>
          <c:dLbls>
            <c:numFmt formatCode="#,##0" sourceLinked="0"/>
            <c:txPr>
              <a:bodyPr/>
              <a:lstStyle/>
              <a:p>
                <a:pPr>
                  <a:defRPr b="0" i="0" strike="noStrike" sz="1200" u="none">
                    <a:solidFill>
                      <a:srgbClr val="F2EDE4"/>
                    </a:solidFill>
                    <a:latin typeface="Arial"/>
                  </a:defRPr>
                </a:pPr>
              </a:p>
            </c:txPr>
            <c:showLegendKey val="0"/>
            <c:showVal val="1"/>
            <c:showCatName val="0"/>
            <c:showSerName val="0"/>
            <c:showPercent val="0"/>
            <c:showBubbleSize val="0"/>
            <c:showLeaderLines val="0"/>
          </c:dLbls>
          <c:cat>
            <c:multiLvlStrRef>
              <c:f>Sheet1!$A$2:$A$7</c:f>
              <c:multiLvlStrCache>
                <c:ptCount val="6"/>
                <c:lvl>
                  <c:pt idx="0">
                    <c:v>Fiction</c:v>
                  </c:pt>
                  <c:pt idx="1">
                    <c:v>Fantasy</c:v>
                  </c:pt>
                  <c:pt idx="2">
                    <c:v>Non-Fic</c:v>
                  </c:pt>
                  <c:pt idx="3">
                    <c:v>Mystery</c:v>
                  </c:pt>
                  <c:pt idx="4">
                    <c:v>Sci-Fi</c:v>
                  </c:pt>
                  <c:pt idx="5">
                    <c:v>Romance</c:v>
                  </c:pt>
                </c:lvl>
              </c:multiLvlStrCache>
            </c:multiLvlStrRef>
          </c:cat>
          <c:val>
            <c:numRef>
              <c:f>Sheet1!$B$2:$B$7</c:f>
              <c:numCache>
                <c:formatCode>General</c:formatCode>
                <c:ptCount val="6"/>
                <c:pt idx="0">
                  <c:v>850</c:v>
                </c:pt>
                <c:pt idx="1">
                  <c:v>620</c:v>
                </c:pt>
                <c:pt idx="2">
                  <c:v>540</c:v>
                </c:pt>
                <c:pt idx="3">
                  <c:v>380</c:v>
                </c:pt>
                <c:pt idx="4">
                  <c:v>290</c:v>
                </c:pt>
                <c:pt idx="5">
                  <c:v>167</c:v>
                </c:pt>
              </c:numCache>
            </c:numRef>
          </c:val>
        </c:ser>
        <c:dLbls>
          <c:numFmt formatCode="#,##0" sourceLinked="0"/>
          <c:txPr>
            <a:bodyPr/>
            <a:lstStyle/>
            <a:p>
              <a:pPr>
                <a:defRPr b="0" i="0" strike="noStrike" sz="1200" u="none">
                  <a:solidFill>
                    <a:srgbClr val="F2EDE4"/>
                  </a:solidFill>
                  <a:latin typeface="Arial"/>
                </a:defRPr>
              </a:pPr>
            </a:p>
          </c:txPr>
          <c:showLegendKey val="0"/>
          <c:showVal val="1"/>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C1C1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5cfc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C1C1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standard"/>
        <c:varyColors val="0"/>
        <c:ser>
          <c:idx val="0"/>
          <c:order val="0"/>
          <c:tx>
            <c:strRef>
              <c:f>Sheet1!$B$1</c:f>
              <c:strCache>
                <c:ptCount val="1"/>
                <c:pt idx="0">
                  <c:v>Proficiency</c:v>
                </c:pt>
              </c:strCache>
            </c:strRef>
          </c:tx>
          <c:spPr>
            <a:solidFill>
              <a:srgbClr val="1E3A3A"/>
            </a:solidFill>
            <a:ln w="25400" cap="flat">
              <a:solidFill>
                <a:srgbClr val="1E3A3A"/>
              </a:solidFill>
              <a:prstDash val="solid"/>
              <a:round/>
            </a:ln>
            <a:effectLst/>
          </c:spPr>
          <c:invertIfNegative val="0"/>
          <c:marker>
            <c:symbol val="circle"/>
            <c:size val="6"/>
            <c:spPr>
              <a:solidFill>
                <a:srgbClr val="1E3A3A"/>
              </a:solidFill>
              <a:ln w="9525" cap="flat">
                <a:solidFill>
                  <a:srgbClr val="1E3A3A"/>
                </a:solidFill>
                <a:prstDash val="solid"/>
                <a:round/>
              </a:ln>
              <a:effectLst/>
            </c:spPr>
          </c:marker>
          <c:cat>
            <c:multiLvlStrRef>
              <c:f>Sheet1!$A$2:$A$6</c:f>
              <c:multiLvlStrCache>
                <c:ptCount val="5"/>
                <c:lvl>
                  <c:pt idx="0">
                    <c:v>MySQL</c:v>
                  </c:pt>
                  <c:pt idx="1">
                    <c:v>Relational DB</c:v>
                  </c:pt>
                  <c:pt idx="2">
                    <c:v>Data Analysis</c:v>
                  </c:pt>
                  <c:pt idx="3">
                    <c:v>Inventory Mgmt</c:v>
                  </c:pt>
                  <c:pt idx="4">
                    <c:v>Query Optim.</c:v>
                  </c:pt>
                </c:lvl>
              </c:multiLvlStrCache>
            </c:multiLvlStrRef>
          </c:cat>
          <c:val>
            <c:numRef>
              <c:f>Sheet1!$B$2:$B$6</c:f>
              <c:numCache>
                <c:formatCode>General</c:formatCode>
                <c:ptCount val="5"/>
                <c:pt idx="0">
                  <c:v>90</c:v>
                </c:pt>
                <c:pt idx="1">
                  <c:v>85</c:v>
                </c:pt>
                <c:pt idx="2">
                  <c:v>88</c:v>
                </c:pt>
                <c:pt idx="3">
                  <c:v>78</c:v>
                </c:pt>
                <c:pt idx="4">
                  <c:v>82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0E6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ttps://kimi-img.moonshot.cn/pub/slides/okc/k2z4c76ljeume/mnt/agents/output/bookstore_sql/images/9_Abstract_Glowing_Data_Streams_in.png">    </p:cNvPr>
          <p:cNvPicPr>
            <a:picLocks noChangeAspect="1"/>
          </p:cNvPicPr>
          <p:nvPr/>
        </p:nvPicPr>
        <p:blipFill>
          <a:blip r:embed="rId1"/>
          <a:srcRect l="111" r="111" t="0" b="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162B2B">
                  <a:alpha val="90000"/>
                </a:srgbClr>
              </a:gs>
              <a:gs pos="50000">
                <a:srgbClr val="162B2B">
                  <a:alpha val="80000"/>
                </a:srgbClr>
              </a:gs>
              <a:gs pos="100000">
                <a:srgbClr val="162B2B">
                  <a:alpha val="95000"/>
                </a:srgbClr>
              </a:gs>
            </a:gsLst>
            <a:lin ang="5400000" scaled="1"/>
          </a:gradFill>
          <a:ln w="12700">
            <a:solidFill>
              <a:srgbClr val="333333"/>
            </a:solidFill>
            <a:prstDash val="solid"/>
          </a:ln>
        </p:spPr>
      </p:sp>
      <p:sp>
        <p:nvSpPr>
          <p:cNvPr id="4" name="Shape 1"/>
          <p:cNvSpPr/>
          <p:nvPr/>
        </p:nvSpPr>
        <p:spPr>
          <a:xfrm>
            <a:off x="6858000" y="3302000"/>
            <a:ext cx="2540000" cy="38100"/>
          </a:xfrm>
          <a:prstGeom prst="rect">
            <a:avLst/>
          </a:prstGeom>
          <a:solidFill>
            <a:srgbClr val="B87333"/>
          </a:solidFill>
          <a:ln/>
        </p:spPr>
      </p:sp>
      <p:sp>
        <p:nvSpPr>
          <p:cNvPr id="5" name="Text 2"/>
          <p:cNvSpPr/>
          <p:nvPr/>
        </p:nvSpPr>
        <p:spPr>
          <a:xfrm>
            <a:off x="1778000" y="3556000"/>
            <a:ext cx="12700000" cy="762000"/>
          </a:xfrm>
          <a:prstGeom prst="rect">
            <a:avLst/>
          </a:prstGeom>
          <a:noFill/>
          <a:ln/>
        </p:spPr>
        <p:txBody>
          <a:bodyPr wrap="none" lIns="0" tIns="0" rIns="0" bIns="0" rtlCol="0" anchor="ctr"/>
          <a:lstStyle/>
          <a:p>
            <a:pPr algn="ctr">
              <a:lnSpc>
                <a:spcPct val="100000"/>
              </a:lnSpc>
            </a:pPr>
            <a:r>
              <a:rPr lang="en-US" sz="4200" spc="300" kern="0" dirty="0">
                <a:solidFill>
                  <a:srgbClr val="F2EDE4"/>
                </a:solidFill>
                <a:latin typeface="Liter" pitchFamily="34" charset="0"/>
                <a:ea typeface="Liter" pitchFamily="34" charset="-122"/>
                <a:cs typeface="Liter" pitchFamily="34" charset="-120"/>
              </a:rPr>
              <a:t>BOOKSTORE MANAGEMENT DATABASE</a:t>
            </a:r>
            <a:endParaRPr lang="en-US" sz="4200" dirty="0"/>
          </a:p>
        </p:txBody>
      </p:sp>
      <p:sp>
        <p:nvSpPr>
          <p:cNvPr id="6" name="Text 3"/>
          <p:cNvSpPr/>
          <p:nvPr/>
        </p:nvSpPr>
        <p:spPr>
          <a:xfrm>
            <a:off x="3048000" y="4572000"/>
            <a:ext cx="10160000" cy="381000"/>
          </a:xfrm>
          <a:prstGeom prst="rect">
            <a:avLst/>
          </a:prstGeom>
          <a:noFill/>
          <a:ln/>
        </p:spPr>
        <p:txBody>
          <a:bodyPr wrap="none" lIns="0" tIns="0" rIns="0" bIns="0" rtlCol="0" anchor="ctr"/>
          <a:lstStyle/>
          <a:p>
            <a:pPr algn="ctr">
              <a:lnSpc>
                <a:spcPct val="150000"/>
              </a:lnSpc>
            </a:pPr>
            <a:r>
              <a:rPr lang="en-US" sz="1800" dirty="0">
                <a:solidFill>
                  <a:srgbClr val="B8C4C4"/>
                </a:solidFill>
                <a:latin typeface="QuattrocentoSans" pitchFamily="34" charset="0"/>
                <a:ea typeface="QuattrocentoSans" pitchFamily="34" charset="-122"/>
                <a:cs typeface="QuattrocentoSans" pitchFamily="34" charset="-120"/>
              </a:rPr>
              <a:t>MySQL-based bookstore analysis project</a:t>
            </a:r>
            <a:endParaRPr lang="en-US" sz="1800" dirty="0"/>
          </a:p>
        </p:txBody>
      </p:sp>
      <p:sp>
        <p:nvSpPr>
          <p:cNvPr id="7" name="Text 4"/>
          <p:cNvSpPr/>
          <p:nvPr/>
        </p:nvSpPr>
        <p:spPr>
          <a:xfrm>
            <a:off x="3683000" y="5207000"/>
            <a:ext cx="8890000" cy="355600"/>
          </a:xfrm>
          <a:prstGeom prst="rect">
            <a:avLst/>
          </a:prstGeom>
          <a:noFill/>
          <a:ln/>
        </p:spPr>
        <p:txBody>
          <a:bodyPr wrap="none" lIns="0" tIns="0" rIns="0" bIns="0" rtlCol="0" anchor="ctr"/>
          <a:lstStyle/>
          <a:p>
            <a:pPr algn="ctr">
              <a:lnSpc>
                <a:spcPct val="100000"/>
              </a:lnSpc>
            </a:pPr>
            <a:r>
              <a:rPr lang="en-US" sz="1400" dirty="0">
                <a:solidFill>
                  <a:srgbClr val="8A9B8A"/>
                </a:solidFill>
                <a:latin typeface="Quattrocento Sans" pitchFamily="34" charset="0"/>
                <a:ea typeface="Quattrocento Sans" pitchFamily="34" charset="-122"/>
                <a:cs typeface="Quattrocento Sans" pitchFamily="34" charset="-120"/>
              </a:rPr>
              <a:t>Schema Design · CSV Data Import · SQL Analytics · Inventory Tracking</a:t>
            </a:r>
            <a:endParaRPr lang="en-US" sz="1600" dirty="0"/>
          </a:p>
        </p:txBody>
      </p:sp>
      <p:sp>
        <p:nvSpPr>
          <p:cNvPr id="8" name="Shape 5"/>
          <p:cNvSpPr/>
          <p:nvPr/>
        </p:nvSpPr>
        <p:spPr>
          <a:xfrm>
            <a:off x="762000" y="8128000"/>
            <a:ext cx="14732000" cy="12700"/>
          </a:xfrm>
          <a:prstGeom prst="rect">
            <a:avLst/>
          </a:prstGeom>
          <a:solidFill>
            <a:srgbClr val="F2EDE4">
              <a:alpha val="18824"/>
            </a:srgbClr>
          </a:solidFill>
          <a:ln/>
        </p:spPr>
      </p:sp>
      <p:sp>
        <p:nvSpPr>
          <p:cNvPr id="9" name="Text 6"/>
          <p:cNvSpPr/>
          <p:nvPr/>
        </p:nvSpPr>
        <p:spPr>
          <a:xfrm>
            <a:off x="762000" y="8331200"/>
            <a:ext cx="3810000" cy="254000"/>
          </a:xfrm>
          <a:prstGeom prst="rect">
            <a:avLst/>
          </a:prstGeom>
          <a:noFill/>
          <a:ln/>
        </p:spPr>
        <p:txBody>
          <a:bodyPr wrap="none" lIns="0" tIns="0" rIns="0" bIns="0" rtlCol="0" anchor="ctr"/>
          <a:lstStyle/>
          <a:p>
            <a:pPr>
              <a:lnSpc>
                <a:spcPct val="100000"/>
              </a:lnSpc>
            </a:pPr>
            <a:r>
              <a:rPr lang="en-US" sz="1200" dirty="0">
                <a:solidFill>
                  <a:srgbClr val="8A9B8A"/>
                </a:solidFill>
                <a:latin typeface="Quattrocento Sans" pitchFamily="34" charset="0"/>
                <a:ea typeface="Quattrocento Sans" pitchFamily="34" charset="-122"/>
                <a:cs typeface="Quattrocento Sans" pitchFamily="34" charset="-120"/>
              </a:rPr>
              <a:t>SQL PROJECT PRESENTATION</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DE4"/>
        </a:solidFill>
      </p:bgPr>
    </p:bg>
    <p:spTree>
      <p:nvGrpSpPr>
        <p:cNvPr id="1" name=""/>
        <p:cNvGrpSpPr/>
        <p:nvPr/>
      </p:nvGrpSpPr>
      <p:grpSpPr>
        <a:xfrm>
          <a:off x="0" y="0"/>
          <a:ext cx="0" cy="0"/>
          <a:chOff x="0" y="0"/>
          <a:chExt cx="0" cy="0"/>
        </a:xfrm>
      </p:grpSpPr>
      <p:sp>
        <p:nvSpPr>
          <p:cNvPr id="2" name="Text 0"/>
          <p:cNvSpPr/>
          <p:nvPr/>
        </p:nvSpPr>
        <p:spPr>
          <a:xfrm>
            <a:off x="762000" y="635000"/>
            <a:ext cx="2540000" cy="254000"/>
          </a:xfrm>
          <a:prstGeom prst="rect">
            <a:avLst/>
          </a:prstGeom>
          <a:noFill/>
          <a:ln/>
        </p:spPr>
        <p:txBody>
          <a:bodyPr wrap="none" lIns="0" tIns="0" rIns="0" bIns="0" rtlCol="0" anchor="ctr"/>
          <a:lstStyle/>
          <a:p>
            <a:pPr>
              <a:lnSpc>
                <a:spcPct val="100000"/>
              </a:lnSpc>
            </a:pPr>
            <a:r>
              <a:rPr lang="en-US" sz="1200" spc="200" kern="0" dirty="0">
                <a:solidFill>
                  <a:srgbClr val="8A9B8A"/>
                </a:solidFill>
                <a:latin typeface="Quattrocento Sans" pitchFamily="34" charset="0"/>
                <a:ea typeface="Quattrocento Sans" pitchFamily="34" charset="-122"/>
                <a:cs typeface="Quattrocento Sans" pitchFamily="34" charset="-120"/>
              </a:rPr>
              <a:t>AGENDA</a:t>
            </a:r>
            <a:endParaRPr lang="en-US" sz="1600" dirty="0"/>
          </a:p>
        </p:txBody>
      </p:sp>
      <p:sp>
        <p:nvSpPr>
          <p:cNvPr id="3" name="Text 1"/>
          <p:cNvSpPr/>
          <p:nvPr/>
        </p:nvSpPr>
        <p:spPr>
          <a:xfrm>
            <a:off x="762000" y="1016000"/>
            <a:ext cx="5080000" cy="571500"/>
          </a:xfrm>
          <a:prstGeom prst="rect">
            <a:avLst/>
          </a:prstGeom>
          <a:noFill/>
          <a:ln/>
        </p:spPr>
        <p:txBody>
          <a:bodyPr wrap="none" lIns="0" tIns="0" rIns="0" bIns="0" rtlCol="0" anchor="ctr"/>
          <a:lstStyle/>
          <a:p>
            <a:pPr>
              <a:lnSpc>
                <a:spcPct val="100000"/>
              </a:lnSpc>
            </a:pPr>
            <a:r>
              <a:rPr lang="en-US" sz="3600" dirty="0">
                <a:solidFill>
                  <a:srgbClr val="1E3A3A"/>
                </a:solidFill>
                <a:latin typeface="Liter" pitchFamily="34" charset="0"/>
                <a:ea typeface="Liter" pitchFamily="34" charset="-122"/>
                <a:cs typeface="Liter" pitchFamily="34" charset="-120"/>
              </a:rPr>
              <a:t>Table of Contents</a:t>
            </a:r>
            <a:endParaRPr lang="en-US" sz="2800" dirty="0"/>
          </a:p>
        </p:txBody>
      </p:sp>
      <p:sp>
        <p:nvSpPr>
          <p:cNvPr id="4" name="Shape 2"/>
          <p:cNvSpPr/>
          <p:nvPr/>
        </p:nvSpPr>
        <p:spPr>
          <a:xfrm>
            <a:off x="762000" y="1778000"/>
            <a:ext cx="14732000" cy="25400"/>
          </a:xfrm>
          <a:prstGeom prst="rect">
            <a:avLst/>
          </a:prstGeom>
          <a:solidFill>
            <a:srgbClr val="1E3A3A"/>
          </a:solidFill>
          <a:ln/>
        </p:spPr>
      </p:sp>
      <p:sp>
        <p:nvSpPr>
          <p:cNvPr id="5" name="Shape 3"/>
          <p:cNvSpPr/>
          <p:nvPr/>
        </p:nvSpPr>
        <p:spPr>
          <a:xfrm>
            <a:off x="762000" y="2286000"/>
            <a:ext cx="4572000" cy="5842000"/>
          </a:xfrm>
          <a:prstGeom prst="rect">
            <a:avLst/>
          </a:prstGeom>
          <a:solidFill>
            <a:srgbClr val="E8E2D6"/>
          </a:solidFill>
          <a:ln/>
        </p:spPr>
      </p:sp>
      <p:sp>
        <p:nvSpPr>
          <p:cNvPr id="6" name="Shape 4"/>
          <p:cNvSpPr/>
          <p:nvPr/>
        </p:nvSpPr>
        <p:spPr>
          <a:xfrm>
            <a:off x="762000" y="2286000"/>
            <a:ext cx="4572000" cy="63500"/>
          </a:xfrm>
          <a:prstGeom prst="rect">
            <a:avLst/>
          </a:prstGeom>
          <a:solidFill>
            <a:srgbClr val="B87333"/>
          </a:solidFill>
          <a:ln/>
        </p:spPr>
      </p:sp>
      <p:sp>
        <p:nvSpPr>
          <p:cNvPr id="7" name="Text 5"/>
          <p:cNvSpPr/>
          <p:nvPr/>
        </p:nvSpPr>
        <p:spPr>
          <a:xfrm>
            <a:off x="1143000" y="2794000"/>
            <a:ext cx="1270000" cy="762000"/>
          </a:xfrm>
          <a:prstGeom prst="rect">
            <a:avLst/>
          </a:prstGeom>
          <a:noFill/>
          <a:ln/>
        </p:spPr>
        <p:txBody>
          <a:bodyPr wrap="none" lIns="0" tIns="0" rIns="0" bIns="0" rtlCol="0" anchor="t"/>
          <a:lstStyle/>
          <a:p>
            <a:pPr>
              <a:lnSpc>
                <a:spcPct val="100000"/>
              </a:lnSpc>
            </a:pPr>
            <a:r>
              <a:rPr lang="en-US" sz="5600" dirty="0">
                <a:solidFill>
                  <a:srgbClr val="1E3A3A"/>
                </a:solidFill>
                <a:latin typeface="Liter" pitchFamily="34" charset="0"/>
                <a:ea typeface="Liter" pitchFamily="34" charset="-122"/>
                <a:cs typeface="Liter" pitchFamily="34" charset="-120"/>
              </a:rPr>
              <a:t>01</a:t>
            </a:r>
            <a:endParaRPr lang="en-US" sz="1600" dirty="0"/>
          </a:p>
        </p:txBody>
      </p:sp>
      <p:sp>
        <p:nvSpPr>
          <p:cNvPr id="8" name="Text 6"/>
          <p:cNvSpPr/>
          <p:nvPr/>
        </p:nvSpPr>
        <p:spPr>
          <a:xfrm>
            <a:off x="1143000" y="3810000"/>
            <a:ext cx="3810000" cy="381000"/>
          </a:xfrm>
          <a:prstGeom prst="rect">
            <a:avLst/>
          </a:prstGeom>
          <a:noFill/>
          <a:ln/>
        </p:spPr>
        <p:txBody>
          <a:bodyPr wrap="none" lIns="0" tIns="0" rIns="0" bIns="0" rtlCol="0" anchor="ctr"/>
          <a:lstStyle/>
          <a:p>
            <a:pPr>
              <a:lnSpc>
                <a:spcPct val="100000"/>
              </a:lnSpc>
            </a:pPr>
            <a:r>
              <a:rPr lang="en-US" sz="2200" dirty="0">
                <a:solidFill>
                  <a:srgbClr val="1E3A3A"/>
                </a:solidFill>
                <a:latin typeface="Liter" pitchFamily="34" charset="0"/>
                <a:ea typeface="Liter" pitchFamily="34" charset="-122"/>
                <a:cs typeface="Liter" pitchFamily="34" charset="-120"/>
              </a:rPr>
              <a:t>Project Overview</a:t>
            </a:r>
            <a:endParaRPr lang="en-US" sz="1600" dirty="0"/>
          </a:p>
        </p:txBody>
      </p:sp>
      <p:sp>
        <p:nvSpPr>
          <p:cNvPr id="9" name="Text 7"/>
          <p:cNvSpPr/>
          <p:nvPr/>
        </p:nvSpPr>
        <p:spPr>
          <a:xfrm>
            <a:off x="1143000" y="4381500"/>
            <a:ext cx="3810000" cy="1333500"/>
          </a:xfrm>
          <a:prstGeom prst="rect">
            <a:avLst/>
          </a:prstGeom>
          <a:noFill/>
          <a:ln/>
        </p:spPr>
        <p:txBody>
          <a:bodyPr wrap="square" lIns="0" tIns="0" rIns="0" bIns="0" rtlCol="0" anchor="t"/>
          <a:lstStyle/>
          <a:p>
            <a:pPr>
              <a:lnSpc>
                <a:spcPct val="160000"/>
              </a:lnSpc>
            </a:pPr>
            <a:r>
              <a:rPr lang="en-US" sz="1600" dirty="0">
                <a:solidFill>
                  <a:srgbClr val="1C1C1C"/>
                </a:solidFill>
                <a:latin typeface="Quattrocento Sans" pitchFamily="34" charset="0"/>
                <a:ea typeface="Quattrocento Sans" pitchFamily="34" charset="-122"/>
                <a:cs typeface="Quattrocento Sans" pitchFamily="34" charset="-120"/>
              </a:rPr>
              <a:t>Database structure, project objectives, and SQL concepts covered in this project</a:t>
            </a:r>
            <a:endParaRPr lang="en-US" sz="1600" dirty="0"/>
          </a:p>
        </p:txBody>
      </p:sp>
      <p:sp>
        <p:nvSpPr>
          <p:cNvPr id="10" name="Shape 8"/>
          <p:cNvSpPr/>
          <p:nvPr/>
        </p:nvSpPr>
        <p:spPr>
          <a:xfrm>
            <a:off x="1168400" y="7112000"/>
            <a:ext cx="355600" cy="406400"/>
          </a:xfrm>
          <a:custGeom>
            <a:avLst/>
            <a:gdLst/>
            <a:ahLst/>
            <a:cxnLst/>
            <a:rect l="l" t="t" r="r" b="b"/>
            <a:pathLst>
              <a:path w="355600" h="406400">
                <a:moveTo>
                  <a:pt x="355600" y="163354"/>
                </a:moveTo>
                <a:cubicBezTo>
                  <a:pt x="343853" y="171133"/>
                  <a:pt x="330359" y="177403"/>
                  <a:pt x="316309" y="182404"/>
                </a:cubicBezTo>
                <a:cubicBezTo>
                  <a:pt x="279003" y="195739"/>
                  <a:pt x="230029" y="203200"/>
                  <a:pt x="177800" y="203200"/>
                </a:cubicBezTo>
                <a:cubicBezTo>
                  <a:pt x="125571" y="203200"/>
                  <a:pt x="76518" y="195659"/>
                  <a:pt x="39291" y="182404"/>
                </a:cubicBezTo>
                <a:cubicBezTo>
                  <a:pt x="25321" y="177403"/>
                  <a:pt x="11747" y="171133"/>
                  <a:pt x="0" y="163354"/>
                </a:cubicBezTo>
                <a:lnTo>
                  <a:pt x="0" y="228600"/>
                </a:lnTo>
                <a:cubicBezTo>
                  <a:pt x="0" y="263684"/>
                  <a:pt x="79613" y="292100"/>
                  <a:pt x="177800" y="292100"/>
                </a:cubicBezTo>
                <a:cubicBezTo>
                  <a:pt x="275987" y="292100"/>
                  <a:pt x="355600" y="263684"/>
                  <a:pt x="355600" y="228600"/>
                </a:cubicBezTo>
                <a:lnTo>
                  <a:pt x="355600" y="163354"/>
                </a:lnTo>
                <a:close/>
                <a:moveTo>
                  <a:pt x="355600" y="101600"/>
                </a:moveTo>
                <a:lnTo>
                  <a:pt x="355600" y="63500"/>
                </a:lnTo>
                <a:cubicBezTo>
                  <a:pt x="355600" y="28416"/>
                  <a:pt x="275987" y="0"/>
                  <a:pt x="177800" y="0"/>
                </a:cubicBezTo>
                <a:cubicBezTo>
                  <a:pt x="79613" y="0"/>
                  <a:pt x="0" y="28416"/>
                  <a:pt x="0" y="63500"/>
                </a:cubicBezTo>
                <a:lnTo>
                  <a:pt x="0" y="101600"/>
                </a:lnTo>
                <a:cubicBezTo>
                  <a:pt x="0" y="136684"/>
                  <a:pt x="79613" y="165100"/>
                  <a:pt x="177800" y="165100"/>
                </a:cubicBezTo>
                <a:cubicBezTo>
                  <a:pt x="275987" y="165100"/>
                  <a:pt x="355600" y="136684"/>
                  <a:pt x="355600" y="101600"/>
                </a:cubicBezTo>
                <a:close/>
                <a:moveTo>
                  <a:pt x="316309" y="309404"/>
                </a:moveTo>
                <a:cubicBezTo>
                  <a:pt x="279083" y="322659"/>
                  <a:pt x="230108" y="330200"/>
                  <a:pt x="177800" y="330200"/>
                </a:cubicBezTo>
                <a:cubicBezTo>
                  <a:pt x="125492" y="330200"/>
                  <a:pt x="76518" y="322659"/>
                  <a:pt x="39291" y="309404"/>
                </a:cubicBezTo>
                <a:cubicBezTo>
                  <a:pt x="25321" y="304403"/>
                  <a:pt x="11747" y="298133"/>
                  <a:pt x="0" y="290354"/>
                </a:cubicBezTo>
                <a:lnTo>
                  <a:pt x="0" y="342900"/>
                </a:lnTo>
                <a:cubicBezTo>
                  <a:pt x="0" y="377984"/>
                  <a:pt x="79613" y="406400"/>
                  <a:pt x="177800" y="406400"/>
                </a:cubicBezTo>
                <a:cubicBezTo>
                  <a:pt x="275987" y="406400"/>
                  <a:pt x="355600" y="377984"/>
                  <a:pt x="355600" y="342900"/>
                </a:cubicBezTo>
                <a:lnTo>
                  <a:pt x="355600" y="290354"/>
                </a:lnTo>
                <a:cubicBezTo>
                  <a:pt x="343853" y="298133"/>
                  <a:pt x="330359" y="304403"/>
                  <a:pt x="316309" y="309404"/>
                </a:cubicBezTo>
                <a:close/>
              </a:path>
            </a:pathLst>
          </a:custGeom>
          <a:solidFill>
            <a:srgbClr val="8A9B8A"/>
          </a:solidFill>
          <a:ln/>
        </p:spPr>
      </p:sp>
      <p:sp>
        <p:nvSpPr>
          <p:cNvPr id="11" name="Shape 9"/>
          <p:cNvSpPr/>
          <p:nvPr/>
        </p:nvSpPr>
        <p:spPr>
          <a:xfrm>
            <a:off x="5842000" y="2286000"/>
            <a:ext cx="4572000" cy="5842000"/>
          </a:xfrm>
          <a:prstGeom prst="rect">
            <a:avLst/>
          </a:prstGeom>
          <a:solidFill>
            <a:srgbClr val="E8E2D6"/>
          </a:solidFill>
          <a:ln/>
        </p:spPr>
      </p:sp>
      <p:sp>
        <p:nvSpPr>
          <p:cNvPr id="12" name="Shape 10"/>
          <p:cNvSpPr/>
          <p:nvPr/>
        </p:nvSpPr>
        <p:spPr>
          <a:xfrm>
            <a:off x="5842000" y="2286000"/>
            <a:ext cx="4572000" cy="63500"/>
          </a:xfrm>
          <a:prstGeom prst="rect">
            <a:avLst/>
          </a:prstGeom>
          <a:solidFill>
            <a:srgbClr val="B87333"/>
          </a:solidFill>
          <a:ln/>
        </p:spPr>
      </p:sp>
      <p:sp>
        <p:nvSpPr>
          <p:cNvPr id="13" name="Text 11"/>
          <p:cNvSpPr/>
          <p:nvPr/>
        </p:nvSpPr>
        <p:spPr>
          <a:xfrm>
            <a:off x="6223000" y="2794000"/>
            <a:ext cx="1270000" cy="762000"/>
          </a:xfrm>
          <a:prstGeom prst="rect">
            <a:avLst/>
          </a:prstGeom>
          <a:noFill/>
          <a:ln/>
        </p:spPr>
        <p:txBody>
          <a:bodyPr wrap="none" lIns="0" tIns="0" rIns="0" bIns="0" rtlCol="0" anchor="t"/>
          <a:lstStyle/>
          <a:p>
            <a:pPr>
              <a:lnSpc>
                <a:spcPct val="100000"/>
              </a:lnSpc>
            </a:pPr>
            <a:r>
              <a:rPr lang="en-US" sz="5600" dirty="0">
                <a:solidFill>
                  <a:srgbClr val="1E3A3A"/>
                </a:solidFill>
                <a:latin typeface="Liter" pitchFamily="34" charset="0"/>
                <a:ea typeface="Liter" pitchFamily="34" charset="-122"/>
                <a:cs typeface="Liter" pitchFamily="34" charset="-120"/>
              </a:rPr>
              <a:t>02</a:t>
            </a:r>
            <a:endParaRPr lang="en-US" sz="1600" dirty="0"/>
          </a:p>
        </p:txBody>
      </p:sp>
      <p:sp>
        <p:nvSpPr>
          <p:cNvPr id="14" name="Text 12"/>
          <p:cNvSpPr/>
          <p:nvPr/>
        </p:nvSpPr>
        <p:spPr>
          <a:xfrm>
            <a:off x="6223000" y="3810000"/>
            <a:ext cx="3810000" cy="381000"/>
          </a:xfrm>
          <a:prstGeom prst="rect">
            <a:avLst/>
          </a:prstGeom>
          <a:noFill/>
          <a:ln/>
        </p:spPr>
        <p:txBody>
          <a:bodyPr wrap="none" lIns="0" tIns="0" rIns="0" bIns="0" rtlCol="0" anchor="ctr"/>
          <a:lstStyle/>
          <a:p>
            <a:pPr>
              <a:lnSpc>
                <a:spcPct val="100000"/>
              </a:lnSpc>
            </a:pPr>
            <a:r>
              <a:rPr lang="en-US" sz="2200" dirty="0">
                <a:solidFill>
                  <a:srgbClr val="1E3A3A"/>
                </a:solidFill>
                <a:latin typeface="Liter" pitchFamily="34" charset="0"/>
                <a:ea typeface="Liter" pitchFamily="34" charset="-122"/>
                <a:cs typeface="Liter" pitchFamily="34" charset="-120"/>
              </a:rPr>
              <a:t>Query Solutions</a:t>
            </a:r>
            <a:endParaRPr lang="en-US" sz="1600" dirty="0"/>
          </a:p>
        </p:txBody>
      </p:sp>
      <p:sp>
        <p:nvSpPr>
          <p:cNvPr id="15" name="Text 13"/>
          <p:cNvSpPr/>
          <p:nvPr/>
        </p:nvSpPr>
        <p:spPr>
          <a:xfrm>
            <a:off x="6223000" y="4381500"/>
            <a:ext cx="3810000" cy="1333500"/>
          </a:xfrm>
          <a:prstGeom prst="rect">
            <a:avLst/>
          </a:prstGeom>
          <a:noFill/>
          <a:ln/>
        </p:spPr>
        <p:txBody>
          <a:bodyPr wrap="square" lIns="0" tIns="0" rIns="0" bIns="0" rtlCol="0" anchor="t"/>
          <a:lstStyle/>
          <a:p>
            <a:pPr>
              <a:lnSpc>
                <a:spcPct val="160000"/>
              </a:lnSpc>
            </a:pPr>
            <a:r>
              <a:rPr lang="en-US" sz="1600" dirty="0">
                <a:solidFill>
                  <a:srgbClr val="1C1C1C"/>
                </a:solidFill>
                <a:latin typeface="Quattrocento Sans" pitchFamily="34" charset="0"/>
                <a:ea typeface="Quattrocento Sans" pitchFamily="34" charset="-122"/>
                <a:cs typeface="Quattrocento Sans" pitchFamily="34" charset="-120"/>
              </a:rPr>
              <a:t>20+ SQL queries across three complexity tiers from basic to advanced analytics</a:t>
            </a:r>
            <a:endParaRPr lang="en-US" sz="1600" dirty="0"/>
          </a:p>
        </p:txBody>
      </p:sp>
      <p:sp>
        <p:nvSpPr>
          <p:cNvPr id="16" name="Shape 14"/>
          <p:cNvSpPr/>
          <p:nvPr/>
        </p:nvSpPr>
        <p:spPr>
          <a:xfrm>
            <a:off x="6197600" y="7112000"/>
            <a:ext cx="457200" cy="406400"/>
          </a:xfrm>
          <a:custGeom>
            <a:avLst/>
            <a:gdLst/>
            <a:ahLst/>
            <a:cxnLst/>
            <a:rect l="l" t="t" r="r" b="b"/>
            <a:pathLst>
              <a:path w="457200" h="406400">
                <a:moveTo>
                  <a:pt x="286385" y="953"/>
                </a:moveTo>
                <a:cubicBezTo>
                  <a:pt x="272891" y="-2937"/>
                  <a:pt x="258842" y="4921"/>
                  <a:pt x="254953" y="18415"/>
                </a:cubicBezTo>
                <a:lnTo>
                  <a:pt x="153353" y="374015"/>
                </a:lnTo>
                <a:cubicBezTo>
                  <a:pt x="149463" y="387509"/>
                  <a:pt x="157321" y="401558"/>
                  <a:pt x="170815" y="405448"/>
                </a:cubicBezTo>
                <a:cubicBezTo>
                  <a:pt x="184309" y="409337"/>
                  <a:pt x="198358" y="401479"/>
                  <a:pt x="202248" y="387985"/>
                </a:cubicBezTo>
                <a:lnTo>
                  <a:pt x="303848" y="32385"/>
                </a:lnTo>
                <a:cubicBezTo>
                  <a:pt x="307737" y="18891"/>
                  <a:pt x="299879" y="4842"/>
                  <a:pt x="286385" y="953"/>
                </a:cubicBezTo>
                <a:close/>
                <a:moveTo>
                  <a:pt x="337661" y="108982"/>
                </a:moveTo>
                <a:cubicBezTo>
                  <a:pt x="327739" y="118904"/>
                  <a:pt x="327739" y="135017"/>
                  <a:pt x="337661" y="144939"/>
                </a:cubicBezTo>
                <a:lnTo>
                  <a:pt x="395922" y="203200"/>
                </a:lnTo>
                <a:lnTo>
                  <a:pt x="337661" y="261461"/>
                </a:lnTo>
                <a:cubicBezTo>
                  <a:pt x="327739" y="271383"/>
                  <a:pt x="327739" y="287496"/>
                  <a:pt x="337661" y="297418"/>
                </a:cubicBezTo>
                <a:cubicBezTo>
                  <a:pt x="347583" y="307340"/>
                  <a:pt x="363696" y="307340"/>
                  <a:pt x="373618" y="297418"/>
                </a:cubicBezTo>
                <a:lnTo>
                  <a:pt x="449818" y="221218"/>
                </a:lnTo>
                <a:cubicBezTo>
                  <a:pt x="459740" y="211296"/>
                  <a:pt x="459740" y="195183"/>
                  <a:pt x="449818" y="185261"/>
                </a:cubicBezTo>
                <a:lnTo>
                  <a:pt x="373618" y="109061"/>
                </a:lnTo>
                <a:cubicBezTo>
                  <a:pt x="363696" y="99139"/>
                  <a:pt x="347583" y="99139"/>
                  <a:pt x="337661" y="109061"/>
                </a:cubicBezTo>
                <a:close/>
                <a:moveTo>
                  <a:pt x="119618" y="108982"/>
                </a:moveTo>
                <a:cubicBezTo>
                  <a:pt x="109696" y="99060"/>
                  <a:pt x="93583" y="99060"/>
                  <a:pt x="83661" y="108982"/>
                </a:cubicBezTo>
                <a:lnTo>
                  <a:pt x="7461" y="185182"/>
                </a:lnTo>
                <a:cubicBezTo>
                  <a:pt x="-2461" y="195104"/>
                  <a:pt x="-2461" y="211217"/>
                  <a:pt x="7461" y="221139"/>
                </a:cubicBezTo>
                <a:lnTo>
                  <a:pt x="83661" y="297339"/>
                </a:lnTo>
                <a:cubicBezTo>
                  <a:pt x="93583" y="307261"/>
                  <a:pt x="109696" y="307261"/>
                  <a:pt x="119618" y="297339"/>
                </a:cubicBezTo>
                <a:cubicBezTo>
                  <a:pt x="129540" y="287417"/>
                  <a:pt x="129540" y="271304"/>
                  <a:pt x="119618" y="261382"/>
                </a:cubicBezTo>
                <a:lnTo>
                  <a:pt x="61357" y="203200"/>
                </a:lnTo>
                <a:lnTo>
                  <a:pt x="119539" y="144939"/>
                </a:lnTo>
                <a:cubicBezTo>
                  <a:pt x="129461" y="135017"/>
                  <a:pt x="129461" y="118904"/>
                  <a:pt x="119539" y="108982"/>
                </a:cubicBezTo>
                <a:close/>
              </a:path>
            </a:pathLst>
          </a:custGeom>
          <a:solidFill>
            <a:srgbClr val="8A9B8A"/>
          </a:solidFill>
          <a:ln/>
        </p:spPr>
      </p:sp>
      <p:sp>
        <p:nvSpPr>
          <p:cNvPr id="17" name="Shape 15"/>
          <p:cNvSpPr/>
          <p:nvPr/>
        </p:nvSpPr>
        <p:spPr>
          <a:xfrm>
            <a:off x="10922000" y="2286000"/>
            <a:ext cx="4572000" cy="5842000"/>
          </a:xfrm>
          <a:prstGeom prst="rect">
            <a:avLst/>
          </a:prstGeom>
          <a:solidFill>
            <a:srgbClr val="E8E2D6"/>
          </a:solidFill>
          <a:ln/>
        </p:spPr>
      </p:sp>
      <p:sp>
        <p:nvSpPr>
          <p:cNvPr id="18" name="Shape 16"/>
          <p:cNvSpPr/>
          <p:nvPr/>
        </p:nvSpPr>
        <p:spPr>
          <a:xfrm>
            <a:off x="10922000" y="2286000"/>
            <a:ext cx="4572000" cy="63500"/>
          </a:xfrm>
          <a:prstGeom prst="rect">
            <a:avLst/>
          </a:prstGeom>
          <a:solidFill>
            <a:srgbClr val="B87333"/>
          </a:solidFill>
          <a:ln/>
        </p:spPr>
      </p:sp>
      <p:sp>
        <p:nvSpPr>
          <p:cNvPr id="19" name="Text 17"/>
          <p:cNvSpPr/>
          <p:nvPr/>
        </p:nvSpPr>
        <p:spPr>
          <a:xfrm>
            <a:off x="11303000" y="2794000"/>
            <a:ext cx="1270000" cy="762000"/>
          </a:xfrm>
          <a:prstGeom prst="rect">
            <a:avLst/>
          </a:prstGeom>
          <a:noFill/>
          <a:ln/>
        </p:spPr>
        <p:txBody>
          <a:bodyPr wrap="none" lIns="0" tIns="0" rIns="0" bIns="0" rtlCol="0" anchor="t"/>
          <a:lstStyle/>
          <a:p>
            <a:pPr>
              <a:lnSpc>
                <a:spcPct val="100000"/>
              </a:lnSpc>
            </a:pPr>
            <a:r>
              <a:rPr lang="en-US" sz="5600" dirty="0">
                <a:solidFill>
                  <a:srgbClr val="1E3A3A"/>
                </a:solidFill>
                <a:latin typeface="Liter" pitchFamily="34" charset="0"/>
                <a:ea typeface="Liter" pitchFamily="34" charset="-122"/>
                <a:cs typeface="Liter" pitchFamily="34" charset="-120"/>
              </a:rPr>
              <a:t>03</a:t>
            </a:r>
            <a:endParaRPr lang="en-US" sz="1600" dirty="0"/>
          </a:p>
        </p:txBody>
      </p:sp>
      <p:sp>
        <p:nvSpPr>
          <p:cNvPr id="20" name="Text 18"/>
          <p:cNvSpPr/>
          <p:nvPr/>
        </p:nvSpPr>
        <p:spPr>
          <a:xfrm>
            <a:off x="11303000" y="3810000"/>
            <a:ext cx="3810000" cy="381000"/>
          </a:xfrm>
          <a:prstGeom prst="rect">
            <a:avLst/>
          </a:prstGeom>
          <a:noFill/>
          <a:ln/>
        </p:spPr>
        <p:txBody>
          <a:bodyPr wrap="none" lIns="0" tIns="0" rIns="0" bIns="0" rtlCol="0" anchor="ctr"/>
          <a:lstStyle/>
          <a:p>
            <a:pPr>
              <a:lnSpc>
                <a:spcPct val="100000"/>
              </a:lnSpc>
            </a:pPr>
            <a:r>
              <a:rPr lang="en-US" sz="2200" dirty="0">
                <a:solidFill>
                  <a:srgbClr val="1E3A3A"/>
                </a:solidFill>
                <a:latin typeface="Liter" pitchFamily="34" charset="0"/>
                <a:ea typeface="Liter" pitchFamily="34" charset="-122"/>
                <a:cs typeface="Liter" pitchFamily="34" charset="-120"/>
              </a:rPr>
              <a:t>Analytics &amp; Insights</a:t>
            </a:r>
            <a:endParaRPr lang="en-US" sz="1600" dirty="0"/>
          </a:p>
        </p:txBody>
      </p:sp>
      <p:sp>
        <p:nvSpPr>
          <p:cNvPr id="21" name="Text 19"/>
          <p:cNvSpPr/>
          <p:nvPr/>
        </p:nvSpPr>
        <p:spPr>
          <a:xfrm>
            <a:off x="11303000" y="4381500"/>
            <a:ext cx="3810000" cy="1016000"/>
          </a:xfrm>
          <a:prstGeom prst="rect">
            <a:avLst/>
          </a:prstGeom>
          <a:noFill/>
          <a:ln/>
        </p:spPr>
        <p:txBody>
          <a:bodyPr wrap="square" lIns="0" tIns="0" rIns="0" bIns="0" rtlCol="0" anchor="t"/>
          <a:lstStyle/>
          <a:p>
            <a:pPr>
              <a:lnSpc>
                <a:spcPct val="160000"/>
              </a:lnSpc>
            </a:pPr>
            <a:r>
              <a:rPr lang="en-US" sz="1600" dirty="0">
                <a:solidFill>
                  <a:srgbClr val="1C1C1C"/>
                </a:solidFill>
                <a:latin typeface="Quattrocento Sans" pitchFamily="34" charset="0"/>
                <a:ea typeface="Quattrocento Sans" pitchFamily="34" charset="-122"/>
                <a:cs typeface="Quattrocento Sans" pitchFamily="34" charset="-120"/>
              </a:rPr>
              <a:t>Inventory tracking, customer spending analysis, and project statistics</a:t>
            </a:r>
            <a:endParaRPr lang="en-US" sz="1600" dirty="0"/>
          </a:p>
        </p:txBody>
      </p:sp>
      <p:sp>
        <p:nvSpPr>
          <p:cNvPr id="22" name="Shape 20"/>
          <p:cNvSpPr/>
          <p:nvPr/>
        </p:nvSpPr>
        <p:spPr>
          <a:xfrm>
            <a:off x="11303000" y="7112000"/>
            <a:ext cx="406400" cy="406400"/>
          </a:xfrm>
          <a:custGeom>
            <a:avLst/>
            <a:gdLst/>
            <a:ahLst/>
            <a:cxnLst/>
            <a:rect l="l" t="t" r="r" b="b"/>
            <a:pathLst>
              <a:path w="406400" h="406400">
                <a:moveTo>
                  <a:pt x="50800" y="50800"/>
                </a:moveTo>
                <a:cubicBezTo>
                  <a:pt x="50800" y="36751"/>
                  <a:pt x="39449" y="25400"/>
                  <a:pt x="25400" y="25400"/>
                </a:cubicBezTo>
                <a:cubicBezTo>
                  <a:pt x="11351" y="25400"/>
                  <a:pt x="0" y="36751"/>
                  <a:pt x="0" y="50800"/>
                </a:cubicBezTo>
                <a:lnTo>
                  <a:pt x="0" y="317500"/>
                </a:lnTo>
                <a:cubicBezTo>
                  <a:pt x="0" y="352584"/>
                  <a:pt x="28416" y="381000"/>
                  <a:pt x="63500" y="381000"/>
                </a:cubicBezTo>
                <a:lnTo>
                  <a:pt x="381000" y="381000"/>
                </a:lnTo>
                <a:cubicBezTo>
                  <a:pt x="395049" y="381000"/>
                  <a:pt x="406400" y="369649"/>
                  <a:pt x="406400" y="355600"/>
                </a:cubicBezTo>
                <a:cubicBezTo>
                  <a:pt x="406400" y="341551"/>
                  <a:pt x="395049" y="330200"/>
                  <a:pt x="381000" y="330200"/>
                </a:cubicBezTo>
                <a:lnTo>
                  <a:pt x="63500" y="330200"/>
                </a:lnTo>
                <a:cubicBezTo>
                  <a:pt x="56515" y="330200"/>
                  <a:pt x="50800" y="324485"/>
                  <a:pt x="50800" y="317500"/>
                </a:cubicBezTo>
                <a:lnTo>
                  <a:pt x="50800" y="50800"/>
                </a:lnTo>
                <a:close/>
                <a:moveTo>
                  <a:pt x="373539" y="119539"/>
                </a:moveTo>
                <a:cubicBezTo>
                  <a:pt x="383461" y="109617"/>
                  <a:pt x="383461" y="93504"/>
                  <a:pt x="373539" y="83582"/>
                </a:cubicBezTo>
                <a:cubicBezTo>
                  <a:pt x="363617" y="73660"/>
                  <a:pt x="347504" y="73660"/>
                  <a:pt x="337582" y="83582"/>
                </a:cubicBezTo>
                <a:lnTo>
                  <a:pt x="254000" y="167243"/>
                </a:lnTo>
                <a:lnTo>
                  <a:pt x="208439" y="121761"/>
                </a:lnTo>
                <a:cubicBezTo>
                  <a:pt x="198517" y="111839"/>
                  <a:pt x="182404" y="111839"/>
                  <a:pt x="172482" y="121761"/>
                </a:cubicBezTo>
                <a:lnTo>
                  <a:pt x="96282" y="197961"/>
                </a:lnTo>
                <a:cubicBezTo>
                  <a:pt x="86360" y="207883"/>
                  <a:pt x="86360" y="223996"/>
                  <a:pt x="96282" y="233918"/>
                </a:cubicBezTo>
                <a:cubicBezTo>
                  <a:pt x="106204" y="243840"/>
                  <a:pt x="122317" y="243840"/>
                  <a:pt x="132239" y="233918"/>
                </a:cubicBezTo>
                <a:lnTo>
                  <a:pt x="190500" y="175657"/>
                </a:lnTo>
                <a:lnTo>
                  <a:pt x="236061" y="221218"/>
                </a:lnTo>
                <a:cubicBezTo>
                  <a:pt x="245983" y="231140"/>
                  <a:pt x="262096" y="231140"/>
                  <a:pt x="272018" y="221218"/>
                </a:cubicBezTo>
                <a:lnTo>
                  <a:pt x="373618" y="119618"/>
                </a:lnTo>
                <a:close/>
              </a:path>
            </a:pathLst>
          </a:custGeom>
          <a:solidFill>
            <a:srgbClr val="8A9B8A"/>
          </a:solidFill>
          <a:ln/>
        </p:spPr>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B2B"/>
        </a:solidFill>
      </p:bgPr>
    </p:bg>
    <p:spTree>
      <p:nvGrpSpPr>
        <p:cNvPr id="1" name=""/>
        <p:cNvGrpSpPr/>
        <p:nvPr/>
      </p:nvGrpSpPr>
      <p:grpSpPr>
        <a:xfrm>
          <a:off x="0" y="0"/>
          <a:ext cx="0" cy="0"/>
          <a:chOff x="0" y="0"/>
          <a:chExt cx="0" cy="0"/>
        </a:xfrm>
      </p:grpSpPr>
      <p:pic>
        <p:nvPicPr>
          <p:cNvPr id="2" name="Image 0" descr="https://kimi-img.moonshot.cn/pub/slides/okc/k2z4c76ljeume/mnt/agents/output/bookstore_sql/images/2_Programmers_Text_Editor_Showing_Sql.png">    </p:cNvPr>
          <p:cNvPicPr>
            <a:picLocks noChangeAspect="1"/>
          </p:cNvPicPr>
          <p:nvPr/>
        </p:nvPicPr>
        <p:blipFill>
          <a:blip r:embed="rId1">
            <a:alphaModFix amt="15000"/>
          </a:blip>
          <a:srcRect l="0" r="0" t="10826" b="10826"/>
          <a:stretch/>
        </p:blipFill>
        <p:spPr>
          <a:xfrm>
            <a:off x="0" y="0"/>
            <a:ext cx="16256000" cy="9144000"/>
          </a:xfrm>
          <a:prstGeom prst="rect">
            <a:avLst/>
          </a:prstGeom>
        </p:spPr>
      </p:pic>
      <p:sp>
        <p:nvSpPr>
          <p:cNvPr id="3" name="Text 0"/>
          <p:cNvSpPr/>
          <p:nvPr/>
        </p:nvSpPr>
        <p:spPr>
          <a:xfrm>
            <a:off x="762000" y="1778000"/>
            <a:ext cx="5080000" cy="2032000"/>
          </a:xfrm>
          <a:prstGeom prst="rect">
            <a:avLst/>
          </a:prstGeom>
          <a:noFill/>
          <a:ln/>
        </p:spPr>
        <p:txBody>
          <a:bodyPr wrap="none" lIns="0" tIns="0" rIns="0" bIns="0" rtlCol="0" anchor="ctr"/>
          <a:lstStyle/>
          <a:p>
            <a:pPr>
              <a:lnSpc>
                <a:spcPct val="100000"/>
              </a:lnSpc>
            </a:pPr>
            <a:r>
              <a:rPr lang="en-US" sz="12000" dirty="0">
                <a:solidFill>
                  <a:srgbClr val="F2EDE4">
                    <a:alpha val="8235"/>
                  </a:srgbClr>
                </a:solidFill>
                <a:latin typeface="Liter" pitchFamily="34" charset="0"/>
                <a:ea typeface="Liter" pitchFamily="34" charset="-122"/>
                <a:cs typeface="Liter" pitchFamily="34" charset="-120"/>
              </a:rPr>
              <a:t>01</a:t>
            </a:r>
            <a:endParaRPr lang="en-US" sz="12000" dirty="0"/>
          </a:p>
        </p:txBody>
      </p:sp>
      <p:sp>
        <p:nvSpPr>
          <p:cNvPr id="4" name="Shape 1"/>
          <p:cNvSpPr/>
          <p:nvPr/>
        </p:nvSpPr>
        <p:spPr>
          <a:xfrm>
            <a:off x="762000" y="4064000"/>
            <a:ext cx="1016000" cy="50800"/>
          </a:xfrm>
          <a:prstGeom prst="rect">
            <a:avLst/>
          </a:prstGeom>
          <a:solidFill>
            <a:srgbClr val="B87333"/>
          </a:solidFill>
          <a:ln/>
        </p:spPr>
      </p:sp>
      <p:sp>
        <p:nvSpPr>
          <p:cNvPr id="5" name="Text 2"/>
          <p:cNvSpPr/>
          <p:nvPr/>
        </p:nvSpPr>
        <p:spPr>
          <a:xfrm>
            <a:off x="762000" y="4381500"/>
            <a:ext cx="7620000" cy="698500"/>
          </a:xfrm>
          <a:prstGeom prst="rect">
            <a:avLst/>
          </a:prstGeom>
          <a:noFill/>
          <a:ln/>
        </p:spPr>
        <p:txBody>
          <a:bodyPr wrap="none" lIns="0" tIns="0" rIns="0" bIns="0" rtlCol="0" anchor="ctr"/>
          <a:lstStyle/>
          <a:p>
            <a:pPr>
              <a:lnSpc>
                <a:spcPct val="100000"/>
              </a:lnSpc>
            </a:pPr>
            <a:r>
              <a:rPr lang="en-US" sz="3800" spc="200" kern="0" dirty="0">
                <a:solidFill>
                  <a:srgbClr val="F2EDE4"/>
                </a:solidFill>
                <a:latin typeface="Liter" pitchFamily="34" charset="0"/>
                <a:ea typeface="Liter" pitchFamily="34" charset="-122"/>
                <a:cs typeface="Liter" pitchFamily="34" charset="-120"/>
              </a:rPr>
              <a:t>PROJECT OVERVIEW</a:t>
            </a:r>
            <a:endParaRPr lang="en-US" sz="1600" dirty="0"/>
          </a:p>
        </p:txBody>
      </p:sp>
      <p:sp>
        <p:nvSpPr>
          <p:cNvPr id="6" name="Text 3"/>
          <p:cNvSpPr/>
          <p:nvPr/>
        </p:nvSpPr>
        <p:spPr>
          <a:xfrm>
            <a:off x="762000" y="5270500"/>
            <a:ext cx="6350000" cy="355600"/>
          </a:xfrm>
          <a:prstGeom prst="rect">
            <a:avLst/>
          </a:prstGeom>
          <a:noFill/>
          <a:ln/>
        </p:spPr>
        <p:txBody>
          <a:bodyPr wrap="none" lIns="0" tIns="0" rIns="0" bIns="0" rtlCol="0" anchor="ctr"/>
          <a:lstStyle/>
          <a:p>
            <a:pPr>
              <a:lnSpc>
                <a:spcPct val="100000"/>
              </a:lnSpc>
            </a:pPr>
            <a:r>
              <a:rPr lang="en-US" sz="1800" dirty="0">
                <a:solidFill>
                  <a:srgbClr val="8A9B8A"/>
                </a:solidFill>
                <a:latin typeface="Quattrocento Sans" pitchFamily="34" charset="0"/>
                <a:ea typeface="Quattrocento Sans" pitchFamily="34" charset="-122"/>
                <a:cs typeface="Quattrocento Sans" pitchFamily="34" charset="-120"/>
              </a:rPr>
              <a:t>Database structure, objectives &amp; SQL concepts</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DE4"/>
        </a:solidFill>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E3A3A"/>
          </a:solidFill>
          <a:ln/>
        </p:spPr>
      </p:sp>
      <p:sp>
        <p:nvSpPr>
          <p:cNvPr id="3" name="Text 1"/>
          <p:cNvSpPr/>
          <p:nvPr/>
        </p:nvSpPr>
        <p:spPr>
          <a:xfrm>
            <a:off x="0" y="0"/>
            <a:ext cx="5422900" cy="558800"/>
          </a:xfrm>
          <a:prstGeom prst="rect">
            <a:avLst/>
          </a:prstGeom>
          <a:noFill/>
          <a:ln/>
        </p:spPr>
        <p:txBody>
          <a:bodyPr wrap="none" lIns="0" tIns="0" rIns="0" bIns="0" rtlCol="0" anchor="ctr"/>
          <a:lstStyle/>
          <a:p>
            <a:pPr algn="ctr">
              <a:lnSpc>
                <a:spcPct val="100000"/>
              </a:lnSpc>
            </a:pPr>
            <a:r>
              <a:rPr lang="en-US" sz="1200" b="1" spc="100" kern="0" dirty="0">
                <a:solidFill>
                  <a:srgbClr val="F2EDE4"/>
                </a:solidFill>
                <a:latin typeface="QuattrocentoSans" pitchFamily="34" charset="0"/>
                <a:ea typeface="QuattrocentoSans" pitchFamily="34" charset="-122"/>
                <a:cs typeface="QuattrocentoSans" pitchFamily="34" charset="-120"/>
              </a:rPr>
              <a:t>PROJECT OVERVIEW</a:t>
            </a:r>
            <a:endParaRPr lang="en-US" sz="1200" dirty="0"/>
          </a:p>
        </p:txBody>
      </p:sp>
      <p:sp>
        <p:nvSpPr>
          <p:cNvPr id="4" name="Shape 2"/>
          <p:cNvSpPr/>
          <p:nvPr/>
        </p:nvSpPr>
        <p:spPr>
          <a:xfrm>
            <a:off x="1524000" y="558800"/>
            <a:ext cx="2374900" cy="50800"/>
          </a:xfrm>
          <a:prstGeom prst="rect">
            <a:avLst/>
          </a:prstGeom>
          <a:solidFill>
            <a:srgbClr val="B87333"/>
          </a:solidFill>
          <a:ln/>
        </p:spPr>
      </p:sp>
      <p:sp>
        <p:nvSpPr>
          <p:cNvPr id="5" name="Text 3"/>
          <p:cNvSpPr/>
          <p:nvPr/>
        </p:nvSpPr>
        <p:spPr>
          <a:xfrm>
            <a:off x="5422900" y="0"/>
            <a:ext cx="5410200" cy="558800"/>
          </a:xfrm>
          <a:prstGeom prst="rect">
            <a:avLst/>
          </a:prstGeom>
          <a:noFill/>
          <a:ln/>
        </p:spPr>
        <p:txBody>
          <a:bodyPr wrap="none" lIns="0" tIns="0" rIns="0" bIns="0" rtlCol="0" anchor="ctr"/>
          <a:lstStyle/>
          <a:p>
            <a:pPr algn="ctr">
              <a:lnSpc>
                <a:spcPct val="100000"/>
              </a:lnSpc>
            </a:pPr>
            <a:r>
              <a:rPr lang="en-US" sz="1200" spc="100" kern="0" dirty="0">
                <a:solidFill>
                  <a:srgbClr val="8A9B8A"/>
                </a:solidFill>
                <a:latin typeface="QuattrocentoSans" pitchFamily="34" charset="0"/>
                <a:ea typeface="QuattrocentoSans" pitchFamily="34" charset="-122"/>
                <a:cs typeface="QuattrocentoSans" pitchFamily="34" charset="-120"/>
              </a:rPr>
              <a:t>QUERY SOLUTIONS</a:t>
            </a:r>
            <a:endParaRPr lang="en-US" sz="1200" dirty="0"/>
          </a:p>
        </p:txBody>
      </p:sp>
      <p:sp>
        <p:nvSpPr>
          <p:cNvPr id="6" name="Text 4"/>
          <p:cNvSpPr/>
          <p:nvPr/>
        </p:nvSpPr>
        <p:spPr>
          <a:xfrm>
            <a:off x="10833100" y="0"/>
            <a:ext cx="5422900" cy="558800"/>
          </a:xfrm>
          <a:prstGeom prst="rect">
            <a:avLst/>
          </a:prstGeom>
          <a:noFill/>
          <a:ln/>
        </p:spPr>
        <p:txBody>
          <a:bodyPr wrap="none" lIns="0" tIns="0" rIns="0" bIns="0" rtlCol="0" anchor="ctr"/>
          <a:lstStyle/>
          <a:p>
            <a:pPr algn="ctr">
              <a:lnSpc>
                <a:spcPct val="100000"/>
              </a:lnSpc>
            </a:pPr>
            <a:r>
              <a:rPr lang="en-US" sz="1200" spc="100" kern="0" dirty="0">
                <a:solidFill>
                  <a:srgbClr val="8A9B8A"/>
                </a:solidFill>
                <a:latin typeface="QuattrocentoSans" pitchFamily="34" charset="0"/>
                <a:ea typeface="QuattrocentoSans" pitchFamily="34" charset="-122"/>
                <a:cs typeface="QuattrocentoSans" pitchFamily="34" charset="-120"/>
              </a:rPr>
              <a:t>ANALYTICS &amp; INSIGHTS</a:t>
            </a:r>
            <a:endParaRPr lang="en-US" sz="1200" dirty="0"/>
          </a:p>
        </p:txBody>
      </p:sp>
      <p:sp>
        <p:nvSpPr>
          <p:cNvPr id="7" name="Text 5"/>
          <p:cNvSpPr/>
          <p:nvPr/>
        </p:nvSpPr>
        <p:spPr>
          <a:xfrm>
            <a:off x="762000" y="914400"/>
            <a:ext cx="6350000" cy="508000"/>
          </a:xfrm>
          <a:prstGeom prst="rect">
            <a:avLst/>
          </a:prstGeom>
          <a:noFill/>
          <a:ln/>
        </p:spPr>
        <p:txBody>
          <a:bodyPr wrap="none" lIns="0" tIns="0" rIns="0" bIns="0" rtlCol="0" anchor="ctr"/>
          <a:lstStyle/>
          <a:p>
            <a:pPr>
              <a:lnSpc>
                <a:spcPct val="100000"/>
              </a:lnSpc>
            </a:pPr>
            <a:r>
              <a:rPr lang="en-US" sz="2800" dirty="0">
                <a:solidFill>
                  <a:srgbClr val="1E3A3A"/>
                </a:solidFill>
                <a:latin typeface="Liter" pitchFamily="34" charset="0"/>
                <a:ea typeface="Liter" pitchFamily="34" charset="-122"/>
                <a:cs typeface="Liter" pitchFamily="34" charset="-120"/>
              </a:rPr>
              <a:t>Project Objectives</a:t>
            </a:r>
            <a:endParaRPr lang="en-US" sz="2800" dirty="0"/>
          </a:p>
        </p:txBody>
      </p:sp>
      <p:sp>
        <p:nvSpPr>
          <p:cNvPr id="8" name="Shape 6"/>
          <p:cNvSpPr/>
          <p:nvPr/>
        </p:nvSpPr>
        <p:spPr>
          <a:xfrm>
            <a:off x="762000" y="1498600"/>
            <a:ext cx="762000" cy="38100"/>
          </a:xfrm>
          <a:prstGeom prst="rect">
            <a:avLst/>
          </a:prstGeom>
          <a:solidFill>
            <a:srgbClr val="B87333"/>
          </a:solidFill>
          <a:ln/>
        </p:spPr>
      </p:sp>
      <p:sp>
        <p:nvSpPr>
          <p:cNvPr id="9" name="Shape 7"/>
          <p:cNvSpPr/>
          <p:nvPr/>
        </p:nvSpPr>
        <p:spPr>
          <a:xfrm>
            <a:off x="762000" y="1905000"/>
            <a:ext cx="7048500" cy="3048000"/>
          </a:xfrm>
          <a:prstGeom prst="rect">
            <a:avLst/>
          </a:prstGeom>
          <a:solidFill>
            <a:srgbClr val="E8E2D6"/>
          </a:solidFill>
          <a:ln/>
        </p:spPr>
      </p:sp>
      <p:sp>
        <p:nvSpPr>
          <p:cNvPr id="10" name="Shape 8"/>
          <p:cNvSpPr/>
          <p:nvPr/>
        </p:nvSpPr>
        <p:spPr>
          <a:xfrm>
            <a:off x="1171575" y="2286000"/>
            <a:ext cx="400050" cy="457200"/>
          </a:xfrm>
          <a:custGeom>
            <a:avLst/>
            <a:gdLst/>
            <a:ahLst/>
            <a:cxnLst/>
            <a:rect l="l" t="t" r="r" b="b"/>
            <a:pathLst>
              <a:path w="400050" h="457200">
                <a:moveTo>
                  <a:pt x="228600" y="142875"/>
                </a:moveTo>
                <a:lnTo>
                  <a:pt x="228600" y="228600"/>
                </a:lnTo>
                <a:lnTo>
                  <a:pt x="342900" y="228600"/>
                </a:lnTo>
                <a:lnTo>
                  <a:pt x="342900" y="142875"/>
                </a:lnTo>
                <a:lnTo>
                  <a:pt x="228600" y="142875"/>
                </a:lnTo>
                <a:close/>
                <a:moveTo>
                  <a:pt x="171450" y="142875"/>
                </a:moveTo>
                <a:lnTo>
                  <a:pt x="57150" y="142875"/>
                </a:lnTo>
                <a:lnTo>
                  <a:pt x="57150" y="228600"/>
                </a:lnTo>
                <a:lnTo>
                  <a:pt x="171450" y="228600"/>
                </a:lnTo>
                <a:lnTo>
                  <a:pt x="171450" y="142875"/>
                </a:lnTo>
                <a:close/>
                <a:moveTo>
                  <a:pt x="0" y="285750"/>
                </a:moveTo>
                <a:lnTo>
                  <a:pt x="0" y="85725"/>
                </a:lnTo>
                <a:cubicBezTo>
                  <a:pt x="0" y="54203"/>
                  <a:pt x="25628" y="28575"/>
                  <a:pt x="57150" y="28575"/>
                </a:cubicBezTo>
                <a:lnTo>
                  <a:pt x="342900" y="28575"/>
                </a:lnTo>
                <a:cubicBezTo>
                  <a:pt x="374422" y="28575"/>
                  <a:pt x="400050" y="54203"/>
                  <a:pt x="400050" y="85725"/>
                </a:cubicBezTo>
                <a:lnTo>
                  <a:pt x="400050" y="371475"/>
                </a:lnTo>
                <a:cubicBezTo>
                  <a:pt x="400050" y="402997"/>
                  <a:pt x="374422" y="428625"/>
                  <a:pt x="342900" y="428625"/>
                </a:cubicBezTo>
                <a:lnTo>
                  <a:pt x="57150" y="428625"/>
                </a:lnTo>
                <a:cubicBezTo>
                  <a:pt x="25628" y="428625"/>
                  <a:pt x="0" y="402997"/>
                  <a:pt x="0" y="371475"/>
                </a:cubicBezTo>
                <a:lnTo>
                  <a:pt x="0" y="285750"/>
                </a:lnTo>
                <a:close/>
                <a:moveTo>
                  <a:pt x="342900" y="285750"/>
                </a:moveTo>
                <a:lnTo>
                  <a:pt x="228600" y="285750"/>
                </a:lnTo>
                <a:lnTo>
                  <a:pt x="228600" y="371475"/>
                </a:lnTo>
                <a:lnTo>
                  <a:pt x="342900" y="371475"/>
                </a:lnTo>
                <a:lnTo>
                  <a:pt x="342900" y="285750"/>
                </a:lnTo>
                <a:close/>
                <a:moveTo>
                  <a:pt x="171450" y="371475"/>
                </a:moveTo>
                <a:lnTo>
                  <a:pt x="171450" y="285750"/>
                </a:lnTo>
                <a:lnTo>
                  <a:pt x="57150" y="285750"/>
                </a:lnTo>
                <a:lnTo>
                  <a:pt x="57150" y="371475"/>
                </a:lnTo>
                <a:lnTo>
                  <a:pt x="171450" y="371475"/>
                </a:lnTo>
                <a:close/>
              </a:path>
            </a:pathLst>
          </a:custGeom>
          <a:solidFill>
            <a:srgbClr val="B87333"/>
          </a:solidFill>
          <a:ln/>
        </p:spPr>
      </p:sp>
      <p:sp>
        <p:nvSpPr>
          <p:cNvPr id="11" name="Text 9"/>
          <p:cNvSpPr/>
          <p:nvPr/>
        </p:nvSpPr>
        <p:spPr>
          <a:xfrm>
            <a:off x="1841500" y="2286000"/>
            <a:ext cx="5588000" cy="406400"/>
          </a:xfrm>
          <a:prstGeom prst="rect">
            <a:avLst/>
          </a:prstGeom>
          <a:noFill/>
          <a:ln/>
        </p:spPr>
        <p:txBody>
          <a:bodyPr wrap="none" lIns="0" tIns="0" rIns="0" bIns="0" rtlCol="0" anchor="ctr"/>
          <a:lstStyle/>
          <a:p>
            <a:pPr>
              <a:lnSpc>
                <a:spcPct val="100000"/>
              </a:lnSpc>
            </a:pPr>
            <a:r>
              <a:rPr lang="en-US" sz="2200" dirty="0">
                <a:solidFill>
                  <a:srgbClr val="1E3A3A"/>
                </a:solidFill>
                <a:latin typeface="Liter" pitchFamily="34" charset="0"/>
                <a:ea typeface="Liter" pitchFamily="34" charset="-122"/>
                <a:cs typeface="Liter" pitchFamily="34" charset="-120"/>
              </a:rPr>
              <a:t>Design Database Schema</a:t>
            </a:r>
            <a:endParaRPr lang="en-US" sz="2200" dirty="0"/>
          </a:p>
        </p:txBody>
      </p:sp>
      <p:sp>
        <p:nvSpPr>
          <p:cNvPr id="12" name="Text 10"/>
          <p:cNvSpPr/>
          <p:nvPr/>
        </p:nvSpPr>
        <p:spPr>
          <a:xfrm>
            <a:off x="1143000" y="2921000"/>
            <a:ext cx="6286500" cy="1651000"/>
          </a:xfrm>
          <a:prstGeom prst="rect">
            <a:avLst/>
          </a:prstGeom>
          <a:noFill/>
          <a:ln/>
        </p:spPr>
        <p:txBody>
          <a:bodyPr wrap="square" lIns="0" tIns="0" rIns="0" bIns="0" rtlCol="0" anchor="t"/>
          <a:lstStyle/>
          <a:p>
            <a:pPr>
              <a:lnSpc>
                <a:spcPct val="160000"/>
              </a:lnSpc>
            </a:pPr>
            <a:r>
              <a:rPr lang="en-US" sz="1800" dirty="0">
                <a:solidFill>
                  <a:srgbClr val="1C1C1C"/>
                </a:solidFill>
                <a:latin typeface="QuattrocentoSans" pitchFamily="34" charset="0"/>
                <a:ea typeface="QuattrocentoSans" pitchFamily="34" charset="-122"/>
                <a:cs typeface="QuattrocentoSans" pitchFamily="34" charset="-120"/>
              </a:rPr>
              <a:t>Create a normalized relational database with Books, Customers, and Orders tables using primary and foreign key constraints.</a:t>
            </a:r>
            <a:endParaRPr lang="en-US" sz="1800" dirty="0"/>
          </a:p>
        </p:txBody>
      </p:sp>
      <p:sp>
        <p:nvSpPr>
          <p:cNvPr id="13" name="Shape 11"/>
          <p:cNvSpPr/>
          <p:nvPr/>
        </p:nvSpPr>
        <p:spPr>
          <a:xfrm>
            <a:off x="8445500" y="1905000"/>
            <a:ext cx="7048500" cy="3048000"/>
          </a:xfrm>
          <a:prstGeom prst="rect">
            <a:avLst/>
          </a:prstGeom>
          <a:solidFill>
            <a:srgbClr val="E8E2D6"/>
          </a:solidFill>
          <a:ln/>
        </p:spPr>
      </p:sp>
      <p:sp>
        <p:nvSpPr>
          <p:cNvPr id="14" name="Shape 12"/>
          <p:cNvSpPr/>
          <p:nvPr/>
        </p:nvSpPr>
        <p:spPr>
          <a:xfrm>
            <a:off x="8797925" y="2286000"/>
            <a:ext cx="514350" cy="457200"/>
          </a:xfrm>
          <a:custGeom>
            <a:avLst/>
            <a:gdLst/>
            <a:ahLst/>
            <a:cxnLst/>
            <a:rect l="l" t="t" r="r" b="b"/>
            <a:pathLst>
              <a:path w="514350" h="457200">
                <a:moveTo>
                  <a:pt x="85725" y="0"/>
                </a:moveTo>
                <a:cubicBezTo>
                  <a:pt x="54203" y="0"/>
                  <a:pt x="28575" y="25628"/>
                  <a:pt x="28575" y="57150"/>
                </a:cubicBezTo>
                <a:lnTo>
                  <a:pt x="28575" y="400050"/>
                </a:lnTo>
                <a:cubicBezTo>
                  <a:pt x="28575" y="431572"/>
                  <a:pt x="54203" y="457200"/>
                  <a:pt x="85725" y="457200"/>
                </a:cubicBezTo>
                <a:lnTo>
                  <a:pt x="157163" y="457200"/>
                </a:lnTo>
                <a:lnTo>
                  <a:pt x="157163" y="357188"/>
                </a:lnTo>
                <a:cubicBezTo>
                  <a:pt x="157163" y="325666"/>
                  <a:pt x="182791" y="300038"/>
                  <a:pt x="214313" y="300038"/>
                </a:cubicBezTo>
                <a:lnTo>
                  <a:pt x="371475" y="300038"/>
                </a:lnTo>
                <a:lnTo>
                  <a:pt x="371475" y="152251"/>
                </a:lnTo>
                <a:cubicBezTo>
                  <a:pt x="371475" y="137071"/>
                  <a:pt x="365492" y="122515"/>
                  <a:pt x="354776" y="111800"/>
                </a:cubicBezTo>
                <a:lnTo>
                  <a:pt x="259586" y="16699"/>
                </a:lnTo>
                <a:cubicBezTo>
                  <a:pt x="248870" y="5983"/>
                  <a:pt x="234404" y="0"/>
                  <a:pt x="219224" y="0"/>
                </a:cubicBezTo>
                <a:lnTo>
                  <a:pt x="85725" y="0"/>
                </a:lnTo>
                <a:close/>
                <a:moveTo>
                  <a:pt x="319236" y="157163"/>
                </a:moveTo>
                <a:lnTo>
                  <a:pt x="235744" y="157163"/>
                </a:lnTo>
                <a:cubicBezTo>
                  <a:pt x="223867" y="157163"/>
                  <a:pt x="214313" y="147608"/>
                  <a:pt x="214313" y="135731"/>
                </a:cubicBezTo>
                <a:lnTo>
                  <a:pt x="214313" y="52239"/>
                </a:lnTo>
                <a:lnTo>
                  <a:pt x="319236" y="157163"/>
                </a:lnTo>
                <a:close/>
                <a:moveTo>
                  <a:pt x="235744" y="339328"/>
                </a:moveTo>
                <a:cubicBezTo>
                  <a:pt x="214045" y="339328"/>
                  <a:pt x="196453" y="356920"/>
                  <a:pt x="196453" y="378619"/>
                </a:cubicBezTo>
                <a:lnTo>
                  <a:pt x="196453" y="450056"/>
                </a:lnTo>
                <a:cubicBezTo>
                  <a:pt x="196453" y="471755"/>
                  <a:pt x="214045" y="489347"/>
                  <a:pt x="235744" y="489347"/>
                </a:cubicBezTo>
                <a:lnTo>
                  <a:pt x="250031" y="489347"/>
                </a:lnTo>
                <a:cubicBezTo>
                  <a:pt x="271730" y="489347"/>
                  <a:pt x="289322" y="471755"/>
                  <a:pt x="289322" y="450056"/>
                </a:cubicBezTo>
                <a:lnTo>
                  <a:pt x="289322" y="442913"/>
                </a:lnTo>
                <a:cubicBezTo>
                  <a:pt x="289322" y="433090"/>
                  <a:pt x="281285" y="425053"/>
                  <a:pt x="271463" y="425053"/>
                </a:cubicBezTo>
                <a:cubicBezTo>
                  <a:pt x="261640" y="425053"/>
                  <a:pt x="253603" y="433090"/>
                  <a:pt x="253603" y="442913"/>
                </a:cubicBezTo>
                <a:lnTo>
                  <a:pt x="253603" y="450056"/>
                </a:lnTo>
                <a:cubicBezTo>
                  <a:pt x="253603" y="452021"/>
                  <a:pt x="251996" y="453628"/>
                  <a:pt x="250031" y="453628"/>
                </a:cubicBezTo>
                <a:lnTo>
                  <a:pt x="235744" y="453628"/>
                </a:lnTo>
                <a:cubicBezTo>
                  <a:pt x="233779" y="453628"/>
                  <a:pt x="232172" y="452021"/>
                  <a:pt x="232172" y="450056"/>
                </a:cubicBezTo>
                <a:lnTo>
                  <a:pt x="232172" y="378619"/>
                </a:lnTo>
                <a:cubicBezTo>
                  <a:pt x="232172" y="376654"/>
                  <a:pt x="233779" y="375047"/>
                  <a:pt x="235744" y="375047"/>
                </a:cubicBezTo>
                <a:lnTo>
                  <a:pt x="250031" y="375047"/>
                </a:lnTo>
                <a:cubicBezTo>
                  <a:pt x="251996" y="375047"/>
                  <a:pt x="253603" y="376654"/>
                  <a:pt x="253603" y="378619"/>
                </a:cubicBezTo>
                <a:lnTo>
                  <a:pt x="253603" y="385763"/>
                </a:lnTo>
                <a:cubicBezTo>
                  <a:pt x="253603" y="395585"/>
                  <a:pt x="261640" y="403622"/>
                  <a:pt x="271463" y="403622"/>
                </a:cubicBezTo>
                <a:cubicBezTo>
                  <a:pt x="281285" y="403622"/>
                  <a:pt x="289322" y="395585"/>
                  <a:pt x="289322" y="385763"/>
                </a:cubicBezTo>
                <a:lnTo>
                  <a:pt x="289322" y="378619"/>
                </a:lnTo>
                <a:cubicBezTo>
                  <a:pt x="289322" y="356920"/>
                  <a:pt x="271730" y="339328"/>
                  <a:pt x="250031" y="339328"/>
                </a:cubicBezTo>
                <a:lnTo>
                  <a:pt x="235744" y="339328"/>
                </a:lnTo>
                <a:close/>
                <a:moveTo>
                  <a:pt x="357188" y="339328"/>
                </a:moveTo>
                <a:cubicBezTo>
                  <a:pt x="331559" y="339328"/>
                  <a:pt x="310753" y="360134"/>
                  <a:pt x="310753" y="385763"/>
                </a:cubicBezTo>
                <a:cubicBezTo>
                  <a:pt x="310753" y="411391"/>
                  <a:pt x="331559" y="432197"/>
                  <a:pt x="357188" y="432197"/>
                </a:cubicBezTo>
                <a:cubicBezTo>
                  <a:pt x="363081" y="432197"/>
                  <a:pt x="367903" y="437019"/>
                  <a:pt x="367903" y="442913"/>
                </a:cubicBezTo>
                <a:cubicBezTo>
                  <a:pt x="367903" y="448806"/>
                  <a:pt x="363081" y="453628"/>
                  <a:pt x="357188" y="453628"/>
                </a:cubicBezTo>
                <a:lnTo>
                  <a:pt x="328613" y="453628"/>
                </a:lnTo>
                <a:cubicBezTo>
                  <a:pt x="318790" y="453628"/>
                  <a:pt x="310753" y="461665"/>
                  <a:pt x="310753" y="471488"/>
                </a:cubicBezTo>
                <a:cubicBezTo>
                  <a:pt x="310753" y="481310"/>
                  <a:pt x="318790" y="489347"/>
                  <a:pt x="328613" y="489347"/>
                </a:cubicBezTo>
                <a:lnTo>
                  <a:pt x="357188" y="489347"/>
                </a:lnTo>
                <a:cubicBezTo>
                  <a:pt x="382816" y="489347"/>
                  <a:pt x="403622" y="468541"/>
                  <a:pt x="403622" y="442913"/>
                </a:cubicBezTo>
                <a:cubicBezTo>
                  <a:pt x="403622" y="417284"/>
                  <a:pt x="382816" y="396478"/>
                  <a:pt x="357188" y="396478"/>
                </a:cubicBezTo>
                <a:cubicBezTo>
                  <a:pt x="351294" y="396478"/>
                  <a:pt x="346472" y="391656"/>
                  <a:pt x="346472" y="385763"/>
                </a:cubicBezTo>
                <a:cubicBezTo>
                  <a:pt x="346472" y="379869"/>
                  <a:pt x="351294" y="375047"/>
                  <a:pt x="357188" y="375047"/>
                </a:cubicBezTo>
                <a:lnTo>
                  <a:pt x="378619" y="375047"/>
                </a:lnTo>
                <a:cubicBezTo>
                  <a:pt x="388441" y="375047"/>
                  <a:pt x="396478" y="367010"/>
                  <a:pt x="396478" y="357188"/>
                </a:cubicBezTo>
                <a:cubicBezTo>
                  <a:pt x="396478" y="347365"/>
                  <a:pt x="388441" y="339328"/>
                  <a:pt x="378619" y="339328"/>
                </a:cubicBezTo>
                <a:lnTo>
                  <a:pt x="357188" y="339328"/>
                </a:lnTo>
                <a:close/>
                <a:moveTo>
                  <a:pt x="442913" y="339328"/>
                </a:moveTo>
                <a:cubicBezTo>
                  <a:pt x="433090" y="339328"/>
                  <a:pt x="425053" y="347365"/>
                  <a:pt x="425053" y="357188"/>
                </a:cubicBezTo>
                <a:lnTo>
                  <a:pt x="425053" y="385405"/>
                </a:lnTo>
                <a:cubicBezTo>
                  <a:pt x="425053" y="417106"/>
                  <a:pt x="434429" y="448181"/>
                  <a:pt x="452021" y="474524"/>
                </a:cubicBezTo>
                <a:lnTo>
                  <a:pt x="456575" y="481399"/>
                </a:lnTo>
                <a:cubicBezTo>
                  <a:pt x="459879" y="486400"/>
                  <a:pt x="465505" y="489347"/>
                  <a:pt x="471398" y="489347"/>
                </a:cubicBezTo>
                <a:cubicBezTo>
                  <a:pt x="477292" y="489347"/>
                  <a:pt x="482917" y="486400"/>
                  <a:pt x="486221" y="481399"/>
                </a:cubicBezTo>
                <a:lnTo>
                  <a:pt x="490776" y="474524"/>
                </a:lnTo>
                <a:cubicBezTo>
                  <a:pt x="508367" y="448092"/>
                  <a:pt x="517743" y="417106"/>
                  <a:pt x="517743" y="385405"/>
                </a:cubicBezTo>
                <a:lnTo>
                  <a:pt x="517743" y="357187"/>
                </a:lnTo>
                <a:cubicBezTo>
                  <a:pt x="517743" y="347365"/>
                  <a:pt x="509707" y="339328"/>
                  <a:pt x="499884" y="339328"/>
                </a:cubicBezTo>
                <a:cubicBezTo>
                  <a:pt x="490061" y="339328"/>
                  <a:pt x="482025" y="347365"/>
                  <a:pt x="482025" y="357187"/>
                </a:cubicBezTo>
                <a:lnTo>
                  <a:pt x="482025" y="385405"/>
                </a:lnTo>
                <a:cubicBezTo>
                  <a:pt x="482025" y="402908"/>
                  <a:pt x="478363" y="420142"/>
                  <a:pt x="471309" y="436037"/>
                </a:cubicBezTo>
                <a:cubicBezTo>
                  <a:pt x="464254" y="420142"/>
                  <a:pt x="460593" y="402907"/>
                  <a:pt x="460593" y="385405"/>
                </a:cubicBezTo>
                <a:lnTo>
                  <a:pt x="460593" y="357187"/>
                </a:lnTo>
                <a:cubicBezTo>
                  <a:pt x="460593" y="347365"/>
                  <a:pt x="452557" y="339328"/>
                  <a:pt x="442734" y="339328"/>
                </a:cubicBezTo>
                <a:close/>
              </a:path>
            </a:pathLst>
          </a:custGeom>
          <a:solidFill>
            <a:srgbClr val="B87333"/>
          </a:solidFill>
          <a:ln/>
        </p:spPr>
      </p:sp>
      <p:sp>
        <p:nvSpPr>
          <p:cNvPr id="15" name="Text 13"/>
          <p:cNvSpPr/>
          <p:nvPr/>
        </p:nvSpPr>
        <p:spPr>
          <a:xfrm>
            <a:off x="9525000" y="2286000"/>
            <a:ext cx="5588000" cy="406400"/>
          </a:xfrm>
          <a:prstGeom prst="rect">
            <a:avLst/>
          </a:prstGeom>
          <a:noFill/>
          <a:ln/>
        </p:spPr>
        <p:txBody>
          <a:bodyPr wrap="none" lIns="0" tIns="0" rIns="0" bIns="0" rtlCol="0" anchor="ctr"/>
          <a:lstStyle/>
          <a:p>
            <a:pPr>
              <a:lnSpc>
                <a:spcPct val="100000"/>
              </a:lnSpc>
            </a:pPr>
            <a:r>
              <a:rPr lang="en-US" sz="2200" dirty="0">
                <a:solidFill>
                  <a:srgbClr val="1E3A3A"/>
                </a:solidFill>
                <a:latin typeface="Liter" pitchFamily="34" charset="0"/>
                <a:ea typeface="Liter" pitchFamily="34" charset="-122"/>
                <a:cs typeface="Liter" pitchFamily="34" charset="-120"/>
              </a:rPr>
              <a:t>Import CSV Data</a:t>
            </a:r>
            <a:endParaRPr lang="en-US" sz="2200" dirty="0"/>
          </a:p>
        </p:txBody>
      </p:sp>
      <p:sp>
        <p:nvSpPr>
          <p:cNvPr id="16" name="Text 14"/>
          <p:cNvSpPr/>
          <p:nvPr/>
        </p:nvSpPr>
        <p:spPr>
          <a:xfrm>
            <a:off x="8826500" y="2921000"/>
            <a:ext cx="6286500" cy="1651000"/>
          </a:xfrm>
          <a:prstGeom prst="rect">
            <a:avLst/>
          </a:prstGeom>
          <a:noFill/>
          <a:ln/>
        </p:spPr>
        <p:txBody>
          <a:bodyPr wrap="square" lIns="0" tIns="0" rIns="0" bIns="0" rtlCol="0" anchor="t"/>
          <a:lstStyle/>
          <a:p>
            <a:pPr>
              <a:lnSpc>
                <a:spcPct val="160000"/>
              </a:lnSpc>
            </a:pPr>
            <a:r>
              <a:rPr lang="en-US" sz="1800" dirty="0">
                <a:solidFill>
                  <a:srgbClr val="1C1C1C"/>
                </a:solidFill>
                <a:latin typeface="QuattrocentoSans" pitchFamily="34" charset="0"/>
                <a:ea typeface="QuattrocentoSans" pitchFamily="34" charset="-122"/>
                <a:cs typeface="QuattrocentoSans" pitchFamily="34" charset="-120"/>
              </a:rPr>
              <a:t>Load structured book, customer, and order data from CSV files into MySQL tables using INSERT and LOAD DATA statements.</a:t>
            </a:r>
            <a:endParaRPr lang="en-US" sz="1800" dirty="0"/>
          </a:p>
        </p:txBody>
      </p:sp>
      <p:sp>
        <p:nvSpPr>
          <p:cNvPr id="17" name="Shape 15"/>
          <p:cNvSpPr/>
          <p:nvPr/>
        </p:nvSpPr>
        <p:spPr>
          <a:xfrm>
            <a:off x="762000" y="5334000"/>
            <a:ext cx="7048500" cy="3048000"/>
          </a:xfrm>
          <a:prstGeom prst="rect">
            <a:avLst/>
          </a:prstGeom>
          <a:solidFill>
            <a:srgbClr val="E8E2D6"/>
          </a:solidFill>
          <a:ln/>
        </p:spPr>
      </p:sp>
      <p:sp>
        <p:nvSpPr>
          <p:cNvPr id="18" name="Shape 16"/>
          <p:cNvSpPr/>
          <p:nvPr/>
        </p:nvSpPr>
        <p:spPr>
          <a:xfrm>
            <a:off x="1143000" y="5715000"/>
            <a:ext cx="457200" cy="457200"/>
          </a:xfrm>
          <a:custGeom>
            <a:avLst/>
            <a:gdLst/>
            <a:ahLst/>
            <a:cxnLst/>
            <a:rect l="l" t="t" r="r" b="b"/>
            <a:pathLst>
              <a:path w="457200" h="457200">
                <a:moveTo>
                  <a:pt x="28575" y="28575"/>
                </a:moveTo>
                <a:cubicBezTo>
                  <a:pt x="44381" y="28575"/>
                  <a:pt x="57150" y="41344"/>
                  <a:pt x="57150" y="57150"/>
                </a:cubicBezTo>
                <a:lnTo>
                  <a:pt x="57150" y="357188"/>
                </a:lnTo>
                <a:cubicBezTo>
                  <a:pt x="57150" y="365046"/>
                  <a:pt x="63579" y="371475"/>
                  <a:pt x="71438" y="371475"/>
                </a:cubicBezTo>
                <a:lnTo>
                  <a:pt x="428625" y="371475"/>
                </a:lnTo>
                <a:cubicBezTo>
                  <a:pt x="444431" y="371475"/>
                  <a:pt x="457200" y="384244"/>
                  <a:pt x="457200" y="400050"/>
                </a:cubicBezTo>
                <a:cubicBezTo>
                  <a:pt x="457200" y="415856"/>
                  <a:pt x="444431" y="428625"/>
                  <a:pt x="428625" y="428625"/>
                </a:cubicBezTo>
                <a:lnTo>
                  <a:pt x="71438" y="428625"/>
                </a:lnTo>
                <a:cubicBezTo>
                  <a:pt x="31968" y="428625"/>
                  <a:pt x="0" y="396657"/>
                  <a:pt x="0" y="357188"/>
                </a:cubicBezTo>
                <a:lnTo>
                  <a:pt x="0" y="57150"/>
                </a:lnTo>
                <a:cubicBezTo>
                  <a:pt x="0" y="41344"/>
                  <a:pt x="12769" y="28575"/>
                  <a:pt x="28575" y="28575"/>
                </a:cubicBezTo>
                <a:close/>
                <a:moveTo>
                  <a:pt x="114300" y="85725"/>
                </a:moveTo>
                <a:cubicBezTo>
                  <a:pt x="114300" y="69919"/>
                  <a:pt x="127069" y="57150"/>
                  <a:pt x="142875" y="57150"/>
                </a:cubicBezTo>
                <a:lnTo>
                  <a:pt x="314325" y="57150"/>
                </a:lnTo>
                <a:cubicBezTo>
                  <a:pt x="330131" y="57150"/>
                  <a:pt x="342900" y="69919"/>
                  <a:pt x="342900" y="85725"/>
                </a:cubicBezTo>
                <a:cubicBezTo>
                  <a:pt x="342900" y="101531"/>
                  <a:pt x="330131" y="114300"/>
                  <a:pt x="314325" y="114300"/>
                </a:cubicBezTo>
                <a:lnTo>
                  <a:pt x="142875" y="114300"/>
                </a:lnTo>
                <a:cubicBezTo>
                  <a:pt x="127069" y="114300"/>
                  <a:pt x="114300" y="101531"/>
                  <a:pt x="114300" y="85725"/>
                </a:cubicBezTo>
                <a:close/>
                <a:moveTo>
                  <a:pt x="142875" y="157163"/>
                </a:moveTo>
                <a:lnTo>
                  <a:pt x="257175" y="157163"/>
                </a:lnTo>
                <a:cubicBezTo>
                  <a:pt x="272981" y="157163"/>
                  <a:pt x="285750" y="169932"/>
                  <a:pt x="285750" y="185738"/>
                </a:cubicBezTo>
                <a:cubicBezTo>
                  <a:pt x="285750" y="201543"/>
                  <a:pt x="272981" y="214313"/>
                  <a:pt x="257175" y="214313"/>
                </a:cubicBezTo>
                <a:lnTo>
                  <a:pt x="142875" y="214313"/>
                </a:lnTo>
                <a:cubicBezTo>
                  <a:pt x="127069" y="214313"/>
                  <a:pt x="114300" y="201543"/>
                  <a:pt x="114300" y="185738"/>
                </a:cubicBezTo>
                <a:cubicBezTo>
                  <a:pt x="114300" y="169932"/>
                  <a:pt x="127069" y="157163"/>
                  <a:pt x="142875" y="157163"/>
                </a:cubicBezTo>
                <a:close/>
                <a:moveTo>
                  <a:pt x="142875" y="257175"/>
                </a:moveTo>
                <a:lnTo>
                  <a:pt x="371475" y="257175"/>
                </a:lnTo>
                <a:cubicBezTo>
                  <a:pt x="387281" y="257175"/>
                  <a:pt x="400050" y="269944"/>
                  <a:pt x="400050" y="285750"/>
                </a:cubicBezTo>
                <a:cubicBezTo>
                  <a:pt x="400050" y="301556"/>
                  <a:pt x="387281" y="314325"/>
                  <a:pt x="371475" y="314325"/>
                </a:cubicBezTo>
                <a:lnTo>
                  <a:pt x="142875" y="314325"/>
                </a:lnTo>
                <a:cubicBezTo>
                  <a:pt x="127069" y="314325"/>
                  <a:pt x="114300" y="301556"/>
                  <a:pt x="114300" y="285750"/>
                </a:cubicBezTo>
                <a:cubicBezTo>
                  <a:pt x="114300" y="269944"/>
                  <a:pt x="127069" y="257175"/>
                  <a:pt x="142875" y="257175"/>
                </a:cubicBezTo>
                <a:close/>
              </a:path>
            </a:pathLst>
          </a:custGeom>
          <a:solidFill>
            <a:srgbClr val="B87333"/>
          </a:solidFill>
          <a:ln/>
        </p:spPr>
      </p:sp>
      <p:sp>
        <p:nvSpPr>
          <p:cNvPr id="19" name="Text 17"/>
          <p:cNvSpPr/>
          <p:nvPr/>
        </p:nvSpPr>
        <p:spPr>
          <a:xfrm>
            <a:off x="1841500" y="5715000"/>
            <a:ext cx="5588000" cy="406400"/>
          </a:xfrm>
          <a:prstGeom prst="rect">
            <a:avLst/>
          </a:prstGeom>
          <a:noFill/>
          <a:ln/>
        </p:spPr>
        <p:txBody>
          <a:bodyPr wrap="none" lIns="0" tIns="0" rIns="0" bIns="0" rtlCol="0" anchor="ctr"/>
          <a:lstStyle/>
          <a:p>
            <a:pPr>
              <a:lnSpc>
                <a:spcPct val="100000"/>
              </a:lnSpc>
            </a:pPr>
            <a:r>
              <a:rPr lang="en-US" sz="2200" dirty="0">
                <a:solidFill>
                  <a:srgbClr val="1E3A3A"/>
                </a:solidFill>
                <a:latin typeface="Liter" pitchFamily="34" charset="0"/>
                <a:ea typeface="Liter" pitchFamily="34" charset="-122"/>
                <a:cs typeface="Liter" pitchFamily="34" charset="-120"/>
              </a:rPr>
              <a:t>Perform SQL Analytics</a:t>
            </a:r>
            <a:endParaRPr lang="en-US" sz="2200" dirty="0"/>
          </a:p>
        </p:txBody>
      </p:sp>
      <p:sp>
        <p:nvSpPr>
          <p:cNvPr id="20" name="Text 18"/>
          <p:cNvSpPr/>
          <p:nvPr/>
        </p:nvSpPr>
        <p:spPr>
          <a:xfrm>
            <a:off x="1143000" y="6350000"/>
            <a:ext cx="6286500" cy="1651000"/>
          </a:xfrm>
          <a:prstGeom prst="rect">
            <a:avLst/>
          </a:prstGeom>
          <a:noFill/>
          <a:ln/>
        </p:spPr>
        <p:txBody>
          <a:bodyPr wrap="square" lIns="0" tIns="0" rIns="0" bIns="0" rtlCol="0" anchor="t"/>
          <a:lstStyle/>
          <a:p>
            <a:pPr>
              <a:lnSpc>
                <a:spcPct val="160000"/>
              </a:lnSpc>
            </a:pPr>
            <a:r>
              <a:rPr lang="en-US" sz="1800" dirty="0">
                <a:solidFill>
                  <a:srgbClr val="1C1C1C"/>
                </a:solidFill>
                <a:latin typeface="QuattrocentoSans" pitchFamily="34" charset="0"/>
                <a:ea typeface="QuattrocentoSans" pitchFamily="34" charset="-122"/>
                <a:cs typeface="QuattrocentoSans" pitchFamily="34" charset="-120"/>
              </a:rPr>
              <a:t>Execute 20+ queries across filtering, sorting, aggregation, and multi-table joins to extract business insights from data.</a:t>
            </a:r>
            <a:endParaRPr lang="en-US" sz="1800" dirty="0"/>
          </a:p>
        </p:txBody>
      </p:sp>
      <p:sp>
        <p:nvSpPr>
          <p:cNvPr id="21" name="Shape 19"/>
          <p:cNvSpPr/>
          <p:nvPr/>
        </p:nvSpPr>
        <p:spPr>
          <a:xfrm>
            <a:off x="8445500" y="5334000"/>
            <a:ext cx="7048500" cy="3048000"/>
          </a:xfrm>
          <a:prstGeom prst="rect">
            <a:avLst/>
          </a:prstGeom>
          <a:solidFill>
            <a:srgbClr val="E8E2D6"/>
          </a:solidFill>
          <a:ln/>
        </p:spPr>
      </p:sp>
      <p:sp>
        <p:nvSpPr>
          <p:cNvPr id="22" name="Shape 20"/>
          <p:cNvSpPr/>
          <p:nvPr/>
        </p:nvSpPr>
        <p:spPr>
          <a:xfrm>
            <a:off x="8826500" y="5715000"/>
            <a:ext cx="457200" cy="457200"/>
          </a:xfrm>
          <a:custGeom>
            <a:avLst/>
            <a:gdLst/>
            <a:ahLst/>
            <a:cxnLst/>
            <a:rect l="l" t="t" r="r" b="b"/>
            <a:pathLst>
              <a:path w="457200" h="457200">
                <a:moveTo>
                  <a:pt x="200025" y="0"/>
                </a:moveTo>
                <a:lnTo>
                  <a:pt x="200025" y="57150"/>
                </a:lnTo>
                <a:cubicBezTo>
                  <a:pt x="200025" y="65008"/>
                  <a:pt x="206454" y="71438"/>
                  <a:pt x="214313" y="71438"/>
                </a:cubicBezTo>
                <a:lnTo>
                  <a:pt x="242888" y="71438"/>
                </a:lnTo>
                <a:cubicBezTo>
                  <a:pt x="250746" y="71438"/>
                  <a:pt x="257175" y="65008"/>
                  <a:pt x="257175" y="57150"/>
                </a:cubicBezTo>
                <a:lnTo>
                  <a:pt x="257175" y="0"/>
                </a:lnTo>
                <a:lnTo>
                  <a:pt x="285750" y="0"/>
                </a:lnTo>
                <a:cubicBezTo>
                  <a:pt x="317272" y="0"/>
                  <a:pt x="342900" y="25628"/>
                  <a:pt x="342900" y="57150"/>
                </a:cubicBezTo>
                <a:lnTo>
                  <a:pt x="342900" y="171450"/>
                </a:lnTo>
                <a:cubicBezTo>
                  <a:pt x="342900" y="176361"/>
                  <a:pt x="342275" y="181183"/>
                  <a:pt x="341114" y="185738"/>
                </a:cubicBezTo>
                <a:lnTo>
                  <a:pt x="116086" y="185738"/>
                </a:lnTo>
                <a:cubicBezTo>
                  <a:pt x="114925" y="181183"/>
                  <a:pt x="114300" y="176361"/>
                  <a:pt x="114300" y="171450"/>
                </a:cubicBezTo>
                <a:lnTo>
                  <a:pt x="114300" y="57150"/>
                </a:lnTo>
                <a:cubicBezTo>
                  <a:pt x="114300" y="25628"/>
                  <a:pt x="139928" y="0"/>
                  <a:pt x="171450" y="0"/>
                </a:cubicBezTo>
                <a:lnTo>
                  <a:pt x="200025" y="0"/>
                </a:lnTo>
                <a:close/>
                <a:moveTo>
                  <a:pt x="285750" y="457200"/>
                </a:moveTo>
                <a:cubicBezTo>
                  <a:pt x="275749" y="457200"/>
                  <a:pt x="266283" y="454610"/>
                  <a:pt x="258068" y="450056"/>
                </a:cubicBezTo>
                <a:cubicBezTo>
                  <a:pt x="266551" y="435322"/>
                  <a:pt x="271463" y="418267"/>
                  <a:pt x="271463" y="400050"/>
                </a:cubicBezTo>
                <a:lnTo>
                  <a:pt x="271463" y="285750"/>
                </a:lnTo>
                <a:cubicBezTo>
                  <a:pt x="271463" y="267533"/>
                  <a:pt x="266551" y="250478"/>
                  <a:pt x="258068" y="235744"/>
                </a:cubicBezTo>
                <a:cubicBezTo>
                  <a:pt x="266283" y="231190"/>
                  <a:pt x="275659" y="228600"/>
                  <a:pt x="285750" y="228600"/>
                </a:cubicBezTo>
                <a:lnTo>
                  <a:pt x="314325" y="228600"/>
                </a:lnTo>
                <a:lnTo>
                  <a:pt x="314325" y="285750"/>
                </a:lnTo>
                <a:cubicBezTo>
                  <a:pt x="314325" y="293608"/>
                  <a:pt x="320754" y="300038"/>
                  <a:pt x="328613" y="300038"/>
                </a:cubicBezTo>
                <a:lnTo>
                  <a:pt x="357188" y="300038"/>
                </a:lnTo>
                <a:cubicBezTo>
                  <a:pt x="365046" y="300038"/>
                  <a:pt x="371475" y="293608"/>
                  <a:pt x="371475" y="285750"/>
                </a:cubicBezTo>
                <a:lnTo>
                  <a:pt x="371475" y="228600"/>
                </a:lnTo>
                <a:lnTo>
                  <a:pt x="400050" y="228600"/>
                </a:lnTo>
                <a:cubicBezTo>
                  <a:pt x="431572" y="228600"/>
                  <a:pt x="457200" y="254228"/>
                  <a:pt x="457200" y="285750"/>
                </a:cubicBezTo>
                <a:lnTo>
                  <a:pt x="457200" y="400050"/>
                </a:lnTo>
                <a:cubicBezTo>
                  <a:pt x="457200" y="431572"/>
                  <a:pt x="431572" y="457200"/>
                  <a:pt x="400050" y="457200"/>
                </a:cubicBezTo>
                <a:lnTo>
                  <a:pt x="285750" y="457200"/>
                </a:lnTo>
                <a:close/>
                <a:moveTo>
                  <a:pt x="0" y="285750"/>
                </a:moveTo>
                <a:cubicBezTo>
                  <a:pt x="0" y="254228"/>
                  <a:pt x="25628" y="228600"/>
                  <a:pt x="57150" y="228600"/>
                </a:cubicBezTo>
                <a:lnTo>
                  <a:pt x="85725" y="228600"/>
                </a:lnTo>
                <a:lnTo>
                  <a:pt x="85725" y="285750"/>
                </a:lnTo>
                <a:cubicBezTo>
                  <a:pt x="85725" y="293608"/>
                  <a:pt x="92154" y="300038"/>
                  <a:pt x="100013" y="300038"/>
                </a:cubicBezTo>
                <a:lnTo>
                  <a:pt x="128588" y="300038"/>
                </a:lnTo>
                <a:cubicBezTo>
                  <a:pt x="136446" y="300038"/>
                  <a:pt x="142875" y="293608"/>
                  <a:pt x="142875" y="285750"/>
                </a:cubicBezTo>
                <a:lnTo>
                  <a:pt x="142875" y="228600"/>
                </a:lnTo>
                <a:lnTo>
                  <a:pt x="171450" y="228600"/>
                </a:lnTo>
                <a:cubicBezTo>
                  <a:pt x="202972" y="228600"/>
                  <a:pt x="228600" y="254228"/>
                  <a:pt x="228600" y="285750"/>
                </a:cubicBezTo>
                <a:lnTo>
                  <a:pt x="228600" y="400050"/>
                </a:lnTo>
                <a:cubicBezTo>
                  <a:pt x="228600" y="431572"/>
                  <a:pt x="202972" y="457200"/>
                  <a:pt x="171450" y="457200"/>
                </a:cubicBezTo>
                <a:lnTo>
                  <a:pt x="57150" y="457200"/>
                </a:lnTo>
                <a:cubicBezTo>
                  <a:pt x="25628" y="457200"/>
                  <a:pt x="0" y="431572"/>
                  <a:pt x="0" y="400050"/>
                </a:cubicBezTo>
                <a:lnTo>
                  <a:pt x="0" y="285750"/>
                </a:lnTo>
                <a:close/>
              </a:path>
            </a:pathLst>
          </a:custGeom>
          <a:solidFill>
            <a:srgbClr val="B87333"/>
          </a:solidFill>
          <a:ln/>
        </p:spPr>
      </p:sp>
      <p:sp>
        <p:nvSpPr>
          <p:cNvPr id="23" name="Text 21"/>
          <p:cNvSpPr/>
          <p:nvPr/>
        </p:nvSpPr>
        <p:spPr>
          <a:xfrm>
            <a:off x="9525000" y="5715000"/>
            <a:ext cx="5588000" cy="406400"/>
          </a:xfrm>
          <a:prstGeom prst="rect">
            <a:avLst/>
          </a:prstGeom>
          <a:noFill/>
          <a:ln/>
        </p:spPr>
        <p:txBody>
          <a:bodyPr wrap="none" lIns="0" tIns="0" rIns="0" bIns="0" rtlCol="0" anchor="ctr"/>
          <a:lstStyle/>
          <a:p>
            <a:pPr>
              <a:lnSpc>
                <a:spcPct val="100000"/>
              </a:lnSpc>
            </a:pPr>
            <a:r>
              <a:rPr lang="en-US" sz="2200" dirty="0">
                <a:solidFill>
                  <a:srgbClr val="1E3A3A"/>
                </a:solidFill>
                <a:latin typeface="Liter" pitchFamily="34" charset="0"/>
                <a:ea typeface="Liter" pitchFamily="34" charset="-122"/>
                <a:cs typeface="Liter" pitchFamily="34" charset="-120"/>
              </a:rPr>
              <a:t>Inventory Tracking</a:t>
            </a:r>
            <a:endParaRPr lang="en-US" sz="2200" dirty="0"/>
          </a:p>
        </p:txBody>
      </p:sp>
      <p:sp>
        <p:nvSpPr>
          <p:cNvPr id="24" name="Text 22"/>
          <p:cNvSpPr/>
          <p:nvPr/>
        </p:nvSpPr>
        <p:spPr>
          <a:xfrm>
            <a:off x="8826500" y="6350000"/>
            <a:ext cx="6286500" cy="1651000"/>
          </a:xfrm>
          <a:prstGeom prst="rect">
            <a:avLst/>
          </a:prstGeom>
          <a:noFill/>
          <a:ln/>
        </p:spPr>
        <p:txBody>
          <a:bodyPr wrap="square" lIns="0" tIns="0" rIns="0" bIns="0" rtlCol="0" anchor="t"/>
          <a:lstStyle/>
          <a:p>
            <a:pPr>
              <a:lnSpc>
                <a:spcPct val="160000"/>
              </a:lnSpc>
            </a:pPr>
            <a:r>
              <a:rPr lang="en-US" sz="1800" dirty="0">
                <a:solidFill>
                  <a:srgbClr val="1C1C1C"/>
                </a:solidFill>
                <a:latin typeface="QuattrocentoSans" pitchFamily="34" charset="0"/>
                <a:ea typeface="QuattrocentoSans" pitchFamily="34" charset="-122"/>
                <a:cs typeface="QuattrocentoSans" pitchFamily="34" charset="-120"/>
              </a:rPr>
              <a:t>Monitor stock levels after order fulfillment and analyze customer purchasing patterns for inventory optimization.</a:t>
            </a:r>
            <a:endParaRPr lang="en-US" sz="1800" dirty="0"/>
          </a:p>
        </p:txBody>
      </p:sp>
      <p:sp>
        <p:nvSpPr>
          <p:cNvPr id="25" name="Text 23"/>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8A9B8A"/>
                </a:solidFill>
                <a:latin typeface="QuattrocentoSans" pitchFamily="34" charset="0"/>
                <a:ea typeface="QuattrocentoSans" pitchFamily="34" charset="-122"/>
                <a:cs typeface="QuattrocentoSans" pitchFamily="34" charset="-120"/>
              </a:rPr>
              <a:t>04</a:t>
            </a:r>
            <a:endParaRPr lang="en-US" sz="12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DE4"/>
        </a:solidFill>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E3A3A"/>
          </a:solidFill>
          <a:ln/>
        </p:spPr>
      </p:sp>
      <p:sp>
        <p:nvSpPr>
          <p:cNvPr id="3" name="Text 1"/>
          <p:cNvSpPr/>
          <p:nvPr/>
        </p:nvSpPr>
        <p:spPr>
          <a:xfrm>
            <a:off x="0" y="0"/>
            <a:ext cx="5422900" cy="558800"/>
          </a:xfrm>
          <a:prstGeom prst="rect">
            <a:avLst/>
          </a:prstGeom>
          <a:noFill/>
          <a:ln/>
        </p:spPr>
        <p:txBody>
          <a:bodyPr wrap="none" lIns="0" tIns="0" rIns="0" bIns="0" rtlCol="0" anchor="ctr"/>
          <a:lstStyle/>
          <a:p>
            <a:pPr algn="ctr">
              <a:lnSpc>
                <a:spcPct val="100000"/>
              </a:lnSpc>
            </a:pPr>
            <a:r>
              <a:rPr lang="en-US" sz="1200" b="1" spc="100" kern="0" dirty="0">
                <a:solidFill>
                  <a:srgbClr val="F2EDE4"/>
                </a:solidFill>
                <a:latin typeface="QuattrocentoSans" pitchFamily="34" charset="0"/>
                <a:ea typeface="QuattrocentoSans" pitchFamily="34" charset="-122"/>
                <a:cs typeface="QuattrocentoSans" pitchFamily="34" charset="-120"/>
              </a:rPr>
              <a:t>PROJECT OVERVIEW</a:t>
            </a:r>
            <a:endParaRPr lang="en-US" sz="1200" dirty="0"/>
          </a:p>
        </p:txBody>
      </p:sp>
      <p:sp>
        <p:nvSpPr>
          <p:cNvPr id="4" name="Shape 2"/>
          <p:cNvSpPr/>
          <p:nvPr/>
        </p:nvSpPr>
        <p:spPr>
          <a:xfrm>
            <a:off x="1524000" y="558800"/>
            <a:ext cx="2374900" cy="50800"/>
          </a:xfrm>
          <a:prstGeom prst="rect">
            <a:avLst/>
          </a:prstGeom>
          <a:solidFill>
            <a:srgbClr val="B87333"/>
          </a:solidFill>
          <a:ln/>
        </p:spPr>
      </p:sp>
      <p:sp>
        <p:nvSpPr>
          <p:cNvPr id="5" name="Text 3"/>
          <p:cNvSpPr/>
          <p:nvPr/>
        </p:nvSpPr>
        <p:spPr>
          <a:xfrm>
            <a:off x="5422900" y="0"/>
            <a:ext cx="5410200" cy="558800"/>
          </a:xfrm>
          <a:prstGeom prst="rect">
            <a:avLst/>
          </a:prstGeom>
          <a:noFill/>
          <a:ln/>
        </p:spPr>
        <p:txBody>
          <a:bodyPr wrap="none" lIns="0" tIns="0" rIns="0" bIns="0" rtlCol="0" anchor="ctr"/>
          <a:lstStyle/>
          <a:p>
            <a:pPr algn="ctr">
              <a:lnSpc>
                <a:spcPct val="100000"/>
              </a:lnSpc>
            </a:pPr>
            <a:r>
              <a:rPr lang="en-US" sz="1200" spc="100" kern="0" dirty="0">
                <a:solidFill>
                  <a:srgbClr val="8A9B8A"/>
                </a:solidFill>
                <a:latin typeface="QuattrocentoSans" pitchFamily="34" charset="0"/>
                <a:ea typeface="QuattrocentoSans" pitchFamily="34" charset="-122"/>
                <a:cs typeface="QuattrocentoSans" pitchFamily="34" charset="-120"/>
              </a:rPr>
              <a:t>QUERY SOLUTIONS</a:t>
            </a:r>
            <a:endParaRPr lang="en-US" sz="1200" dirty="0"/>
          </a:p>
        </p:txBody>
      </p:sp>
      <p:sp>
        <p:nvSpPr>
          <p:cNvPr id="6" name="Text 4"/>
          <p:cNvSpPr/>
          <p:nvPr/>
        </p:nvSpPr>
        <p:spPr>
          <a:xfrm>
            <a:off x="10833100" y="0"/>
            <a:ext cx="5422900" cy="558800"/>
          </a:xfrm>
          <a:prstGeom prst="rect">
            <a:avLst/>
          </a:prstGeom>
          <a:noFill/>
          <a:ln/>
        </p:spPr>
        <p:txBody>
          <a:bodyPr wrap="none" lIns="0" tIns="0" rIns="0" bIns="0" rtlCol="0" anchor="ctr"/>
          <a:lstStyle/>
          <a:p>
            <a:pPr algn="ctr">
              <a:lnSpc>
                <a:spcPct val="100000"/>
              </a:lnSpc>
            </a:pPr>
            <a:r>
              <a:rPr lang="en-US" sz="1200" spc="100" kern="0" dirty="0">
                <a:solidFill>
                  <a:srgbClr val="8A9B8A"/>
                </a:solidFill>
                <a:latin typeface="QuattrocentoSans" pitchFamily="34" charset="0"/>
                <a:ea typeface="QuattrocentoSans" pitchFamily="34" charset="-122"/>
                <a:cs typeface="QuattrocentoSans" pitchFamily="34" charset="-120"/>
              </a:rPr>
              <a:t>ANALYTICS &amp; INSIGHTS</a:t>
            </a:r>
            <a:endParaRPr lang="en-US" sz="1200" dirty="0"/>
          </a:p>
        </p:txBody>
      </p:sp>
      <p:sp>
        <p:nvSpPr>
          <p:cNvPr id="7" name="Text 5"/>
          <p:cNvSpPr/>
          <p:nvPr/>
        </p:nvSpPr>
        <p:spPr>
          <a:xfrm>
            <a:off x="762000" y="914400"/>
            <a:ext cx="6350000" cy="508000"/>
          </a:xfrm>
          <a:prstGeom prst="rect">
            <a:avLst/>
          </a:prstGeom>
          <a:noFill/>
          <a:ln/>
        </p:spPr>
        <p:txBody>
          <a:bodyPr wrap="none" lIns="0" tIns="0" rIns="0" bIns="0" rtlCol="0" anchor="ctr"/>
          <a:lstStyle/>
          <a:p>
            <a:pPr>
              <a:lnSpc>
                <a:spcPct val="100000"/>
              </a:lnSpc>
            </a:pPr>
            <a:r>
              <a:rPr lang="en-US" sz="2800" dirty="0">
                <a:solidFill>
                  <a:srgbClr val="1E3A3A"/>
                </a:solidFill>
                <a:latin typeface="Liter" pitchFamily="34" charset="0"/>
                <a:ea typeface="Liter" pitchFamily="34" charset="-122"/>
                <a:cs typeface="Liter" pitchFamily="34" charset="-120"/>
              </a:rPr>
              <a:t>Database Structure</a:t>
            </a:r>
            <a:endParaRPr lang="en-US" sz="2800" dirty="0"/>
          </a:p>
        </p:txBody>
      </p:sp>
      <p:sp>
        <p:nvSpPr>
          <p:cNvPr id="8" name="Shape 6"/>
          <p:cNvSpPr/>
          <p:nvPr/>
        </p:nvSpPr>
        <p:spPr>
          <a:xfrm>
            <a:off x="762000" y="1498600"/>
            <a:ext cx="762000" cy="38100"/>
          </a:xfrm>
          <a:prstGeom prst="rect">
            <a:avLst/>
          </a:prstGeom>
          <a:solidFill>
            <a:srgbClr val="B87333"/>
          </a:solidFill>
          <a:ln/>
        </p:spPr>
      </p:sp>
      <p:sp>
        <p:nvSpPr>
          <p:cNvPr id="9" name="Shape 7"/>
          <p:cNvSpPr/>
          <p:nvPr/>
        </p:nvSpPr>
        <p:spPr>
          <a:xfrm>
            <a:off x="762000" y="1905000"/>
            <a:ext cx="4318000" cy="3556000"/>
          </a:xfrm>
          <a:prstGeom prst="rect">
            <a:avLst/>
          </a:prstGeom>
          <a:solidFill>
            <a:srgbClr val="1E3A3A"/>
          </a:solidFill>
          <a:ln/>
        </p:spPr>
      </p:sp>
      <p:sp>
        <p:nvSpPr>
          <p:cNvPr id="10" name="Text 8"/>
          <p:cNvSpPr/>
          <p:nvPr/>
        </p:nvSpPr>
        <p:spPr>
          <a:xfrm>
            <a:off x="952500" y="2032000"/>
            <a:ext cx="3937000" cy="381000"/>
          </a:xfrm>
          <a:prstGeom prst="rect">
            <a:avLst/>
          </a:prstGeom>
          <a:noFill/>
          <a:ln/>
        </p:spPr>
        <p:txBody>
          <a:bodyPr wrap="none" lIns="0" tIns="0" rIns="0" bIns="0" rtlCol="0" anchor="ctr"/>
          <a:lstStyle/>
          <a:p>
            <a:pPr>
              <a:lnSpc>
                <a:spcPct val="100000"/>
              </a:lnSpc>
            </a:pPr>
            <a:r>
              <a:rPr lang="en-US" sz="1800" b="1" dirty="0">
                <a:solidFill>
                  <a:srgbClr val="F2EDE4"/>
                </a:solidFill>
                <a:latin typeface="Liter" pitchFamily="34" charset="0"/>
                <a:ea typeface="Liter" pitchFamily="34" charset="-122"/>
                <a:cs typeface="Liter" pitchFamily="34" charset="-120"/>
              </a:rPr>
              <a:t>Books</a:t>
            </a:r>
            <a:endParaRPr lang="en-US" sz="1600" dirty="0"/>
          </a:p>
        </p:txBody>
      </p:sp>
      <p:sp>
        <p:nvSpPr>
          <p:cNvPr id="11" name="Text 9"/>
          <p:cNvSpPr/>
          <p:nvPr/>
        </p:nvSpPr>
        <p:spPr>
          <a:xfrm>
            <a:off x="952500" y="2540000"/>
            <a:ext cx="3937000" cy="2667000"/>
          </a:xfrm>
          <a:prstGeom prst="rect">
            <a:avLst/>
          </a:prstGeom>
          <a:noFill/>
          <a:ln/>
        </p:spPr>
        <p:txBody>
          <a:bodyPr wrap="square" lIns="0" tIns="0" rIns="0" bIns="0" rtlCol="0" anchor="t"/>
          <a:lstStyle/>
          <a:p>
            <a:pPr>
              <a:lnSpc>
                <a:spcPct val="180000"/>
              </a:lnSpc>
            </a:pPr>
            <a:r>
              <a:rPr lang="en-US" sz="1400" dirty="0">
                <a:solidFill>
                  <a:srgbClr val="B87333"/>
                </a:solidFill>
                <a:latin typeface="Quattrocento Sans" pitchFamily="34" charset="0"/>
                <a:ea typeface="Quattrocento Sans" pitchFamily="34" charset="-122"/>
                <a:cs typeface="Quattrocento Sans" pitchFamily="34" charset="-120"/>
              </a:rPr>
              <a:t>book_id</a:t>
            </a:r>
            <a:pPr>
              <a:lnSpc>
                <a:spcPct val="180000"/>
              </a:lnSpc>
            </a:pPr>
            <a:r>
              <a:rPr lang="en-US" sz="1400" dirty="0">
                <a:solidFill>
                  <a:srgbClr val="B8C4C4"/>
                </a:solidFill>
                <a:latin typeface="Quattrocento Sans" pitchFamily="34" charset="0"/>
                <a:ea typeface="Quattrocento Sans" pitchFamily="34" charset="-122"/>
                <a:cs typeface="Quattrocento Sans" pitchFamily="34" charset="-120"/>
              </a:rPr>
              <a:t> </a:t>
            </a:r>
            <a:pPr>
              <a:lnSpc>
                <a:spcPct val="180000"/>
              </a:lnSpc>
            </a:pPr>
            <a:r>
              <a:rPr lang="en-US" sz="1400" dirty="0">
                <a:solidFill>
                  <a:srgbClr val="8A9B8A"/>
                </a:solidFill>
                <a:latin typeface="Quattrocento Sans" pitchFamily="34" charset="0"/>
                <a:ea typeface="Quattrocento Sans" pitchFamily="34" charset="-122"/>
                <a:cs typeface="Quattrocento Sans" pitchFamily="34" charset="-120"/>
              </a:rPr>
              <a:t>INT PK</a:t>
            </a:r>
            <a:endParaRPr lang="en-US" sz="1600" dirty="0"/>
          </a:p>
          <a:p>
            <a:pPr>
              <a:lnSpc>
                <a:spcPct val="180000"/>
              </a:lnSpc>
            </a:pPr>
            <a:r>
              <a:rPr lang="en-US" sz="1400" dirty="0">
                <a:solidFill>
                  <a:srgbClr val="B8C4C4"/>
                </a:solidFill>
                <a:latin typeface="Quattrocento Sans" pitchFamily="34" charset="0"/>
                <a:ea typeface="Quattrocento Sans" pitchFamily="34" charset="-122"/>
                <a:cs typeface="Quattrocento Sans" pitchFamily="34" charset="-120"/>
              </a:rPr>
              <a:t>title </a:t>
            </a:r>
            <a:pPr>
              <a:lnSpc>
                <a:spcPct val="180000"/>
              </a:lnSpc>
            </a:pPr>
            <a:r>
              <a:rPr lang="en-US" sz="1400" dirty="0">
                <a:solidFill>
                  <a:srgbClr val="8A9B8A"/>
                </a:solidFill>
                <a:latin typeface="Quattrocento Sans" pitchFamily="34" charset="0"/>
                <a:ea typeface="Quattrocento Sans" pitchFamily="34" charset="-122"/>
                <a:cs typeface="Quattrocento Sans" pitchFamily="34" charset="-120"/>
              </a:rPr>
              <a:t>VARCHAR</a:t>
            </a:r>
            <a:endParaRPr lang="en-US" sz="1600" dirty="0"/>
          </a:p>
          <a:p>
            <a:pPr>
              <a:lnSpc>
                <a:spcPct val="180000"/>
              </a:lnSpc>
            </a:pPr>
            <a:r>
              <a:rPr lang="en-US" sz="1400" dirty="0">
                <a:solidFill>
                  <a:srgbClr val="B8C4C4"/>
                </a:solidFill>
                <a:latin typeface="Quattrocento Sans" pitchFamily="34" charset="0"/>
                <a:ea typeface="Quattrocento Sans" pitchFamily="34" charset="-122"/>
                <a:cs typeface="Quattrocento Sans" pitchFamily="34" charset="-120"/>
              </a:rPr>
              <a:t>author </a:t>
            </a:r>
            <a:pPr>
              <a:lnSpc>
                <a:spcPct val="180000"/>
              </a:lnSpc>
            </a:pPr>
            <a:r>
              <a:rPr lang="en-US" sz="1400" dirty="0">
                <a:solidFill>
                  <a:srgbClr val="8A9B8A"/>
                </a:solidFill>
                <a:latin typeface="Quattrocento Sans" pitchFamily="34" charset="0"/>
                <a:ea typeface="Quattrocento Sans" pitchFamily="34" charset="-122"/>
                <a:cs typeface="Quattrocento Sans" pitchFamily="34" charset="-120"/>
              </a:rPr>
              <a:t>VARCHAR</a:t>
            </a:r>
            <a:endParaRPr lang="en-US" sz="1600" dirty="0"/>
          </a:p>
          <a:p>
            <a:pPr>
              <a:lnSpc>
                <a:spcPct val="180000"/>
              </a:lnSpc>
            </a:pPr>
            <a:r>
              <a:rPr lang="en-US" sz="1400" dirty="0">
                <a:solidFill>
                  <a:srgbClr val="B8C4C4"/>
                </a:solidFill>
                <a:latin typeface="Quattrocento Sans" pitchFamily="34" charset="0"/>
                <a:ea typeface="Quattrocento Sans" pitchFamily="34" charset="-122"/>
                <a:cs typeface="Quattrocento Sans" pitchFamily="34" charset="-120"/>
              </a:rPr>
              <a:t>genre </a:t>
            </a:r>
            <a:pPr>
              <a:lnSpc>
                <a:spcPct val="180000"/>
              </a:lnSpc>
            </a:pPr>
            <a:r>
              <a:rPr lang="en-US" sz="1400" dirty="0">
                <a:solidFill>
                  <a:srgbClr val="8A9B8A"/>
                </a:solidFill>
                <a:latin typeface="Quattrocento Sans" pitchFamily="34" charset="0"/>
                <a:ea typeface="Quattrocento Sans" pitchFamily="34" charset="-122"/>
                <a:cs typeface="Quattrocento Sans" pitchFamily="34" charset="-120"/>
              </a:rPr>
              <a:t>VARCHAR</a:t>
            </a:r>
            <a:endParaRPr lang="en-US" sz="1600" dirty="0"/>
          </a:p>
          <a:p>
            <a:pPr>
              <a:lnSpc>
                <a:spcPct val="180000"/>
              </a:lnSpc>
            </a:pPr>
            <a:r>
              <a:rPr lang="en-US" sz="1400" dirty="0">
                <a:solidFill>
                  <a:srgbClr val="B8C4C4"/>
                </a:solidFill>
                <a:latin typeface="Quattrocento Sans" pitchFamily="34" charset="0"/>
                <a:ea typeface="Quattrocento Sans" pitchFamily="34" charset="-122"/>
                <a:cs typeface="Quattrocento Sans" pitchFamily="34" charset="-120"/>
              </a:rPr>
              <a:t>price </a:t>
            </a:r>
            <a:pPr>
              <a:lnSpc>
                <a:spcPct val="180000"/>
              </a:lnSpc>
            </a:pPr>
            <a:r>
              <a:rPr lang="en-US" sz="1400" dirty="0">
                <a:solidFill>
                  <a:srgbClr val="8A9B8A"/>
                </a:solidFill>
                <a:latin typeface="Quattrocento Sans" pitchFamily="34" charset="0"/>
                <a:ea typeface="Quattrocento Sans" pitchFamily="34" charset="-122"/>
                <a:cs typeface="Quattrocento Sans" pitchFamily="34" charset="-120"/>
              </a:rPr>
              <a:t>DECIMAL</a:t>
            </a:r>
            <a:endParaRPr lang="en-US" sz="1600" dirty="0"/>
          </a:p>
          <a:p>
            <a:pPr>
              <a:lnSpc>
                <a:spcPct val="180000"/>
              </a:lnSpc>
            </a:pPr>
            <a:r>
              <a:rPr lang="en-US" sz="1400" dirty="0">
                <a:solidFill>
                  <a:srgbClr val="B8C4C4"/>
                </a:solidFill>
                <a:latin typeface="Quattrocento Sans" pitchFamily="34" charset="0"/>
                <a:ea typeface="Quattrocento Sans" pitchFamily="34" charset="-122"/>
                <a:cs typeface="Quattrocento Sans" pitchFamily="34" charset="-120"/>
              </a:rPr>
              <a:t>stock </a:t>
            </a:r>
            <a:pPr>
              <a:lnSpc>
                <a:spcPct val="180000"/>
              </a:lnSpc>
            </a:pPr>
            <a:r>
              <a:rPr lang="en-US" sz="1400" dirty="0">
                <a:solidFill>
                  <a:srgbClr val="8A9B8A"/>
                </a:solidFill>
                <a:latin typeface="Quattrocento Sans" pitchFamily="34" charset="0"/>
                <a:ea typeface="Quattrocento Sans" pitchFamily="34" charset="-122"/>
                <a:cs typeface="Quattrocento Sans" pitchFamily="34" charset="-120"/>
              </a:rPr>
              <a:t>INT</a:t>
            </a:r>
            <a:endParaRPr lang="en-US" sz="1600" dirty="0"/>
          </a:p>
          <a:p>
            <a:pPr>
              <a:lnSpc>
                <a:spcPct val="180000"/>
              </a:lnSpc>
            </a:pPr>
            <a:r>
              <a:rPr lang="en-US" sz="1400" dirty="0">
                <a:solidFill>
                  <a:srgbClr val="B8C4C4"/>
                </a:solidFill>
                <a:latin typeface="Quattrocento Sans" pitchFamily="34" charset="0"/>
                <a:ea typeface="Quattrocento Sans" pitchFamily="34" charset="-122"/>
                <a:cs typeface="Quattrocento Sans" pitchFamily="34" charset="-120"/>
              </a:rPr>
              <a:t>year </a:t>
            </a:r>
            <a:pPr>
              <a:lnSpc>
                <a:spcPct val="180000"/>
              </a:lnSpc>
            </a:pPr>
            <a:r>
              <a:rPr lang="en-US" sz="1400" dirty="0">
                <a:solidFill>
                  <a:srgbClr val="8A9B8A"/>
                </a:solidFill>
                <a:latin typeface="Quattrocento Sans" pitchFamily="34" charset="0"/>
                <a:ea typeface="Quattrocento Sans" pitchFamily="34" charset="-122"/>
                <a:cs typeface="Quattrocento Sans" pitchFamily="34" charset="-120"/>
              </a:rPr>
              <a:t>INT</a:t>
            </a:r>
            <a:endParaRPr lang="en-US" sz="1600" dirty="0"/>
          </a:p>
        </p:txBody>
      </p:sp>
      <p:sp>
        <p:nvSpPr>
          <p:cNvPr id="12" name="Shape 10"/>
          <p:cNvSpPr/>
          <p:nvPr/>
        </p:nvSpPr>
        <p:spPr>
          <a:xfrm>
            <a:off x="5969000" y="1905000"/>
            <a:ext cx="4318000" cy="2794000"/>
          </a:xfrm>
          <a:prstGeom prst="rect">
            <a:avLst/>
          </a:prstGeom>
          <a:solidFill>
            <a:srgbClr val="1E3A3A"/>
          </a:solidFill>
          <a:ln/>
        </p:spPr>
      </p:sp>
      <p:sp>
        <p:nvSpPr>
          <p:cNvPr id="13" name="Text 11"/>
          <p:cNvSpPr/>
          <p:nvPr/>
        </p:nvSpPr>
        <p:spPr>
          <a:xfrm>
            <a:off x="6159500" y="2032000"/>
            <a:ext cx="3937000" cy="381000"/>
          </a:xfrm>
          <a:prstGeom prst="rect">
            <a:avLst/>
          </a:prstGeom>
          <a:noFill/>
          <a:ln/>
        </p:spPr>
        <p:txBody>
          <a:bodyPr wrap="none" lIns="0" tIns="0" rIns="0" bIns="0" rtlCol="0" anchor="ctr"/>
          <a:lstStyle/>
          <a:p>
            <a:pPr>
              <a:lnSpc>
                <a:spcPct val="100000"/>
              </a:lnSpc>
            </a:pPr>
            <a:r>
              <a:rPr lang="en-US" sz="1800" b="1" dirty="0">
                <a:solidFill>
                  <a:srgbClr val="F2EDE4"/>
                </a:solidFill>
                <a:latin typeface="Liter" pitchFamily="34" charset="0"/>
                <a:ea typeface="Liter" pitchFamily="34" charset="-122"/>
                <a:cs typeface="Liter" pitchFamily="34" charset="-120"/>
              </a:rPr>
              <a:t>Customers</a:t>
            </a:r>
            <a:endParaRPr lang="en-US" sz="1600" dirty="0"/>
          </a:p>
        </p:txBody>
      </p:sp>
      <p:sp>
        <p:nvSpPr>
          <p:cNvPr id="14" name="Text 12"/>
          <p:cNvSpPr/>
          <p:nvPr/>
        </p:nvSpPr>
        <p:spPr>
          <a:xfrm>
            <a:off x="6159500" y="2540000"/>
            <a:ext cx="3937000" cy="1905000"/>
          </a:xfrm>
          <a:prstGeom prst="rect">
            <a:avLst/>
          </a:prstGeom>
          <a:noFill/>
          <a:ln/>
        </p:spPr>
        <p:txBody>
          <a:bodyPr wrap="square" lIns="0" tIns="0" rIns="0" bIns="0" rtlCol="0" anchor="t"/>
          <a:lstStyle/>
          <a:p>
            <a:pPr>
              <a:lnSpc>
                <a:spcPct val="180000"/>
              </a:lnSpc>
            </a:pPr>
            <a:r>
              <a:rPr lang="en-US" sz="1400" dirty="0">
                <a:solidFill>
                  <a:srgbClr val="B87333"/>
                </a:solidFill>
                <a:latin typeface="Quattrocento Sans" pitchFamily="34" charset="0"/>
                <a:ea typeface="Quattrocento Sans" pitchFamily="34" charset="-122"/>
                <a:cs typeface="Quattrocento Sans" pitchFamily="34" charset="-120"/>
              </a:rPr>
              <a:t>customer_id</a:t>
            </a:r>
            <a:pPr>
              <a:lnSpc>
                <a:spcPct val="180000"/>
              </a:lnSpc>
            </a:pPr>
            <a:r>
              <a:rPr lang="en-US" sz="1400" dirty="0">
                <a:solidFill>
                  <a:srgbClr val="B8C4C4"/>
                </a:solidFill>
                <a:latin typeface="Quattrocento Sans" pitchFamily="34" charset="0"/>
                <a:ea typeface="Quattrocento Sans" pitchFamily="34" charset="-122"/>
                <a:cs typeface="Quattrocento Sans" pitchFamily="34" charset="-120"/>
              </a:rPr>
              <a:t> </a:t>
            </a:r>
            <a:pPr>
              <a:lnSpc>
                <a:spcPct val="180000"/>
              </a:lnSpc>
            </a:pPr>
            <a:r>
              <a:rPr lang="en-US" sz="1400" dirty="0">
                <a:solidFill>
                  <a:srgbClr val="8A9B8A"/>
                </a:solidFill>
                <a:latin typeface="Quattrocento Sans" pitchFamily="34" charset="0"/>
                <a:ea typeface="Quattrocento Sans" pitchFamily="34" charset="-122"/>
                <a:cs typeface="Quattrocento Sans" pitchFamily="34" charset="-120"/>
              </a:rPr>
              <a:t>INT PK</a:t>
            </a:r>
            <a:endParaRPr lang="en-US" sz="1600" dirty="0"/>
          </a:p>
          <a:p>
            <a:pPr>
              <a:lnSpc>
                <a:spcPct val="180000"/>
              </a:lnSpc>
            </a:pPr>
            <a:r>
              <a:rPr lang="en-US" sz="1400" dirty="0">
                <a:solidFill>
                  <a:srgbClr val="B8C4C4"/>
                </a:solidFill>
                <a:latin typeface="Quattrocento Sans" pitchFamily="34" charset="0"/>
                <a:ea typeface="Quattrocento Sans" pitchFamily="34" charset="-122"/>
                <a:cs typeface="Quattrocento Sans" pitchFamily="34" charset="-120"/>
              </a:rPr>
              <a:t>name </a:t>
            </a:r>
            <a:pPr>
              <a:lnSpc>
                <a:spcPct val="180000"/>
              </a:lnSpc>
            </a:pPr>
            <a:r>
              <a:rPr lang="en-US" sz="1400" dirty="0">
                <a:solidFill>
                  <a:srgbClr val="8A9B8A"/>
                </a:solidFill>
                <a:latin typeface="Quattrocento Sans" pitchFamily="34" charset="0"/>
                <a:ea typeface="Quattrocento Sans" pitchFamily="34" charset="-122"/>
                <a:cs typeface="Quattrocento Sans" pitchFamily="34" charset="-120"/>
              </a:rPr>
              <a:t>VARCHAR</a:t>
            </a:r>
            <a:endParaRPr lang="en-US" sz="1600" dirty="0"/>
          </a:p>
          <a:p>
            <a:pPr>
              <a:lnSpc>
                <a:spcPct val="180000"/>
              </a:lnSpc>
            </a:pPr>
            <a:r>
              <a:rPr lang="en-US" sz="1400" dirty="0">
                <a:solidFill>
                  <a:srgbClr val="B8C4C4"/>
                </a:solidFill>
                <a:latin typeface="Quattrocento Sans" pitchFamily="34" charset="0"/>
                <a:ea typeface="Quattrocento Sans" pitchFamily="34" charset="-122"/>
                <a:cs typeface="Quattrocento Sans" pitchFamily="34" charset="-120"/>
              </a:rPr>
              <a:t>country </a:t>
            </a:r>
            <a:pPr>
              <a:lnSpc>
                <a:spcPct val="180000"/>
              </a:lnSpc>
            </a:pPr>
            <a:r>
              <a:rPr lang="en-US" sz="1400" dirty="0">
                <a:solidFill>
                  <a:srgbClr val="8A9B8A"/>
                </a:solidFill>
                <a:latin typeface="Quattrocento Sans" pitchFamily="34" charset="0"/>
                <a:ea typeface="Quattrocento Sans" pitchFamily="34" charset="-122"/>
                <a:cs typeface="Quattrocento Sans" pitchFamily="34" charset="-120"/>
              </a:rPr>
              <a:t>VARCHAR</a:t>
            </a:r>
            <a:endParaRPr lang="en-US" sz="1600" dirty="0"/>
          </a:p>
        </p:txBody>
      </p:sp>
      <p:sp>
        <p:nvSpPr>
          <p:cNvPr id="15" name="Shape 13"/>
          <p:cNvSpPr/>
          <p:nvPr/>
        </p:nvSpPr>
        <p:spPr>
          <a:xfrm>
            <a:off x="11176000" y="1905000"/>
            <a:ext cx="4318000" cy="3048000"/>
          </a:xfrm>
          <a:prstGeom prst="rect">
            <a:avLst/>
          </a:prstGeom>
          <a:solidFill>
            <a:srgbClr val="1E3A3A"/>
          </a:solidFill>
          <a:ln/>
        </p:spPr>
      </p:sp>
      <p:sp>
        <p:nvSpPr>
          <p:cNvPr id="16" name="Text 14"/>
          <p:cNvSpPr/>
          <p:nvPr/>
        </p:nvSpPr>
        <p:spPr>
          <a:xfrm>
            <a:off x="11366500" y="2032000"/>
            <a:ext cx="3937000" cy="381000"/>
          </a:xfrm>
          <a:prstGeom prst="rect">
            <a:avLst/>
          </a:prstGeom>
          <a:noFill/>
          <a:ln/>
        </p:spPr>
        <p:txBody>
          <a:bodyPr wrap="none" lIns="0" tIns="0" rIns="0" bIns="0" rtlCol="0" anchor="ctr"/>
          <a:lstStyle/>
          <a:p>
            <a:pPr>
              <a:lnSpc>
                <a:spcPct val="100000"/>
              </a:lnSpc>
            </a:pPr>
            <a:r>
              <a:rPr lang="en-US" sz="1800" b="1" dirty="0">
                <a:solidFill>
                  <a:srgbClr val="F2EDE4"/>
                </a:solidFill>
                <a:latin typeface="Liter" pitchFamily="34" charset="0"/>
                <a:ea typeface="Liter" pitchFamily="34" charset="-122"/>
                <a:cs typeface="Liter" pitchFamily="34" charset="-120"/>
              </a:rPr>
              <a:t>Orders</a:t>
            </a:r>
            <a:endParaRPr lang="en-US" sz="1600" dirty="0"/>
          </a:p>
        </p:txBody>
      </p:sp>
      <p:sp>
        <p:nvSpPr>
          <p:cNvPr id="17" name="Text 15"/>
          <p:cNvSpPr/>
          <p:nvPr/>
        </p:nvSpPr>
        <p:spPr>
          <a:xfrm>
            <a:off x="11366500" y="2540000"/>
            <a:ext cx="3937000" cy="2159000"/>
          </a:xfrm>
          <a:prstGeom prst="rect">
            <a:avLst/>
          </a:prstGeom>
          <a:noFill/>
          <a:ln/>
        </p:spPr>
        <p:txBody>
          <a:bodyPr wrap="square" lIns="0" tIns="0" rIns="0" bIns="0" rtlCol="0" anchor="t"/>
          <a:lstStyle/>
          <a:p>
            <a:pPr>
              <a:lnSpc>
                <a:spcPct val="180000"/>
              </a:lnSpc>
            </a:pPr>
            <a:r>
              <a:rPr lang="en-US" sz="1400" dirty="0">
                <a:solidFill>
                  <a:srgbClr val="B87333"/>
                </a:solidFill>
                <a:latin typeface="Quattrocento Sans" pitchFamily="34" charset="0"/>
                <a:ea typeface="Quattrocento Sans" pitchFamily="34" charset="-122"/>
                <a:cs typeface="Quattrocento Sans" pitchFamily="34" charset="-120"/>
              </a:rPr>
              <a:t>order_id</a:t>
            </a:r>
            <a:pPr>
              <a:lnSpc>
                <a:spcPct val="180000"/>
              </a:lnSpc>
            </a:pPr>
            <a:r>
              <a:rPr lang="en-US" sz="1400" dirty="0">
                <a:solidFill>
                  <a:srgbClr val="B8C4C4"/>
                </a:solidFill>
                <a:latin typeface="Quattrocento Sans" pitchFamily="34" charset="0"/>
                <a:ea typeface="Quattrocento Sans" pitchFamily="34" charset="-122"/>
                <a:cs typeface="Quattrocento Sans" pitchFamily="34" charset="-120"/>
              </a:rPr>
              <a:t> </a:t>
            </a:r>
            <a:pPr>
              <a:lnSpc>
                <a:spcPct val="180000"/>
              </a:lnSpc>
            </a:pPr>
            <a:r>
              <a:rPr lang="en-US" sz="1400" dirty="0">
                <a:solidFill>
                  <a:srgbClr val="8A9B8A"/>
                </a:solidFill>
                <a:latin typeface="Quattrocento Sans" pitchFamily="34" charset="0"/>
                <a:ea typeface="Quattrocento Sans" pitchFamily="34" charset="-122"/>
                <a:cs typeface="Quattrocento Sans" pitchFamily="34" charset="-120"/>
              </a:rPr>
              <a:t>INT PK</a:t>
            </a:r>
            <a:endParaRPr lang="en-US" sz="1600" dirty="0"/>
          </a:p>
          <a:p>
            <a:pPr>
              <a:lnSpc>
                <a:spcPct val="180000"/>
              </a:lnSpc>
            </a:pPr>
            <a:r>
              <a:rPr lang="en-US" sz="1400" dirty="0">
                <a:solidFill>
                  <a:srgbClr val="B87333"/>
                </a:solidFill>
                <a:latin typeface="Quattrocento Sans" pitchFamily="34" charset="0"/>
                <a:ea typeface="Quattrocento Sans" pitchFamily="34" charset="-122"/>
                <a:cs typeface="Quattrocento Sans" pitchFamily="34" charset="-120"/>
              </a:rPr>
              <a:t>customer_id</a:t>
            </a:r>
            <a:pPr>
              <a:lnSpc>
                <a:spcPct val="180000"/>
              </a:lnSpc>
            </a:pPr>
            <a:r>
              <a:rPr lang="en-US" sz="1400" dirty="0">
                <a:solidFill>
                  <a:srgbClr val="B8C4C4"/>
                </a:solidFill>
                <a:latin typeface="Quattrocento Sans" pitchFamily="34" charset="0"/>
                <a:ea typeface="Quattrocento Sans" pitchFamily="34" charset="-122"/>
                <a:cs typeface="Quattrocento Sans" pitchFamily="34" charset="-120"/>
              </a:rPr>
              <a:t> </a:t>
            </a:r>
            <a:pPr>
              <a:lnSpc>
                <a:spcPct val="180000"/>
              </a:lnSpc>
            </a:pPr>
            <a:r>
              <a:rPr lang="en-US" sz="1400" dirty="0">
                <a:solidFill>
                  <a:srgbClr val="8A9B8A"/>
                </a:solidFill>
                <a:latin typeface="Quattrocento Sans" pitchFamily="34" charset="0"/>
                <a:ea typeface="Quattrocento Sans" pitchFamily="34" charset="-122"/>
                <a:cs typeface="Quattrocento Sans" pitchFamily="34" charset="-120"/>
              </a:rPr>
              <a:t>INT FK</a:t>
            </a:r>
            <a:endParaRPr lang="en-US" sz="1600" dirty="0"/>
          </a:p>
          <a:p>
            <a:pPr>
              <a:lnSpc>
                <a:spcPct val="180000"/>
              </a:lnSpc>
            </a:pPr>
            <a:r>
              <a:rPr lang="en-US" sz="1400" dirty="0">
                <a:solidFill>
                  <a:srgbClr val="B87333"/>
                </a:solidFill>
                <a:latin typeface="Quattrocento Sans" pitchFamily="34" charset="0"/>
                <a:ea typeface="Quattrocento Sans" pitchFamily="34" charset="-122"/>
                <a:cs typeface="Quattrocento Sans" pitchFamily="34" charset="-120"/>
              </a:rPr>
              <a:t>book_id</a:t>
            </a:r>
            <a:pPr>
              <a:lnSpc>
                <a:spcPct val="180000"/>
              </a:lnSpc>
            </a:pPr>
            <a:r>
              <a:rPr lang="en-US" sz="1400" dirty="0">
                <a:solidFill>
                  <a:srgbClr val="B8C4C4"/>
                </a:solidFill>
                <a:latin typeface="Quattrocento Sans" pitchFamily="34" charset="0"/>
                <a:ea typeface="Quattrocento Sans" pitchFamily="34" charset="-122"/>
                <a:cs typeface="Quattrocento Sans" pitchFamily="34" charset="-120"/>
              </a:rPr>
              <a:t> </a:t>
            </a:r>
            <a:pPr>
              <a:lnSpc>
                <a:spcPct val="180000"/>
              </a:lnSpc>
            </a:pPr>
            <a:r>
              <a:rPr lang="en-US" sz="1400" dirty="0">
                <a:solidFill>
                  <a:srgbClr val="8A9B8A"/>
                </a:solidFill>
                <a:latin typeface="Quattrocento Sans" pitchFamily="34" charset="0"/>
                <a:ea typeface="Quattrocento Sans" pitchFamily="34" charset="-122"/>
                <a:cs typeface="Quattrocento Sans" pitchFamily="34" charset="-120"/>
              </a:rPr>
              <a:t>INT FK</a:t>
            </a:r>
            <a:endParaRPr lang="en-US" sz="1600" dirty="0"/>
          </a:p>
          <a:p>
            <a:pPr>
              <a:lnSpc>
                <a:spcPct val="180000"/>
              </a:lnSpc>
            </a:pPr>
            <a:r>
              <a:rPr lang="en-US" sz="1400" dirty="0">
                <a:solidFill>
                  <a:srgbClr val="B8C4C4"/>
                </a:solidFill>
                <a:latin typeface="Quattrocento Sans" pitchFamily="34" charset="0"/>
                <a:ea typeface="Quattrocento Sans" pitchFamily="34" charset="-122"/>
                <a:cs typeface="Quattrocento Sans" pitchFamily="34" charset="-120"/>
              </a:rPr>
              <a:t>quantity </a:t>
            </a:r>
            <a:pPr>
              <a:lnSpc>
                <a:spcPct val="180000"/>
              </a:lnSpc>
            </a:pPr>
            <a:r>
              <a:rPr lang="en-US" sz="1400" dirty="0">
                <a:solidFill>
                  <a:srgbClr val="8A9B8A"/>
                </a:solidFill>
                <a:latin typeface="Quattrocento Sans" pitchFamily="34" charset="0"/>
                <a:ea typeface="Quattrocento Sans" pitchFamily="34" charset="-122"/>
                <a:cs typeface="Quattrocento Sans" pitchFamily="34" charset="-120"/>
              </a:rPr>
              <a:t>INT</a:t>
            </a:r>
            <a:endParaRPr lang="en-US" sz="1600" dirty="0"/>
          </a:p>
          <a:p>
            <a:pPr>
              <a:lnSpc>
                <a:spcPct val="180000"/>
              </a:lnSpc>
            </a:pPr>
            <a:r>
              <a:rPr lang="en-US" sz="1400" dirty="0">
                <a:solidFill>
                  <a:srgbClr val="B8C4C4"/>
                </a:solidFill>
                <a:latin typeface="Quattrocento Sans" pitchFamily="34" charset="0"/>
                <a:ea typeface="Quattrocento Sans" pitchFamily="34" charset="-122"/>
                <a:cs typeface="Quattrocento Sans" pitchFamily="34" charset="-120"/>
              </a:rPr>
              <a:t>order_date </a:t>
            </a:r>
            <a:pPr>
              <a:lnSpc>
                <a:spcPct val="180000"/>
              </a:lnSpc>
            </a:pPr>
            <a:r>
              <a:rPr lang="en-US" sz="1400" dirty="0">
                <a:solidFill>
                  <a:srgbClr val="8A9B8A"/>
                </a:solidFill>
                <a:latin typeface="Quattrocento Sans" pitchFamily="34" charset="0"/>
                <a:ea typeface="Quattrocento Sans" pitchFamily="34" charset="-122"/>
                <a:cs typeface="Quattrocento Sans" pitchFamily="34" charset="-120"/>
              </a:rPr>
              <a:t>DATE</a:t>
            </a:r>
            <a:endParaRPr lang="en-US" sz="1600" dirty="0"/>
          </a:p>
        </p:txBody>
      </p:sp>
      <p:sp>
        <p:nvSpPr>
          <p:cNvPr id="18" name="Shape 16"/>
          <p:cNvSpPr/>
          <p:nvPr/>
        </p:nvSpPr>
        <p:spPr>
          <a:xfrm>
            <a:off x="5080000" y="3302000"/>
            <a:ext cx="889000" cy="0"/>
          </a:xfrm>
          <a:prstGeom prst="straightConnector1">
            <a:avLst/>
          </a:prstGeom>
          <a:noFill/>
          <a:ln w="25400">
            <a:solidFill>
              <a:srgbClr val="B87333"/>
            </a:solidFill>
            <a:prstDash val="solid"/>
            <a:headEnd type="none"/>
            <a:tailEnd type="arrow"/>
          </a:ln>
        </p:spPr>
      </p:sp>
      <p:sp>
        <p:nvSpPr>
          <p:cNvPr id="19" name="Text 17"/>
          <p:cNvSpPr/>
          <p:nvPr/>
        </p:nvSpPr>
        <p:spPr>
          <a:xfrm>
            <a:off x="5143500" y="2984500"/>
            <a:ext cx="762000" cy="228600"/>
          </a:xfrm>
          <a:prstGeom prst="rect">
            <a:avLst/>
          </a:prstGeom>
          <a:noFill/>
          <a:ln/>
        </p:spPr>
        <p:txBody>
          <a:bodyPr wrap="none" lIns="0" tIns="0" rIns="0" bIns="0" rtlCol="0" anchor="ctr"/>
          <a:lstStyle/>
          <a:p>
            <a:pPr algn="ctr">
              <a:lnSpc>
                <a:spcPct val="100000"/>
              </a:lnSpc>
            </a:pPr>
            <a:r>
              <a:rPr lang="en-US" sz="1000" dirty="0">
                <a:solidFill>
                  <a:srgbClr val="B87333"/>
                </a:solidFill>
                <a:latin typeface="Quattrocento Sans" pitchFamily="34" charset="0"/>
                <a:ea typeface="Quattrocento Sans" pitchFamily="34" charset="-122"/>
                <a:cs typeface="Quattrocento Sans" pitchFamily="34" charset="-120"/>
              </a:rPr>
              <a:t>FK</a:t>
            </a:r>
            <a:endParaRPr lang="en-US" sz="1600" dirty="0"/>
          </a:p>
        </p:txBody>
      </p:sp>
      <p:sp>
        <p:nvSpPr>
          <p:cNvPr id="20" name="Shape 18"/>
          <p:cNvSpPr/>
          <p:nvPr/>
        </p:nvSpPr>
        <p:spPr>
          <a:xfrm>
            <a:off x="10287000" y="3302000"/>
            <a:ext cx="889000" cy="0"/>
          </a:xfrm>
          <a:prstGeom prst="straightConnector1">
            <a:avLst/>
          </a:prstGeom>
          <a:noFill/>
          <a:ln w="25400">
            <a:solidFill>
              <a:srgbClr val="B87333"/>
            </a:solidFill>
            <a:prstDash val="solid"/>
            <a:headEnd type="none"/>
            <a:tailEnd type="arrow"/>
          </a:ln>
        </p:spPr>
      </p:sp>
      <p:sp>
        <p:nvSpPr>
          <p:cNvPr id="21" name="Text 19"/>
          <p:cNvSpPr/>
          <p:nvPr/>
        </p:nvSpPr>
        <p:spPr>
          <a:xfrm>
            <a:off x="10350500" y="2984500"/>
            <a:ext cx="762000" cy="228600"/>
          </a:xfrm>
          <a:prstGeom prst="rect">
            <a:avLst/>
          </a:prstGeom>
          <a:noFill/>
          <a:ln/>
        </p:spPr>
        <p:txBody>
          <a:bodyPr wrap="none" lIns="0" tIns="0" rIns="0" bIns="0" rtlCol="0" anchor="ctr"/>
          <a:lstStyle/>
          <a:p>
            <a:pPr algn="ctr">
              <a:lnSpc>
                <a:spcPct val="100000"/>
              </a:lnSpc>
            </a:pPr>
            <a:r>
              <a:rPr lang="en-US" sz="1000" dirty="0">
                <a:solidFill>
                  <a:srgbClr val="B87333"/>
                </a:solidFill>
                <a:latin typeface="Quattrocento Sans" pitchFamily="34" charset="0"/>
                <a:ea typeface="Quattrocento Sans" pitchFamily="34" charset="-122"/>
                <a:cs typeface="Quattrocento Sans" pitchFamily="34" charset="-120"/>
              </a:rPr>
              <a:t>FK</a:t>
            </a:r>
            <a:endParaRPr lang="en-US" sz="1600" dirty="0"/>
          </a:p>
        </p:txBody>
      </p:sp>
      <p:sp>
        <p:nvSpPr>
          <p:cNvPr id="22" name="Text 20"/>
          <p:cNvSpPr/>
          <p:nvPr/>
        </p:nvSpPr>
        <p:spPr>
          <a:xfrm>
            <a:off x="762000" y="5969000"/>
            <a:ext cx="5080000" cy="381000"/>
          </a:xfrm>
          <a:prstGeom prst="rect">
            <a:avLst/>
          </a:prstGeom>
          <a:noFill/>
          <a:ln/>
        </p:spPr>
        <p:txBody>
          <a:bodyPr wrap="none" lIns="0" tIns="0" rIns="0" bIns="0" rtlCol="0" anchor="ctr"/>
          <a:lstStyle/>
          <a:p>
            <a:pPr>
              <a:lnSpc>
                <a:spcPct val="100000"/>
              </a:lnSpc>
            </a:pPr>
            <a:r>
              <a:rPr lang="en-US" sz="2200" dirty="0">
                <a:solidFill>
                  <a:srgbClr val="1E3A3A"/>
                </a:solidFill>
                <a:latin typeface="Liter" pitchFamily="34" charset="0"/>
                <a:ea typeface="Liter" pitchFamily="34" charset="-122"/>
                <a:cs typeface="Liter" pitchFamily="34" charset="-120"/>
              </a:rPr>
              <a:t>Relational Design</a:t>
            </a:r>
            <a:endParaRPr lang="en-US" sz="2200" dirty="0"/>
          </a:p>
        </p:txBody>
      </p:sp>
      <p:sp>
        <p:nvSpPr>
          <p:cNvPr id="23" name="Text 21"/>
          <p:cNvSpPr/>
          <p:nvPr/>
        </p:nvSpPr>
        <p:spPr>
          <a:xfrm>
            <a:off x="762000" y="6477000"/>
            <a:ext cx="14732000" cy="1651000"/>
          </a:xfrm>
          <a:prstGeom prst="rect">
            <a:avLst/>
          </a:prstGeom>
          <a:noFill/>
          <a:ln/>
        </p:spPr>
        <p:txBody>
          <a:bodyPr wrap="square" lIns="0" tIns="0" rIns="0" bIns="0" rtlCol="0" anchor="t"/>
          <a:lstStyle/>
          <a:p>
            <a:pPr>
              <a:lnSpc>
                <a:spcPct val="160000"/>
              </a:lnSpc>
            </a:pPr>
            <a:r>
              <a:rPr lang="en-US" sz="1800" dirty="0">
                <a:solidFill>
                  <a:srgbClr val="1C1C1C"/>
                </a:solidFill>
                <a:latin typeface="QuattrocentoSans" pitchFamily="34" charset="0"/>
                <a:ea typeface="QuattrocentoSans" pitchFamily="34" charset="-122"/>
                <a:cs typeface="QuattrocentoSans" pitchFamily="34" charset="-120"/>
              </a:rPr>
              <a:t>The database follows a </a:t>
            </a:r>
            <a:pPr>
              <a:lnSpc>
                <a:spcPct val="160000"/>
              </a:lnSpc>
            </a:pPr>
            <a:r>
              <a:rPr lang="en-US" sz="1800" b="1" dirty="0">
                <a:solidFill>
                  <a:srgbClr val="1C1C1C"/>
                </a:solidFill>
                <a:latin typeface="QuattrocentoSans" pitchFamily="34" charset="0"/>
                <a:ea typeface="QuattrocentoSans" pitchFamily="34" charset="-122"/>
                <a:cs typeface="QuattrocentoSans" pitchFamily="34" charset="-120"/>
              </a:rPr>
              <a:t>star schema</a:t>
            </a:r>
            <a:pPr>
              <a:lnSpc>
                <a:spcPct val="160000"/>
              </a:lnSpc>
            </a:pPr>
            <a:r>
              <a:rPr lang="en-US" sz="1800" dirty="0">
                <a:solidFill>
                  <a:srgbClr val="1C1C1C"/>
                </a:solidFill>
                <a:latin typeface="QuattrocentoSans" pitchFamily="34" charset="0"/>
                <a:ea typeface="QuattrocentoSans" pitchFamily="34" charset="-122"/>
                <a:cs typeface="QuattrocentoSans" pitchFamily="34" charset="-120"/>
              </a:rPr>
              <a:t> with the Orders table at the center, connecting Books and Customers through foreign key relationships. Books stores all book metadata including pricing and inventory. Customers holds customer profiles with geographic data. Orders records every transaction with quantity and date, enabling multi-dimensional analysis across books, customers, and time periods.</a:t>
            </a:r>
            <a:endParaRPr lang="en-US" sz="1800" dirty="0"/>
          </a:p>
        </p:txBody>
      </p:sp>
      <p:sp>
        <p:nvSpPr>
          <p:cNvPr id="24" name="Text 22"/>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8A9B8A"/>
                </a:solidFill>
                <a:latin typeface="QuattrocentoSans" pitchFamily="34" charset="0"/>
                <a:ea typeface="QuattrocentoSans" pitchFamily="34" charset="-122"/>
                <a:cs typeface="QuattrocentoSans" pitchFamily="34" charset="-120"/>
              </a:rPr>
              <a:t>05</a:t>
            </a:r>
            <a:endParaRPr lang="en-US" sz="12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DE4"/>
        </a:solidFill>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E3A3A"/>
          </a:solidFill>
          <a:ln/>
        </p:spPr>
      </p:sp>
      <p:sp>
        <p:nvSpPr>
          <p:cNvPr id="3" name="Text 1"/>
          <p:cNvSpPr/>
          <p:nvPr/>
        </p:nvSpPr>
        <p:spPr>
          <a:xfrm>
            <a:off x="0" y="0"/>
            <a:ext cx="5422900" cy="558800"/>
          </a:xfrm>
          <a:prstGeom prst="rect">
            <a:avLst/>
          </a:prstGeom>
          <a:noFill/>
          <a:ln/>
        </p:spPr>
        <p:txBody>
          <a:bodyPr wrap="none" lIns="0" tIns="0" rIns="0" bIns="0" rtlCol="0" anchor="ctr"/>
          <a:lstStyle/>
          <a:p>
            <a:pPr algn="ctr">
              <a:lnSpc>
                <a:spcPct val="100000"/>
              </a:lnSpc>
            </a:pPr>
            <a:r>
              <a:rPr lang="en-US" sz="1200" b="1" spc="100" kern="0" dirty="0">
                <a:solidFill>
                  <a:srgbClr val="F2EDE4"/>
                </a:solidFill>
                <a:latin typeface="QuattrocentoSans" pitchFamily="34" charset="0"/>
                <a:ea typeface="QuattrocentoSans" pitchFamily="34" charset="-122"/>
                <a:cs typeface="QuattrocentoSans" pitchFamily="34" charset="-120"/>
              </a:rPr>
              <a:t>PROJECT OVERVIEW</a:t>
            </a:r>
            <a:endParaRPr lang="en-US" sz="1200" dirty="0"/>
          </a:p>
        </p:txBody>
      </p:sp>
      <p:sp>
        <p:nvSpPr>
          <p:cNvPr id="4" name="Shape 2"/>
          <p:cNvSpPr/>
          <p:nvPr/>
        </p:nvSpPr>
        <p:spPr>
          <a:xfrm>
            <a:off x="1524000" y="558800"/>
            <a:ext cx="2374900" cy="50800"/>
          </a:xfrm>
          <a:prstGeom prst="rect">
            <a:avLst/>
          </a:prstGeom>
          <a:solidFill>
            <a:srgbClr val="B87333"/>
          </a:solidFill>
          <a:ln/>
        </p:spPr>
      </p:sp>
      <p:sp>
        <p:nvSpPr>
          <p:cNvPr id="5" name="Text 3"/>
          <p:cNvSpPr/>
          <p:nvPr/>
        </p:nvSpPr>
        <p:spPr>
          <a:xfrm>
            <a:off x="5422900" y="0"/>
            <a:ext cx="5410200" cy="558800"/>
          </a:xfrm>
          <a:prstGeom prst="rect">
            <a:avLst/>
          </a:prstGeom>
          <a:noFill/>
          <a:ln/>
        </p:spPr>
        <p:txBody>
          <a:bodyPr wrap="none" lIns="0" tIns="0" rIns="0" bIns="0" rtlCol="0" anchor="ctr"/>
          <a:lstStyle/>
          <a:p>
            <a:pPr algn="ctr">
              <a:lnSpc>
                <a:spcPct val="100000"/>
              </a:lnSpc>
            </a:pPr>
            <a:r>
              <a:rPr lang="en-US" sz="1200" spc="100" kern="0" dirty="0">
                <a:solidFill>
                  <a:srgbClr val="8A9B8A"/>
                </a:solidFill>
                <a:latin typeface="QuattrocentoSans" pitchFamily="34" charset="0"/>
                <a:ea typeface="QuattrocentoSans" pitchFamily="34" charset="-122"/>
                <a:cs typeface="QuattrocentoSans" pitchFamily="34" charset="-120"/>
              </a:rPr>
              <a:t>QUERY SOLUTIONS</a:t>
            </a:r>
            <a:endParaRPr lang="en-US" sz="1200" dirty="0"/>
          </a:p>
        </p:txBody>
      </p:sp>
      <p:sp>
        <p:nvSpPr>
          <p:cNvPr id="6" name="Text 4"/>
          <p:cNvSpPr/>
          <p:nvPr/>
        </p:nvSpPr>
        <p:spPr>
          <a:xfrm>
            <a:off x="10833100" y="0"/>
            <a:ext cx="5422900" cy="558800"/>
          </a:xfrm>
          <a:prstGeom prst="rect">
            <a:avLst/>
          </a:prstGeom>
          <a:noFill/>
          <a:ln/>
        </p:spPr>
        <p:txBody>
          <a:bodyPr wrap="none" lIns="0" tIns="0" rIns="0" bIns="0" rtlCol="0" anchor="ctr"/>
          <a:lstStyle/>
          <a:p>
            <a:pPr algn="ctr">
              <a:lnSpc>
                <a:spcPct val="100000"/>
              </a:lnSpc>
            </a:pPr>
            <a:r>
              <a:rPr lang="en-US" sz="1200" spc="100" kern="0" dirty="0">
                <a:solidFill>
                  <a:srgbClr val="8A9B8A"/>
                </a:solidFill>
                <a:latin typeface="QuattrocentoSans" pitchFamily="34" charset="0"/>
                <a:ea typeface="QuattrocentoSans" pitchFamily="34" charset="-122"/>
                <a:cs typeface="QuattrocentoSans" pitchFamily="34" charset="-120"/>
              </a:rPr>
              <a:t>ANALYTICS &amp; INSIGHTS</a:t>
            </a:r>
            <a:endParaRPr lang="en-US" sz="1200" dirty="0"/>
          </a:p>
        </p:txBody>
      </p:sp>
      <p:sp>
        <p:nvSpPr>
          <p:cNvPr id="7" name="Text 5"/>
          <p:cNvSpPr/>
          <p:nvPr/>
        </p:nvSpPr>
        <p:spPr>
          <a:xfrm>
            <a:off x="762000" y="914400"/>
            <a:ext cx="6350000" cy="508000"/>
          </a:xfrm>
          <a:prstGeom prst="rect">
            <a:avLst/>
          </a:prstGeom>
          <a:noFill/>
          <a:ln/>
        </p:spPr>
        <p:txBody>
          <a:bodyPr wrap="none" lIns="0" tIns="0" rIns="0" bIns="0" rtlCol="0" anchor="ctr"/>
          <a:lstStyle/>
          <a:p>
            <a:pPr>
              <a:lnSpc>
                <a:spcPct val="100000"/>
              </a:lnSpc>
            </a:pPr>
            <a:r>
              <a:rPr lang="en-US" sz="2800" dirty="0">
                <a:solidFill>
                  <a:srgbClr val="1E3A3A"/>
                </a:solidFill>
                <a:latin typeface="Liter" pitchFamily="34" charset="0"/>
                <a:ea typeface="Liter" pitchFamily="34" charset="-122"/>
                <a:cs typeface="Liter" pitchFamily="34" charset="-120"/>
              </a:rPr>
              <a:t>SQL Concepts Covered</a:t>
            </a:r>
            <a:endParaRPr lang="en-US" sz="2800" dirty="0"/>
          </a:p>
        </p:txBody>
      </p:sp>
      <p:sp>
        <p:nvSpPr>
          <p:cNvPr id="8" name="Shape 6"/>
          <p:cNvSpPr/>
          <p:nvPr/>
        </p:nvSpPr>
        <p:spPr>
          <a:xfrm>
            <a:off x="762000" y="1498600"/>
            <a:ext cx="762000" cy="38100"/>
          </a:xfrm>
          <a:prstGeom prst="rect">
            <a:avLst/>
          </a:prstGeom>
          <a:solidFill>
            <a:srgbClr val="B87333"/>
          </a:solidFill>
          <a:ln/>
        </p:spPr>
      </p:sp>
      <p:sp>
        <p:nvSpPr>
          <p:cNvPr id="9" name="Shape 7"/>
          <p:cNvSpPr/>
          <p:nvPr/>
        </p:nvSpPr>
        <p:spPr>
          <a:xfrm>
            <a:off x="762000" y="1879600"/>
            <a:ext cx="3429000" cy="1143000"/>
          </a:xfrm>
          <a:prstGeom prst="rect">
            <a:avLst/>
          </a:prstGeom>
          <a:solidFill>
            <a:srgbClr val="E8E2D6"/>
          </a:solidFill>
          <a:ln/>
        </p:spPr>
      </p:sp>
      <p:sp>
        <p:nvSpPr>
          <p:cNvPr id="10" name="Text 8"/>
          <p:cNvSpPr/>
          <p:nvPr/>
        </p:nvSpPr>
        <p:spPr>
          <a:xfrm>
            <a:off x="952500" y="2006600"/>
            <a:ext cx="3048000" cy="381000"/>
          </a:xfrm>
          <a:prstGeom prst="rect">
            <a:avLst/>
          </a:prstGeom>
          <a:noFill/>
          <a:ln/>
        </p:spPr>
        <p:txBody>
          <a:bodyPr wrap="none" lIns="0" tIns="0" rIns="0" bIns="0" rtlCol="0" anchor="ctr"/>
          <a:lstStyle/>
          <a:p>
            <a:pPr>
              <a:lnSpc>
                <a:spcPct val="100000"/>
              </a:lnSpc>
            </a:pPr>
            <a:r>
              <a:rPr lang="en-US" sz="1800" b="1" dirty="0">
                <a:solidFill>
                  <a:srgbClr val="1E3A3A"/>
                </a:solidFill>
                <a:latin typeface="Liter" pitchFamily="34" charset="0"/>
                <a:ea typeface="Liter" pitchFamily="34" charset="-122"/>
                <a:cs typeface="Liter" pitchFamily="34" charset="-120"/>
              </a:rPr>
              <a:t>SELECT</a:t>
            </a:r>
            <a:endParaRPr lang="en-US" sz="1600" dirty="0"/>
          </a:p>
        </p:txBody>
      </p:sp>
      <p:sp>
        <p:nvSpPr>
          <p:cNvPr id="11" name="Shape 9"/>
          <p:cNvSpPr/>
          <p:nvPr/>
        </p:nvSpPr>
        <p:spPr>
          <a:xfrm>
            <a:off x="952500" y="2476500"/>
            <a:ext cx="3048000" cy="76200"/>
          </a:xfrm>
          <a:prstGeom prst="rect">
            <a:avLst/>
          </a:prstGeom>
          <a:solidFill>
            <a:srgbClr val="D5CFC6"/>
          </a:solidFill>
          <a:ln/>
        </p:spPr>
      </p:sp>
      <p:sp>
        <p:nvSpPr>
          <p:cNvPr id="12" name="Shape 10"/>
          <p:cNvSpPr/>
          <p:nvPr/>
        </p:nvSpPr>
        <p:spPr>
          <a:xfrm>
            <a:off x="952500" y="2476500"/>
            <a:ext cx="2743200" cy="76200"/>
          </a:xfrm>
          <a:prstGeom prst="rect">
            <a:avLst/>
          </a:prstGeom>
          <a:solidFill>
            <a:srgbClr val="B87333"/>
          </a:solidFill>
          <a:ln/>
        </p:spPr>
      </p:sp>
      <p:sp>
        <p:nvSpPr>
          <p:cNvPr id="13" name="Text 11"/>
          <p:cNvSpPr/>
          <p:nvPr/>
        </p:nvSpPr>
        <p:spPr>
          <a:xfrm>
            <a:off x="952500" y="2641600"/>
            <a:ext cx="3048000" cy="254000"/>
          </a:xfrm>
          <a:prstGeom prst="rect">
            <a:avLst/>
          </a:prstGeom>
          <a:noFill/>
          <a:ln/>
        </p:spPr>
        <p:txBody>
          <a:bodyPr wrap="none" lIns="0" tIns="0" rIns="0" bIns="0" rtlCol="0" anchor="ctr"/>
          <a:lstStyle/>
          <a:p>
            <a:pPr>
              <a:lnSpc>
                <a:spcPct val="100000"/>
              </a:lnSpc>
            </a:pPr>
            <a:r>
              <a:rPr lang="en-US" sz="1200" dirty="0">
                <a:solidFill>
                  <a:srgbClr val="8A9B8A"/>
                </a:solidFill>
                <a:latin typeface="Quattrocento Sans" pitchFamily="34" charset="0"/>
                <a:ea typeface="Quattrocento Sans" pitchFamily="34" charset="-122"/>
                <a:cs typeface="Quattrocento Sans" pitchFamily="34" charset="-120"/>
              </a:rPr>
              <a:t>Foundation</a:t>
            </a:r>
            <a:endParaRPr lang="en-US" sz="1600" dirty="0"/>
          </a:p>
        </p:txBody>
      </p:sp>
      <p:sp>
        <p:nvSpPr>
          <p:cNvPr id="14" name="Shape 12"/>
          <p:cNvSpPr/>
          <p:nvPr/>
        </p:nvSpPr>
        <p:spPr>
          <a:xfrm>
            <a:off x="4508500" y="1879600"/>
            <a:ext cx="3429000" cy="1143000"/>
          </a:xfrm>
          <a:prstGeom prst="rect">
            <a:avLst/>
          </a:prstGeom>
          <a:solidFill>
            <a:srgbClr val="E8E2D6"/>
          </a:solidFill>
          <a:ln/>
        </p:spPr>
      </p:sp>
      <p:sp>
        <p:nvSpPr>
          <p:cNvPr id="15" name="Text 13"/>
          <p:cNvSpPr/>
          <p:nvPr/>
        </p:nvSpPr>
        <p:spPr>
          <a:xfrm>
            <a:off x="4699000" y="2006600"/>
            <a:ext cx="3048000" cy="381000"/>
          </a:xfrm>
          <a:prstGeom prst="rect">
            <a:avLst/>
          </a:prstGeom>
          <a:noFill/>
          <a:ln/>
        </p:spPr>
        <p:txBody>
          <a:bodyPr wrap="none" lIns="0" tIns="0" rIns="0" bIns="0" rtlCol="0" anchor="ctr"/>
          <a:lstStyle/>
          <a:p>
            <a:pPr>
              <a:lnSpc>
                <a:spcPct val="100000"/>
              </a:lnSpc>
            </a:pPr>
            <a:r>
              <a:rPr lang="en-US" sz="1800" b="1" dirty="0">
                <a:solidFill>
                  <a:srgbClr val="1E3A3A"/>
                </a:solidFill>
                <a:latin typeface="Liter" pitchFamily="34" charset="0"/>
                <a:ea typeface="Liter" pitchFamily="34" charset="-122"/>
                <a:cs typeface="Liter" pitchFamily="34" charset="-120"/>
              </a:rPr>
              <a:t>WHERE</a:t>
            </a:r>
            <a:endParaRPr lang="en-US" sz="1600" dirty="0"/>
          </a:p>
        </p:txBody>
      </p:sp>
      <p:sp>
        <p:nvSpPr>
          <p:cNvPr id="16" name="Shape 14"/>
          <p:cNvSpPr/>
          <p:nvPr/>
        </p:nvSpPr>
        <p:spPr>
          <a:xfrm>
            <a:off x="4699000" y="2476500"/>
            <a:ext cx="3048000" cy="76200"/>
          </a:xfrm>
          <a:prstGeom prst="rect">
            <a:avLst/>
          </a:prstGeom>
          <a:solidFill>
            <a:srgbClr val="D5CFC6"/>
          </a:solidFill>
          <a:ln/>
        </p:spPr>
      </p:sp>
      <p:sp>
        <p:nvSpPr>
          <p:cNvPr id="17" name="Shape 15"/>
          <p:cNvSpPr/>
          <p:nvPr/>
        </p:nvSpPr>
        <p:spPr>
          <a:xfrm>
            <a:off x="4699000" y="2476500"/>
            <a:ext cx="2743200" cy="76200"/>
          </a:xfrm>
          <a:prstGeom prst="rect">
            <a:avLst/>
          </a:prstGeom>
          <a:solidFill>
            <a:srgbClr val="B87333"/>
          </a:solidFill>
          <a:ln/>
        </p:spPr>
      </p:sp>
      <p:sp>
        <p:nvSpPr>
          <p:cNvPr id="18" name="Text 16"/>
          <p:cNvSpPr/>
          <p:nvPr/>
        </p:nvSpPr>
        <p:spPr>
          <a:xfrm>
            <a:off x="4699000" y="2641600"/>
            <a:ext cx="3048000" cy="254000"/>
          </a:xfrm>
          <a:prstGeom prst="rect">
            <a:avLst/>
          </a:prstGeom>
          <a:noFill/>
          <a:ln/>
        </p:spPr>
        <p:txBody>
          <a:bodyPr wrap="none" lIns="0" tIns="0" rIns="0" bIns="0" rtlCol="0" anchor="ctr"/>
          <a:lstStyle/>
          <a:p>
            <a:pPr>
              <a:lnSpc>
                <a:spcPct val="100000"/>
              </a:lnSpc>
            </a:pPr>
            <a:r>
              <a:rPr lang="en-US" sz="1200" dirty="0">
                <a:solidFill>
                  <a:srgbClr val="8A9B8A"/>
                </a:solidFill>
                <a:latin typeface="Quattrocento Sans" pitchFamily="34" charset="0"/>
                <a:ea typeface="Quattrocento Sans" pitchFamily="34" charset="-122"/>
                <a:cs typeface="Quattrocento Sans" pitchFamily="34" charset="-120"/>
              </a:rPr>
              <a:t>Foundation</a:t>
            </a:r>
            <a:endParaRPr lang="en-US" sz="1600" dirty="0"/>
          </a:p>
        </p:txBody>
      </p:sp>
      <p:sp>
        <p:nvSpPr>
          <p:cNvPr id="19" name="Shape 17"/>
          <p:cNvSpPr/>
          <p:nvPr/>
        </p:nvSpPr>
        <p:spPr>
          <a:xfrm>
            <a:off x="8255000" y="1879600"/>
            <a:ext cx="3429000" cy="1143000"/>
          </a:xfrm>
          <a:prstGeom prst="rect">
            <a:avLst/>
          </a:prstGeom>
          <a:solidFill>
            <a:srgbClr val="E8E2D6"/>
          </a:solidFill>
          <a:ln/>
        </p:spPr>
      </p:sp>
      <p:sp>
        <p:nvSpPr>
          <p:cNvPr id="20" name="Text 18"/>
          <p:cNvSpPr/>
          <p:nvPr/>
        </p:nvSpPr>
        <p:spPr>
          <a:xfrm>
            <a:off x="8445500" y="2006600"/>
            <a:ext cx="3048000" cy="381000"/>
          </a:xfrm>
          <a:prstGeom prst="rect">
            <a:avLst/>
          </a:prstGeom>
          <a:noFill/>
          <a:ln/>
        </p:spPr>
        <p:txBody>
          <a:bodyPr wrap="none" lIns="0" tIns="0" rIns="0" bIns="0" rtlCol="0" anchor="ctr"/>
          <a:lstStyle/>
          <a:p>
            <a:pPr>
              <a:lnSpc>
                <a:spcPct val="100000"/>
              </a:lnSpc>
            </a:pPr>
            <a:r>
              <a:rPr lang="en-US" sz="1800" b="1" dirty="0">
                <a:solidFill>
                  <a:srgbClr val="1E3A3A"/>
                </a:solidFill>
                <a:latin typeface="Liter" pitchFamily="34" charset="0"/>
                <a:ea typeface="Liter" pitchFamily="34" charset="-122"/>
                <a:cs typeface="Liter" pitchFamily="34" charset="-120"/>
              </a:rPr>
              <a:t>ORDER BY</a:t>
            </a:r>
            <a:endParaRPr lang="en-US" sz="1600" dirty="0"/>
          </a:p>
        </p:txBody>
      </p:sp>
      <p:sp>
        <p:nvSpPr>
          <p:cNvPr id="21" name="Shape 19"/>
          <p:cNvSpPr/>
          <p:nvPr/>
        </p:nvSpPr>
        <p:spPr>
          <a:xfrm>
            <a:off x="8445500" y="2476500"/>
            <a:ext cx="3048000" cy="76200"/>
          </a:xfrm>
          <a:prstGeom prst="rect">
            <a:avLst/>
          </a:prstGeom>
          <a:solidFill>
            <a:srgbClr val="D5CFC6"/>
          </a:solidFill>
          <a:ln/>
        </p:spPr>
      </p:sp>
      <p:sp>
        <p:nvSpPr>
          <p:cNvPr id="22" name="Shape 20"/>
          <p:cNvSpPr/>
          <p:nvPr/>
        </p:nvSpPr>
        <p:spPr>
          <a:xfrm>
            <a:off x="8445500" y="2476500"/>
            <a:ext cx="2438400" cy="76200"/>
          </a:xfrm>
          <a:prstGeom prst="rect">
            <a:avLst/>
          </a:prstGeom>
          <a:solidFill>
            <a:srgbClr val="B87333"/>
          </a:solidFill>
          <a:ln/>
        </p:spPr>
      </p:sp>
      <p:sp>
        <p:nvSpPr>
          <p:cNvPr id="23" name="Text 21"/>
          <p:cNvSpPr/>
          <p:nvPr/>
        </p:nvSpPr>
        <p:spPr>
          <a:xfrm>
            <a:off x="8445500" y="2641600"/>
            <a:ext cx="3048000" cy="254000"/>
          </a:xfrm>
          <a:prstGeom prst="rect">
            <a:avLst/>
          </a:prstGeom>
          <a:noFill/>
          <a:ln/>
        </p:spPr>
        <p:txBody>
          <a:bodyPr wrap="none" lIns="0" tIns="0" rIns="0" bIns="0" rtlCol="0" anchor="ctr"/>
          <a:lstStyle/>
          <a:p>
            <a:pPr>
              <a:lnSpc>
                <a:spcPct val="100000"/>
              </a:lnSpc>
            </a:pPr>
            <a:r>
              <a:rPr lang="en-US" sz="1200" dirty="0">
                <a:solidFill>
                  <a:srgbClr val="8A9B8A"/>
                </a:solidFill>
                <a:latin typeface="Quattrocento Sans" pitchFamily="34" charset="0"/>
                <a:ea typeface="Quattrocento Sans" pitchFamily="34" charset="-122"/>
                <a:cs typeface="Quattrocento Sans" pitchFamily="34" charset="-120"/>
              </a:rPr>
              <a:t>Foundation</a:t>
            </a:r>
            <a:endParaRPr lang="en-US" sz="1600" dirty="0"/>
          </a:p>
        </p:txBody>
      </p:sp>
      <p:sp>
        <p:nvSpPr>
          <p:cNvPr id="24" name="Shape 22"/>
          <p:cNvSpPr/>
          <p:nvPr/>
        </p:nvSpPr>
        <p:spPr>
          <a:xfrm>
            <a:off x="12001500" y="1879600"/>
            <a:ext cx="3492500" cy="1143000"/>
          </a:xfrm>
          <a:prstGeom prst="rect">
            <a:avLst/>
          </a:prstGeom>
          <a:solidFill>
            <a:srgbClr val="E8E2D6"/>
          </a:solidFill>
          <a:ln/>
        </p:spPr>
      </p:sp>
      <p:sp>
        <p:nvSpPr>
          <p:cNvPr id="25" name="Text 23"/>
          <p:cNvSpPr/>
          <p:nvPr/>
        </p:nvSpPr>
        <p:spPr>
          <a:xfrm>
            <a:off x="12192000" y="2006600"/>
            <a:ext cx="3111500" cy="381000"/>
          </a:xfrm>
          <a:prstGeom prst="rect">
            <a:avLst/>
          </a:prstGeom>
          <a:noFill/>
          <a:ln/>
        </p:spPr>
        <p:txBody>
          <a:bodyPr wrap="none" lIns="0" tIns="0" rIns="0" bIns="0" rtlCol="0" anchor="ctr"/>
          <a:lstStyle/>
          <a:p>
            <a:pPr>
              <a:lnSpc>
                <a:spcPct val="100000"/>
              </a:lnSpc>
            </a:pPr>
            <a:r>
              <a:rPr lang="en-US" sz="1800" b="1" dirty="0">
                <a:solidFill>
                  <a:srgbClr val="1E3A3A"/>
                </a:solidFill>
                <a:latin typeface="Liter" pitchFamily="34" charset="0"/>
                <a:ea typeface="Liter" pitchFamily="34" charset="-122"/>
                <a:cs typeface="Liter" pitchFamily="34" charset="-120"/>
              </a:rPr>
              <a:t>GROUP BY</a:t>
            </a:r>
            <a:endParaRPr lang="en-US" sz="1600" dirty="0"/>
          </a:p>
        </p:txBody>
      </p:sp>
      <p:sp>
        <p:nvSpPr>
          <p:cNvPr id="26" name="Shape 24"/>
          <p:cNvSpPr/>
          <p:nvPr/>
        </p:nvSpPr>
        <p:spPr>
          <a:xfrm>
            <a:off x="12192000" y="2476500"/>
            <a:ext cx="3111500" cy="76200"/>
          </a:xfrm>
          <a:prstGeom prst="rect">
            <a:avLst/>
          </a:prstGeom>
          <a:solidFill>
            <a:srgbClr val="D5CFC6"/>
          </a:solidFill>
          <a:ln/>
        </p:spPr>
      </p:sp>
      <p:sp>
        <p:nvSpPr>
          <p:cNvPr id="27" name="Shape 25"/>
          <p:cNvSpPr/>
          <p:nvPr/>
        </p:nvSpPr>
        <p:spPr>
          <a:xfrm>
            <a:off x="12192000" y="2476500"/>
            <a:ext cx="1866900" cy="76200"/>
          </a:xfrm>
          <a:prstGeom prst="rect">
            <a:avLst/>
          </a:prstGeom>
          <a:solidFill>
            <a:srgbClr val="8A9B8A"/>
          </a:solidFill>
          <a:ln/>
        </p:spPr>
      </p:sp>
      <p:sp>
        <p:nvSpPr>
          <p:cNvPr id="28" name="Text 26"/>
          <p:cNvSpPr/>
          <p:nvPr/>
        </p:nvSpPr>
        <p:spPr>
          <a:xfrm>
            <a:off x="12192000" y="2641600"/>
            <a:ext cx="3111500" cy="254000"/>
          </a:xfrm>
          <a:prstGeom prst="rect">
            <a:avLst/>
          </a:prstGeom>
          <a:noFill/>
          <a:ln/>
        </p:spPr>
        <p:txBody>
          <a:bodyPr wrap="none" lIns="0" tIns="0" rIns="0" bIns="0" rtlCol="0" anchor="ctr"/>
          <a:lstStyle/>
          <a:p>
            <a:pPr>
              <a:lnSpc>
                <a:spcPct val="100000"/>
              </a:lnSpc>
            </a:pPr>
            <a:r>
              <a:rPr lang="en-US" sz="1200" dirty="0">
                <a:solidFill>
                  <a:srgbClr val="8A9B8A"/>
                </a:solidFill>
                <a:latin typeface="Quattrocento Sans" pitchFamily="34" charset="0"/>
                <a:ea typeface="Quattrocento Sans" pitchFamily="34" charset="-122"/>
                <a:cs typeface="Quattrocento Sans" pitchFamily="34" charset="-120"/>
              </a:rPr>
              <a:t>Intermediate</a:t>
            </a:r>
            <a:endParaRPr lang="en-US" sz="1600" dirty="0"/>
          </a:p>
        </p:txBody>
      </p:sp>
      <p:sp>
        <p:nvSpPr>
          <p:cNvPr id="29" name="Shape 27"/>
          <p:cNvSpPr/>
          <p:nvPr/>
        </p:nvSpPr>
        <p:spPr>
          <a:xfrm>
            <a:off x="762000" y="3340100"/>
            <a:ext cx="3429000" cy="1143000"/>
          </a:xfrm>
          <a:prstGeom prst="rect">
            <a:avLst/>
          </a:prstGeom>
          <a:solidFill>
            <a:srgbClr val="E8E2D6"/>
          </a:solidFill>
          <a:ln/>
        </p:spPr>
      </p:sp>
      <p:sp>
        <p:nvSpPr>
          <p:cNvPr id="30" name="Text 28"/>
          <p:cNvSpPr/>
          <p:nvPr/>
        </p:nvSpPr>
        <p:spPr>
          <a:xfrm>
            <a:off x="952500" y="3467100"/>
            <a:ext cx="3048000" cy="381000"/>
          </a:xfrm>
          <a:prstGeom prst="rect">
            <a:avLst/>
          </a:prstGeom>
          <a:noFill/>
          <a:ln/>
        </p:spPr>
        <p:txBody>
          <a:bodyPr wrap="none" lIns="0" tIns="0" rIns="0" bIns="0" rtlCol="0" anchor="ctr"/>
          <a:lstStyle/>
          <a:p>
            <a:pPr>
              <a:lnSpc>
                <a:spcPct val="100000"/>
              </a:lnSpc>
            </a:pPr>
            <a:r>
              <a:rPr lang="en-US" sz="1800" b="1" dirty="0">
                <a:solidFill>
                  <a:srgbClr val="1E3A3A"/>
                </a:solidFill>
                <a:latin typeface="Liter" pitchFamily="34" charset="0"/>
                <a:ea typeface="Liter" pitchFamily="34" charset="-122"/>
                <a:cs typeface="Liter" pitchFamily="34" charset="-120"/>
              </a:rPr>
              <a:t>HAVING</a:t>
            </a:r>
            <a:endParaRPr lang="en-US" sz="1600" dirty="0"/>
          </a:p>
        </p:txBody>
      </p:sp>
      <p:sp>
        <p:nvSpPr>
          <p:cNvPr id="31" name="Shape 29"/>
          <p:cNvSpPr/>
          <p:nvPr/>
        </p:nvSpPr>
        <p:spPr>
          <a:xfrm>
            <a:off x="952500" y="3937000"/>
            <a:ext cx="3048000" cy="76200"/>
          </a:xfrm>
          <a:prstGeom prst="rect">
            <a:avLst/>
          </a:prstGeom>
          <a:solidFill>
            <a:srgbClr val="D5CFC6"/>
          </a:solidFill>
          <a:ln/>
        </p:spPr>
      </p:sp>
      <p:sp>
        <p:nvSpPr>
          <p:cNvPr id="32" name="Shape 30"/>
          <p:cNvSpPr/>
          <p:nvPr/>
        </p:nvSpPr>
        <p:spPr>
          <a:xfrm>
            <a:off x="952500" y="3937000"/>
            <a:ext cx="1866900" cy="76200"/>
          </a:xfrm>
          <a:prstGeom prst="rect">
            <a:avLst/>
          </a:prstGeom>
          <a:solidFill>
            <a:srgbClr val="8A9B8A"/>
          </a:solidFill>
          <a:ln/>
        </p:spPr>
      </p:sp>
      <p:sp>
        <p:nvSpPr>
          <p:cNvPr id="33" name="Text 31"/>
          <p:cNvSpPr/>
          <p:nvPr/>
        </p:nvSpPr>
        <p:spPr>
          <a:xfrm>
            <a:off x="952500" y="4102100"/>
            <a:ext cx="3048000" cy="254000"/>
          </a:xfrm>
          <a:prstGeom prst="rect">
            <a:avLst/>
          </a:prstGeom>
          <a:noFill/>
          <a:ln/>
        </p:spPr>
        <p:txBody>
          <a:bodyPr wrap="none" lIns="0" tIns="0" rIns="0" bIns="0" rtlCol="0" anchor="ctr"/>
          <a:lstStyle/>
          <a:p>
            <a:pPr>
              <a:lnSpc>
                <a:spcPct val="100000"/>
              </a:lnSpc>
            </a:pPr>
            <a:r>
              <a:rPr lang="en-US" sz="1200" dirty="0">
                <a:solidFill>
                  <a:srgbClr val="8A9B8A"/>
                </a:solidFill>
                <a:latin typeface="Quattrocento Sans" pitchFamily="34" charset="0"/>
                <a:ea typeface="Quattrocento Sans" pitchFamily="34" charset="-122"/>
                <a:cs typeface="Quattrocento Sans" pitchFamily="34" charset="-120"/>
              </a:rPr>
              <a:t>Intermediate</a:t>
            </a:r>
            <a:endParaRPr lang="en-US" sz="1600" dirty="0"/>
          </a:p>
        </p:txBody>
      </p:sp>
      <p:sp>
        <p:nvSpPr>
          <p:cNvPr id="34" name="Shape 32"/>
          <p:cNvSpPr/>
          <p:nvPr/>
        </p:nvSpPr>
        <p:spPr>
          <a:xfrm>
            <a:off x="4508500" y="3340100"/>
            <a:ext cx="3429000" cy="1143000"/>
          </a:xfrm>
          <a:prstGeom prst="rect">
            <a:avLst/>
          </a:prstGeom>
          <a:solidFill>
            <a:srgbClr val="E8E2D6"/>
          </a:solidFill>
          <a:ln/>
        </p:spPr>
      </p:sp>
      <p:sp>
        <p:nvSpPr>
          <p:cNvPr id="35" name="Text 33"/>
          <p:cNvSpPr/>
          <p:nvPr/>
        </p:nvSpPr>
        <p:spPr>
          <a:xfrm>
            <a:off x="4699000" y="3467100"/>
            <a:ext cx="3048000" cy="381000"/>
          </a:xfrm>
          <a:prstGeom prst="rect">
            <a:avLst/>
          </a:prstGeom>
          <a:noFill/>
          <a:ln/>
        </p:spPr>
        <p:txBody>
          <a:bodyPr wrap="none" lIns="0" tIns="0" rIns="0" bIns="0" rtlCol="0" anchor="ctr"/>
          <a:lstStyle/>
          <a:p>
            <a:pPr>
              <a:lnSpc>
                <a:spcPct val="100000"/>
              </a:lnSpc>
            </a:pPr>
            <a:r>
              <a:rPr lang="en-US" sz="1800" b="1" dirty="0">
                <a:solidFill>
                  <a:srgbClr val="1E3A3A"/>
                </a:solidFill>
                <a:latin typeface="Liter" pitchFamily="34" charset="0"/>
                <a:ea typeface="Liter" pitchFamily="34" charset="-122"/>
                <a:cs typeface="Liter" pitchFamily="34" charset="-120"/>
              </a:rPr>
              <a:t>INNER JOIN</a:t>
            </a:r>
            <a:endParaRPr lang="en-US" sz="1600" dirty="0"/>
          </a:p>
        </p:txBody>
      </p:sp>
      <p:sp>
        <p:nvSpPr>
          <p:cNvPr id="36" name="Shape 34"/>
          <p:cNvSpPr/>
          <p:nvPr/>
        </p:nvSpPr>
        <p:spPr>
          <a:xfrm>
            <a:off x="4699000" y="3937000"/>
            <a:ext cx="3048000" cy="76200"/>
          </a:xfrm>
          <a:prstGeom prst="rect">
            <a:avLst/>
          </a:prstGeom>
          <a:solidFill>
            <a:srgbClr val="D5CFC6"/>
          </a:solidFill>
          <a:ln/>
        </p:spPr>
      </p:sp>
      <p:sp>
        <p:nvSpPr>
          <p:cNvPr id="37" name="Shape 35"/>
          <p:cNvSpPr/>
          <p:nvPr/>
        </p:nvSpPr>
        <p:spPr>
          <a:xfrm>
            <a:off x="4699000" y="3937000"/>
            <a:ext cx="1524000" cy="76200"/>
          </a:xfrm>
          <a:prstGeom prst="rect">
            <a:avLst/>
          </a:prstGeom>
          <a:solidFill>
            <a:srgbClr val="6B5B4F"/>
          </a:solidFill>
          <a:ln/>
        </p:spPr>
      </p:sp>
      <p:sp>
        <p:nvSpPr>
          <p:cNvPr id="38" name="Text 36"/>
          <p:cNvSpPr/>
          <p:nvPr/>
        </p:nvSpPr>
        <p:spPr>
          <a:xfrm>
            <a:off x="4699000" y="4102100"/>
            <a:ext cx="3048000" cy="254000"/>
          </a:xfrm>
          <a:prstGeom prst="rect">
            <a:avLst/>
          </a:prstGeom>
          <a:noFill/>
          <a:ln/>
        </p:spPr>
        <p:txBody>
          <a:bodyPr wrap="none" lIns="0" tIns="0" rIns="0" bIns="0" rtlCol="0" anchor="ctr"/>
          <a:lstStyle/>
          <a:p>
            <a:pPr>
              <a:lnSpc>
                <a:spcPct val="100000"/>
              </a:lnSpc>
            </a:pPr>
            <a:r>
              <a:rPr lang="en-US" sz="1200" dirty="0">
                <a:solidFill>
                  <a:srgbClr val="8A9B8A"/>
                </a:solidFill>
                <a:latin typeface="Quattrocento Sans" pitchFamily="34" charset="0"/>
                <a:ea typeface="Quattrocento Sans" pitchFamily="34" charset="-122"/>
                <a:cs typeface="Quattrocento Sans" pitchFamily="34" charset="-120"/>
              </a:rPr>
              <a:t>Advanced</a:t>
            </a:r>
            <a:endParaRPr lang="en-US" sz="1600" dirty="0"/>
          </a:p>
        </p:txBody>
      </p:sp>
      <p:sp>
        <p:nvSpPr>
          <p:cNvPr id="39" name="Shape 37"/>
          <p:cNvSpPr/>
          <p:nvPr/>
        </p:nvSpPr>
        <p:spPr>
          <a:xfrm>
            <a:off x="8255000" y="3340100"/>
            <a:ext cx="3429000" cy="1143000"/>
          </a:xfrm>
          <a:prstGeom prst="rect">
            <a:avLst/>
          </a:prstGeom>
          <a:solidFill>
            <a:srgbClr val="E8E2D6"/>
          </a:solidFill>
          <a:ln/>
        </p:spPr>
      </p:sp>
      <p:sp>
        <p:nvSpPr>
          <p:cNvPr id="40" name="Text 38"/>
          <p:cNvSpPr/>
          <p:nvPr/>
        </p:nvSpPr>
        <p:spPr>
          <a:xfrm>
            <a:off x="8445500" y="3467100"/>
            <a:ext cx="3048000" cy="381000"/>
          </a:xfrm>
          <a:prstGeom prst="rect">
            <a:avLst/>
          </a:prstGeom>
          <a:noFill/>
          <a:ln/>
        </p:spPr>
        <p:txBody>
          <a:bodyPr wrap="none" lIns="0" tIns="0" rIns="0" bIns="0" rtlCol="0" anchor="ctr"/>
          <a:lstStyle/>
          <a:p>
            <a:pPr>
              <a:lnSpc>
                <a:spcPct val="100000"/>
              </a:lnSpc>
            </a:pPr>
            <a:r>
              <a:rPr lang="en-US" sz="1800" b="1" dirty="0">
                <a:solidFill>
                  <a:srgbClr val="1E3A3A"/>
                </a:solidFill>
                <a:latin typeface="Liter" pitchFamily="34" charset="0"/>
                <a:ea typeface="Liter" pitchFamily="34" charset="-122"/>
                <a:cs typeface="Liter" pitchFamily="34" charset="-120"/>
              </a:rPr>
              <a:t>LEFT JOIN</a:t>
            </a:r>
            <a:endParaRPr lang="en-US" sz="1600" dirty="0"/>
          </a:p>
        </p:txBody>
      </p:sp>
      <p:sp>
        <p:nvSpPr>
          <p:cNvPr id="41" name="Shape 39"/>
          <p:cNvSpPr/>
          <p:nvPr/>
        </p:nvSpPr>
        <p:spPr>
          <a:xfrm>
            <a:off x="8445500" y="3937000"/>
            <a:ext cx="3048000" cy="76200"/>
          </a:xfrm>
          <a:prstGeom prst="rect">
            <a:avLst/>
          </a:prstGeom>
          <a:solidFill>
            <a:srgbClr val="D5CFC6"/>
          </a:solidFill>
          <a:ln/>
        </p:spPr>
      </p:sp>
      <p:sp>
        <p:nvSpPr>
          <p:cNvPr id="42" name="Shape 40"/>
          <p:cNvSpPr/>
          <p:nvPr/>
        </p:nvSpPr>
        <p:spPr>
          <a:xfrm>
            <a:off x="8445500" y="3937000"/>
            <a:ext cx="1524000" cy="76200"/>
          </a:xfrm>
          <a:prstGeom prst="rect">
            <a:avLst/>
          </a:prstGeom>
          <a:solidFill>
            <a:srgbClr val="6B5B4F"/>
          </a:solidFill>
          <a:ln/>
        </p:spPr>
      </p:sp>
      <p:sp>
        <p:nvSpPr>
          <p:cNvPr id="43" name="Text 41"/>
          <p:cNvSpPr/>
          <p:nvPr/>
        </p:nvSpPr>
        <p:spPr>
          <a:xfrm>
            <a:off x="8445500" y="4102100"/>
            <a:ext cx="3048000" cy="254000"/>
          </a:xfrm>
          <a:prstGeom prst="rect">
            <a:avLst/>
          </a:prstGeom>
          <a:noFill/>
          <a:ln/>
        </p:spPr>
        <p:txBody>
          <a:bodyPr wrap="none" lIns="0" tIns="0" rIns="0" bIns="0" rtlCol="0" anchor="ctr"/>
          <a:lstStyle/>
          <a:p>
            <a:pPr>
              <a:lnSpc>
                <a:spcPct val="100000"/>
              </a:lnSpc>
            </a:pPr>
            <a:r>
              <a:rPr lang="en-US" sz="1200" dirty="0">
                <a:solidFill>
                  <a:srgbClr val="8A9B8A"/>
                </a:solidFill>
                <a:latin typeface="Quattrocento Sans" pitchFamily="34" charset="0"/>
                <a:ea typeface="Quattrocento Sans" pitchFamily="34" charset="-122"/>
                <a:cs typeface="Quattrocento Sans" pitchFamily="34" charset="-120"/>
              </a:rPr>
              <a:t>Advanced</a:t>
            </a:r>
            <a:endParaRPr lang="en-US" sz="1600" dirty="0"/>
          </a:p>
        </p:txBody>
      </p:sp>
      <p:sp>
        <p:nvSpPr>
          <p:cNvPr id="44" name="Shape 42"/>
          <p:cNvSpPr/>
          <p:nvPr/>
        </p:nvSpPr>
        <p:spPr>
          <a:xfrm>
            <a:off x="12001500" y="3340100"/>
            <a:ext cx="3492500" cy="1143000"/>
          </a:xfrm>
          <a:prstGeom prst="rect">
            <a:avLst/>
          </a:prstGeom>
          <a:solidFill>
            <a:srgbClr val="E8E2D6"/>
          </a:solidFill>
          <a:ln/>
        </p:spPr>
      </p:sp>
      <p:sp>
        <p:nvSpPr>
          <p:cNvPr id="45" name="Text 43"/>
          <p:cNvSpPr/>
          <p:nvPr/>
        </p:nvSpPr>
        <p:spPr>
          <a:xfrm>
            <a:off x="12192000" y="3467100"/>
            <a:ext cx="3111500" cy="381000"/>
          </a:xfrm>
          <a:prstGeom prst="rect">
            <a:avLst/>
          </a:prstGeom>
          <a:noFill/>
          <a:ln/>
        </p:spPr>
        <p:txBody>
          <a:bodyPr wrap="none" lIns="0" tIns="0" rIns="0" bIns="0" rtlCol="0" anchor="ctr"/>
          <a:lstStyle/>
          <a:p>
            <a:pPr>
              <a:lnSpc>
                <a:spcPct val="100000"/>
              </a:lnSpc>
            </a:pPr>
            <a:r>
              <a:rPr lang="en-US" sz="1800" b="1" dirty="0">
                <a:solidFill>
                  <a:srgbClr val="1E3A3A"/>
                </a:solidFill>
                <a:latin typeface="Liter" pitchFamily="34" charset="0"/>
                <a:ea typeface="Liter" pitchFamily="34" charset="-122"/>
                <a:cs typeface="Liter" pitchFamily="34" charset="-120"/>
              </a:rPr>
              <a:t>AGGREGATES</a:t>
            </a:r>
            <a:endParaRPr lang="en-US" sz="1600" dirty="0"/>
          </a:p>
        </p:txBody>
      </p:sp>
      <p:sp>
        <p:nvSpPr>
          <p:cNvPr id="46" name="Shape 44"/>
          <p:cNvSpPr/>
          <p:nvPr/>
        </p:nvSpPr>
        <p:spPr>
          <a:xfrm>
            <a:off x="12192000" y="3937000"/>
            <a:ext cx="3111500" cy="76200"/>
          </a:xfrm>
          <a:prstGeom prst="rect">
            <a:avLst/>
          </a:prstGeom>
          <a:solidFill>
            <a:srgbClr val="D5CFC6"/>
          </a:solidFill>
          <a:ln/>
        </p:spPr>
      </p:sp>
      <p:sp>
        <p:nvSpPr>
          <p:cNvPr id="47" name="Shape 45"/>
          <p:cNvSpPr/>
          <p:nvPr/>
        </p:nvSpPr>
        <p:spPr>
          <a:xfrm>
            <a:off x="12192000" y="3937000"/>
            <a:ext cx="1866900" cy="76200"/>
          </a:xfrm>
          <a:prstGeom prst="rect">
            <a:avLst/>
          </a:prstGeom>
          <a:solidFill>
            <a:srgbClr val="8A9B8A"/>
          </a:solidFill>
          <a:ln/>
        </p:spPr>
      </p:sp>
      <p:sp>
        <p:nvSpPr>
          <p:cNvPr id="48" name="Text 46"/>
          <p:cNvSpPr/>
          <p:nvPr/>
        </p:nvSpPr>
        <p:spPr>
          <a:xfrm>
            <a:off x="12192000" y="4102100"/>
            <a:ext cx="3111500" cy="254000"/>
          </a:xfrm>
          <a:prstGeom prst="rect">
            <a:avLst/>
          </a:prstGeom>
          <a:noFill/>
          <a:ln/>
        </p:spPr>
        <p:txBody>
          <a:bodyPr wrap="none" lIns="0" tIns="0" rIns="0" bIns="0" rtlCol="0" anchor="ctr"/>
          <a:lstStyle/>
          <a:p>
            <a:pPr>
              <a:lnSpc>
                <a:spcPct val="100000"/>
              </a:lnSpc>
            </a:pPr>
            <a:r>
              <a:rPr lang="en-US" sz="1200" dirty="0">
                <a:solidFill>
                  <a:srgbClr val="8A9B8A"/>
                </a:solidFill>
                <a:latin typeface="Quattrocento Sans" pitchFamily="34" charset="0"/>
                <a:ea typeface="Quattrocento Sans" pitchFamily="34" charset="-122"/>
                <a:cs typeface="Quattrocento Sans" pitchFamily="34" charset="-120"/>
              </a:rPr>
              <a:t>Intermediate</a:t>
            </a:r>
            <a:endParaRPr lang="en-US" sz="1600" dirty="0"/>
          </a:p>
        </p:txBody>
      </p:sp>
      <p:sp>
        <p:nvSpPr>
          <p:cNvPr id="49" name="Text 47"/>
          <p:cNvSpPr/>
          <p:nvPr/>
        </p:nvSpPr>
        <p:spPr>
          <a:xfrm>
            <a:off x="762000" y="4953000"/>
            <a:ext cx="5080000" cy="381000"/>
          </a:xfrm>
          <a:prstGeom prst="rect">
            <a:avLst/>
          </a:prstGeom>
          <a:noFill/>
          <a:ln/>
        </p:spPr>
        <p:txBody>
          <a:bodyPr wrap="none" lIns="0" tIns="0" rIns="0" bIns="0" rtlCol="0" anchor="ctr"/>
          <a:lstStyle/>
          <a:p>
            <a:pPr>
              <a:lnSpc>
                <a:spcPct val="100000"/>
              </a:lnSpc>
            </a:pPr>
            <a:r>
              <a:rPr lang="en-US" sz="2200" dirty="0">
                <a:solidFill>
                  <a:srgbClr val="1E3A3A"/>
                </a:solidFill>
                <a:latin typeface="Liter" pitchFamily="34" charset="0"/>
                <a:ea typeface="Liter" pitchFamily="34" charset="-122"/>
                <a:cs typeface="Liter" pitchFamily="34" charset="-120"/>
              </a:rPr>
              <a:t>Concept Distribution</a:t>
            </a:r>
            <a:endParaRPr lang="en-US" sz="2200" dirty="0"/>
          </a:p>
        </p:txBody>
      </p:sp>
      <p:graphicFrame>
        <p:nvGraphicFramePr>
          <p:cNvPr id="50" name="Chart 0" descr=""/>
          <p:cNvGraphicFramePr/>
          <p:nvPr/>
        </p:nvGraphicFramePr>
        <p:xfrm>
          <a:off x="762000" y="5461000"/>
          <a:ext cx="6985000" cy="3048000"/>
        </p:xfrm>
        <a:graphic xmlns:a="http://schemas.openxmlformats.org/drawingml/2006/main">
          <a:graphicData uri="http://schemas.openxmlformats.org/drawingml/2006/chart">
            <c:chart xmlns:c="http://schemas.openxmlformats.org/drawingml/2006/chart" r:id="rId1"/>
          </a:graphicData>
        </a:graphic>
      </p:graphicFrame>
      <p:sp>
        <p:nvSpPr>
          <p:cNvPr id="51" name="Text 48"/>
          <p:cNvSpPr/>
          <p:nvPr/>
        </p:nvSpPr>
        <p:spPr>
          <a:xfrm>
            <a:off x="8382000" y="5461000"/>
            <a:ext cx="7112000" cy="3175000"/>
          </a:xfrm>
          <a:prstGeom prst="rect">
            <a:avLst/>
          </a:prstGeom>
          <a:noFill/>
          <a:ln/>
        </p:spPr>
        <p:txBody>
          <a:bodyPr wrap="square" lIns="0" tIns="0" rIns="0" bIns="0" rtlCol="0" anchor="t"/>
          <a:lstStyle/>
          <a:p>
            <a:pPr>
              <a:lnSpc>
                <a:spcPct val="140000"/>
              </a:lnSpc>
            </a:pPr>
            <a:r>
              <a:rPr lang="en-US" sz="1800" b="1" dirty="0">
                <a:solidFill>
                  <a:srgbClr val="1C1C1C"/>
                </a:solidFill>
                <a:latin typeface="QuattrocentoSans" pitchFamily="34" charset="0"/>
                <a:ea typeface="QuattrocentoSans" pitchFamily="34" charset="-122"/>
                <a:cs typeface="QuattrocentoSans" pitchFamily="34" charset="-120"/>
              </a:rPr>
              <a:t>Query complexity progression:</a:t>
            </a:r>
            <a:endParaRPr lang="en-US" sz="1800" dirty="0"/>
          </a:p>
          <a:p>
            <a:pPr>
              <a:lnSpc>
                <a:spcPct val="140000"/>
              </a:lnSpc>
              <a:spcBef>
                <a:spcPts val="600"/>
              </a:spcBef>
            </a:pPr>
            <a:r>
              <a:rPr lang="en-US" sz="1800" dirty="0">
                <a:solidFill>
                  <a:srgbClr val="B87333"/>
                </a:solidFill>
                <a:latin typeface="QuattrocentoSans" pitchFamily="34" charset="0"/>
                <a:ea typeface="QuattrocentoSans" pitchFamily="34" charset="-122"/>
                <a:cs typeface="QuattrocentoSans" pitchFamily="34" charset="-120"/>
              </a:rPr>
              <a:t>■</a:t>
            </a:r>
            <a:pPr>
              <a:lnSpc>
                <a:spcPct val="140000"/>
              </a:lnSpc>
              <a:spcBef>
                <a:spcPts val="600"/>
              </a:spcBef>
            </a:pPr>
            <a:r>
              <a:rPr lang="en-US" sz="1800" dirty="0">
                <a:solidFill>
                  <a:srgbClr val="1C1C1C"/>
                </a:solidFill>
                <a:latin typeface="QuattrocentoSans" pitchFamily="34" charset="0"/>
                <a:ea typeface="QuattrocentoSans" pitchFamily="34" charset="-122"/>
                <a:cs typeface="QuattrocentoSans" pitchFamily="34" charset="-120"/>
              </a:rPr>
              <a:t> </a:t>
            </a:r>
            <a:pPr>
              <a:lnSpc>
                <a:spcPct val="140000"/>
              </a:lnSpc>
              <a:spcBef>
                <a:spcPts val="600"/>
              </a:spcBef>
            </a:pPr>
            <a:r>
              <a:rPr lang="en-US" sz="1800" b="1" dirty="0">
                <a:solidFill>
                  <a:srgbClr val="1C1C1C"/>
                </a:solidFill>
                <a:latin typeface="QuattrocentoSans" pitchFamily="34" charset="0"/>
                <a:ea typeface="QuattrocentoSans" pitchFamily="34" charset="-122"/>
                <a:cs typeface="QuattrocentoSans" pitchFamily="34" charset="-120"/>
              </a:rPr>
              <a:t>Foundation</a:t>
            </a:r>
            <a:pPr>
              <a:lnSpc>
                <a:spcPct val="140000"/>
              </a:lnSpc>
              <a:spcBef>
                <a:spcPts val="600"/>
              </a:spcBef>
            </a:pPr>
            <a:r>
              <a:rPr lang="en-US" sz="1800" dirty="0">
                <a:solidFill>
                  <a:srgbClr val="1C1C1C"/>
                </a:solidFill>
                <a:latin typeface="QuattrocentoSans" pitchFamily="34" charset="0"/>
                <a:ea typeface="QuattrocentoSans" pitchFamily="34" charset="-122"/>
                <a:cs typeface="QuattrocentoSans" pitchFamily="34" charset="-120"/>
              </a:rPr>
              <a:t> (3) — SELECT, WHERE, ORDER BY form the base of data retrieval</a:t>
            </a:r>
            <a:endParaRPr lang="en-US" sz="1800" dirty="0"/>
          </a:p>
          <a:p>
            <a:pPr>
              <a:lnSpc>
                <a:spcPct val="140000"/>
              </a:lnSpc>
              <a:spcBef>
                <a:spcPts val="600"/>
              </a:spcBef>
            </a:pPr>
            <a:r>
              <a:rPr lang="en-US" sz="1800" dirty="0">
                <a:solidFill>
                  <a:srgbClr val="8A9B8A"/>
                </a:solidFill>
                <a:latin typeface="QuattrocentoSans" pitchFamily="34" charset="0"/>
                <a:ea typeface="QuattrocentoSans" pitchFamily="34" charset="-122"/>
                <a:cs typeface="QuattrocentoSans" pitchFamily="34" charset="-120"/>
              </a:rPr>
              <a:t>■</a:t>
            </a:r>
            <a:pPr>
              <a:lnSpc>
                <a:spcPct val="140000"/>
              </a:lnSpc>
              <a:spcBef>
                <a:spcPts val="600"/>
              </a:spcBef>
            </a:pPr>
            <a:r>
              <a:rPr lang="en-US" sz="1800" dirty="0">
                <a:solidFill>
                  <a:srgbClr val="1C1C1C"/>
                </a:solidFill>
                <a:latin typeface="QuattrocentoSans" pitchFamily="34" charset="0"/>
                <a:ea typeface="QuattrocentoSans" pitchFamily="34" charset="-122"/>
                <a:cs typeface="QuattrocentoSans" pitchFamily="34" charset="-120"/>
              </a:rPr>
              <a:t> </a:t>
            </a:r>
            <a:pPr>
              <a:lnSpc>
                <a:spcPct val="140000"/>
              </a:lnSpc>
              <a:spcBef>
                <a:spcPts val="600"/>
              </a:spcBef>
            </a:pPr>
            <a:r>
              <a:rPr lang="en-US" sz="1800" b="1" dirty="0">
                <a:solidFill>
                  <a:srgbClr val="1C1C1C"/>
                </a:solidFill>
                <a:latin typeface="QuattrocentoSans" pitchFamily="34" charset="0"/>
                <a:ea typeface="QuattrocentoSans" pitchFamily="34" charset="-122"/>
                <a:cs typeface="QuattrocentoSans" pitchFamily="34" charset="-120"/>
              </a:rPr>
              <a:t>Intermediate</a:t>
            </a:r>
            <a:pPr>
              <a:lnSpc>
                <a:spcPct val="140000"/>
              </a:lnSpc>
              <a:spcBef>
                <a:spcPts val="600"/>
              </a:spcBef>
            </a:pPr>
            <a:r>
              <a:rPr lang="en-US" sz="1800" dirty="0">
                <a:solidFill>
                  <a:srgbClr val="1C1C1C"/>
                </a:solidFill>
                <a:latin typeface="QuattrocentoSans" pitchFamily="34" charset="0"/>
                <a:ea typeface="QuattrocentoSans" pitchFamily="34" charset="-122"/>
                <a:cs typeface="QuattrocentoSans" pitchFamily="34" charset="-120"/>
              </a:rPr>
              <a:t> (3) — GROUP BY, HAVING, Aggregates for summary statistics</a:t>
            </a:r>
            <a:endParaRPr lang="en-US" sz="1800" dirty="0"/>
          </a:p>
          <a:p>
            <a:pPr>
              <a:lnSpc>
                <a:spcPct val="140000"/>
              </a:lnSpc>
              <a:spcBef>
                <a:spcPts val="600"/>
              </a:spcBef>
            </a:pPr>
            <a:r>
              <a:rPr lang="en-US" sz="1800" dirty="0">
                <a:solidFill>
                  <a:srgbClr val="6B5B4F"/>
                </a:solidFill>
                <a:latin typeface="QuattrocentoSans" pitchFamily="34" charset="0"/>
                <a:ea typeface="QuattrocentoSans" pitchFamily="34" charset="-122"/>
                <a:cs typeface="QuattrocentoSans" pitchFamily="34" charset="-120"/>
              </a:rPr>
              <a:t>■</a:t>
            </a:r>
            <a:pPr>
              <a:lnSpc>
                <a:spcPct val="140000"/>
              </a:lnSpc>
              <a:spcBef>
                <a:spcPts val="600"/>
              </a:spcBef>
            </a:pPr>
            <a:r>
              <a:rPr lang="en-US" sz="1800" dirty="0">
                <a:solidFill>
                  <a:srgbClr val="1C1C1C"/>
                </a:solidFill>
                <a:latin typeface="QuattrocentoSans" pitchFamily="34" charset="0"/>
                <a:ea typeface="QuattrocentoSans" pitchFamily="34" charset="-122"/>
                <a:cs typeface="QuattrocentoSans" pitchFamily="34" charset="-120"/>
              </a:rPr>
              <a:t> </a:t>
            </a:r>
            <a:pPr>
              <a:lnSpc>
                <a:spcPct val="140000"/>
              </a:lnSpc>
              <a:spcBef>
                <a:spcPts val="600"/>
              </a:spcBef>
            </a:pPr>
            <a:r>
              <a:rPr lang="en-US" sz="1800" b="1" dirty="0">
                <a:solidFill>
                  <a:srgbClr val="1C1C1C"/>
                </a:solidFill>
                <a:latin typeface="QuattrocentoSans" pitchFamily="34" charset="0"/>
                <a:ea typeface="QuattrocentoSans" pitchFamily="34" charset="-122"/>
                <a:cs typeface="QuattrocentoSans" pitchFamily="34" charset="-120"/>
              </a:rPr>
              <a:t>Advanced</a:t>
            </a:r>
            <a:pPr>
              <a:lnSpc>
                <a:spcPct val="140000"/>
              </a:lnSpc>
              <a:spcBef>
                <a:spcPts val="600"/>
              </a:spcBef>
            </a:pPr>
            <a:r>
              <a:rPr lang="en-US" sz="1800" dirty="0">
                <a:solidFill>
                  <a:srgbClr val="1C1C1C"/>
                </a:solidFill>
                <a:latin typeface="QuattrocentoSans" pitchFamily="34" charset="0"/>
                <a:ea typeface="QuattrocentoSans" pitchFamily="34" charset="-122"/>
                <a:cs typeface="QuattrocentoSans" pitchFamily="34" charset="-120"/>
              </a:rPr>
              <a:t> (2) — INNER/LEFT JOIN for multi-table relational analytics</a:t>
            </a:r>
            <a:endParaRPr lang="en-US" sz="1800" dirty="0"/>
          </a:p>
        </p:txBody>
      </p:sp>
      <p:sp>
        <p:nvSpPr>
          <p:cNvPr id="52" name="Text 49"/>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8A9B8A"/>
                </a:solidFill>
                <a:latin typeface="QuattrocentoSans" pitchFamily="34" charset="0"/>
                <a:ea typeface="QuattrocentoSans" pitchFamily="34" charset="-122"/>
                <a:cs typeface="QuattrocentoSans" pitchFamily="34" charset="-120"/>
              </a:rPr>
              <a:t>06</a:t>
            </a:r>
            <a:endParaRPr lang="en-US" sz="12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2B2B"/>
        </a:solidFill>
      </p:bgPr>
    </p:bg>
    <p:spTree>
      <p:nvGrpSpPr>
        <p:cNvPr id="1" name=""/>
        <p:cNvGrpSpPr/>
        <p:nvPr/>
      </p:nvGrpSpPr>
      <p:grpSpPr>
        <a:xfrm>
          <a:off x="0" y="0"/>
          <a:ext cx="0" cy="0"/>
          <a:chOff x="0" y="0"/>
          <a:chExt cx="0" cy="0"/>
        </a:xfrm>
      </p:grpSpPr>
      <p:pic>
        <p:nvPicPr>
          <p:cNvPr id="2" name="Image 0" descr="https://kimi-img.moonshot.cn/pub/slides/okc/k2z4c76ljeume/mnt/agents/output/bookstore_sql/images/7_Programming_Workspace_with_Dual_Monitors.png">    </p:cNvPr>
          <p:cNvPicPr>
            <a:picLocks noChangeAspect="1"/>
          </p:cNvPicPr>
          <p:nvPr/>
        </p:nvPicPr>
        <p:blipFill>
          <a:blip r:embed="rId1">
            <a:alphaModFix amt="15000"/>
          </a:blip>
          <a:srcRect l="0" r="0" t="21875" b="21875"/>
          <a:stretch/>
        </p:blipFill>
        <p:spPr>
          <a:xfrm>
            <a:off x="0" y="0"/>
            <a:ext cx="16256000" cy="9144000"/>
          </a:xfrm>
          <a:prstGeom prst="rect">
            <a:avLst/>
          </a:prstGeom>
        </p:spPr>
      </p:pic>
      <p:sp>
        <p:nvSpPr>
          <p:cNvPr id="3" name="Text 0"/>
          <p:cNvSpPr/>
          <p:nvPr/>
        </p:nvSpPr>
        <p:spPr>
          <a:xfrm>
            <a:off x="762000" y="1778000"/>
            <a:ext cx="5080000" cy="2032000"/>
          </a:xfrm>
          <a:prstGeom prst="rect">
            <a:avLst/>
          </a:prstGeom>
          <a:noFill/>
          <a:ln/>
        </p:spPr>
        <p:txBody>
          <a:bodyPr wrap="none" lIns="0" tIns="0" rIns="0" bIns="0" rtlCol="0" anchor="ctr"/>
          <a:lstStyle/>
          <a:p>
            <a:pPr>
              <a:lnSpc>
                <a:spcPct val="100000"/>
              </a:lnSpc>
            </a:pPr>
            <a:r>
              <a:rPr lang="en-US" sz="12000" dirty="0">
                <a:solidFill>
                  <a:srgbClr val="F2EDE4">
                    <a:alpha val="8235"/>
                  </a:srgbClr>
                </a:solidFill>
                <a:latin typeface="Liter" pitchFamily="34" charset="0"/>
                <a:ea typeface="Liter" pitchFamily="34" charset="-122"/>
                <a:cs typeface="Liter" pitchFamily="34" charset="-120"/>
              </a:rPr>
              <a:t>02</a:t>
            </a:r>
            <a:endParaRPr lang="en-US" sz="12000" dirty="0"/>
          </a:p>
        </p:txBody>
      </p:sp>
      <p:sp>
        <p:nvSpPr>
          <p:cNvPr id="4" name="Shape 1"/>
          <p:cNvSpPr/>
          <p:nvPr/>
        </p:nvSpPr>
        <p:spPr>
          <a:xfrm>
            <a:off x="762000" y="4064000"/>
            <a:ext cx="1016000" cy="50800"/>
          </a:xfrm>
          <a:prstGeom prst="rect">
            <a:avLst/>
          </a:prstGeom>
          <a:solidFill>
            <a:srgbClr val="B87333"/>
          </a:solidFill>
          <a:ln/>
        </p:spPr>
      </p:sp>
      <p:sp>
        <p:nvSpPr>
          <p:cNvPr id="5" name="Text 2"/>
          <p:cNvSpPr/>
          <p:nvPr/>
        </p:nvSpPr>
        <p:spPr>
          <a:xfrm>
            <a:off x="762000" y="4381500"/>
            <a:ext cx="7620000" cy="698500"/>
          </a:xfrm>
          <a:prstGeom prst="rect">
            <a:avLst/>
          </a:prstGeom>
          <a:noFill/>
          <a:ln/>
        </p:spPr>
        <p:txBody>
          <a:bodyPr wrap="none" lIns="0" tIns="0" rIns="0" bIns="0" rtlCol="0" anchor="ctr"/>
          <a:lstStyle/>
          <a:p>
            <a:pPr>
              <a:lnSpc>
                <a:spcPct val="100000"/>
              </a:lnSpc>
            </a:pPr>
            <a:r>
              <a:rPr lang="en-US" sz="3800" spc="200" kern="0" dirty="0">
                <a:solidFill>
                  <a:srgbClr val="F2EDE4"/>
                </a:solidFill>
                <a:latin typeface="Liter" pitchFamily="34" charset="0"/>
                <a:ea typeface="Liter" pitchFamily="34" charset="-122"/>
                <a:cs typeface="Liter" pitchFamily="34" charset="-120"/>
              </a:rPr>
              <a:t>QUERY SOLUTIONS</a:t>
            </a:r>
            <a:endParaRPr lang="en-US" sz="1600" dirty="0"/>
          </a:p>
        </p:txBody>
      </p:sp>
      <p:sp>
        <p:nvSpPr>
          <p:cNvPr id="6" name="Text 3"/>
          <p:cNvSpPr/>
          <p:nvPr/>
        </p:nvSpPr>
        <p:spPr>
          <a:xfrm>
            <a:off x="762000" y="5270500"/>
            <a:ext cx="6350000" cy="355600"/>
          </a:xfrm>
          <a:prstGeom prst="rect">
            <a:avLst/>
          </a:prstGeom>
          <a:noFill/>
          <a:ln/>
        </p:spPr>
        <p:txBody>
          <a:bodyPr wrap="none" lIns="0" tIns="0" rIns="0" bIns="0" rtlCol="0" anchor="ctr"/>
          <a:lstStyle/>
          <a:p>
            <a:pPr>
              <a:lnSpc>
                <a:spcPct val="100000"/>
              </a:lnSpc>
            </a:pPr>
            <a:r>
              <a:rPr lang="en-US" sz="1800" dirty="0">
                <a:solidFill>
                  <a:srgbClr val="8A9B8A"/>
                </a:solidFill>
                <a:latin typeface="Quattrocento Sans" pitchFamily="34" charset="0"/>
                <a:ea typeface="Quattrocento Sans" pitchFamily="34" charset="-122"/>
                <a:cs typeface="Quattrocento Sans" pitchFamily="34" charset="-120"/>
              </a:rPr>
              <a:t>20+ SQL queries across three complexity tiers</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DE4"/>
        </a:solidFill>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E3A3A"/>
          </a:solidFill>
          <a:ln/>
        </p:spPr>
      </p:sp>
      <p:sp>
        <p:nvSpPr>
          <p:cNvPr id="3" name="Text 1"/>
          <p:cNvSpPr/>
          <p:nvPr/>
        </p:nvSpPr>
        <p:spPr>
          <a:xfrm>
            <a:off x="0" y="0"/>
            <a:ext cx="5422900" cy="558800"/>
          </a:xfrm>
          <a:prstGeom prst="rect">
            <a:avLst/>
          </a:prstGeom>
          <a:noFill/>
          <a:ln/>
        </p:spPr>
        <p:txBody>
          <a:bodyPr wrap="none" lIns="0" tIns="0" rIns="0" bIns="0" rtlCol="0" anchor="ctr"/>
          <a:lstStyle/>
          <a:p>
            <a:pPr algn="ctr">
              <a:lnSpc>
                <a:spcPct val="100000"/>
              </a:lnSpc>
            </a:pPr>
            <a:r>
              <a:rPr lang="en-US" sz="1200" spc="100" kern="0" dirty="0">
                <a:solidFill>
                  <a:srgbClr val="8A9B8A"/>
                </a:solidFill>
                <a:latin typeface="QuattrocentoSans" pitchFamily="34" charset="0"/>
                <a:ea typeface="QuattrocentoSans" pitchFamily="34" charset="-122"/>
                <a:cs typeface="QuattrocentoSans" pitchFamily="34" charset="-120"/>
              </a:rPr>
              <a:t>PROJECT OVERVIEW</a:t>
            </a:r>
            <a:endParaRPr lang="en-US" sz="1200" dirty="0"/>
          </a:p>
        </p:txBody>
      </p:sp>
      <p:sp>
        <p:nvSpPr>
          <p:cNvPr id="4" name="Text 2"/>
          <p:cNvSpPr/>
          <p:nvPr/>
        </p:nvSpPr>
        <p:spPr>
          <a:xfrm>
            <a:off x="5422900" y="0"/>
            <a:ext cx="5410200" cy="558800"/>
          </a:xfrm>
          <a:prstGeom prst="rect">
            <a:avLst/>
          </a:prstGeom>
          <a:noFill/>
          <a:ln/>
        </p:spPr>
        <p:txBody>
          <a:bodyPr wrap="none" lIns="0" tIns="0" rIns="0" bIns="0" rtlCol="0" anchor="ctr"/>
          <a:lstStyle/>
          <a:p>
            <a:pPr algn="ctr">
              <a:lnSpc>
                <a:spcPct val="100000"/>
              </a:lnSpc>
            </a:pPr>
            <a:r>
              <a:rPr lang="en-US" sz="1200" b="1" spc="100" kern="0" dirty="0">
                <a:solidFill>
                  <a:srgbClr val="F2EDE4"/>
                </a:solidFill>
                <a:latin typeface="QuattrocentoSans" pitchFamily="34" charset="0"/>
                <a:ea typeface="QuattrocentoSans" pitchFamily="34" charset="-122"/>
                <a:cs typeface="QuattrocentoSans" pitchFamily="34" charset="-120"/>
              </a:rPr>
              <a:t>QUERY SOLUTIONS</a:t>
            </a:r>
            <a:endParaRPr lang="en-US" sz="1200" dirty="0"/>
          </a:p>
        </p:txBody>
      </p:sp>
      <p:sp>
        <p:nvSpPr>
          <p:cNvPr id="5" name="Shape 3"/>
          <p:cNvSpPr/>
          <p:nvPr/>
        </p:nvSpPr>
        <p:spPr>
          <a:xfrm>
            <a:off x="6946900" y="558800"/>
            <a:ext cx="2374900" cy="50800"/>
          </a:xfrm>
          <a:prstGeom prst="rect">
            <a:avLst/>
          </a:prstGeom>
          <a:solidFill>
            <a:srgbClr val="B87333"/>
          </a:solidFill>
          <a:ln/>
        </p:spPr>
      </p:sp>
      <p:sp>
        <p:nvSpPr>
          <p:cNvPr id="6" name="Text 4"/>
          <p:cNvSpPr/>
          <p:nvPr/>
        </p:nvSpPr>
        <p:spPr>
          <a:xfrm>
            <a:off x="10833100" y="0"/>
            <a:ext cx="5422900" cy="558800"/>
          </a:xfrm>
          <a:prstGeom prst="rect">
            <a:avLst/>
          </a:prstGeom>
          <a:noFill/>
          <a:ln/>
        </p:spPr>
        <p:txBody>
          <a:bodyPr wrap="none" lIns="0" tIns="0" rIns="0" bIns="0" rtlCol="0" anchor="ctr"/>
          <a:lstStyle/>
          <a:p>
            <a:pPr algn="ctr">
              <a:lnSpc>
                <a:spcPct val="100000"/>
              </a:lnSpc>
            </a:pPr>
            <a:r>
              <a:rPr lang="en-US" sz="1200" spc="100" kern="0" dirty="0">
                <a:solidFill>
                  <a:srgbClr val="8A9B8A"/>
                </a:solidFill>
                <a:latin typeface="QuattrocentoSans" pitchFamily="34" charset="0"/>
                <a:ea typeface="QuattrocentoSans" pitchFamily="34" charset="-122"/>
                <a:cs typeface="QuattrocentoSans" pitchFamily="34" charset="-120"/>
              </a:rPr>
              <a:t>ANALYTICS &amp; INSIGHTS</a:t>
            </a:r>
            <a:endParaRPr lang="en-US" sz="1200" dirty="0"/>
          </a:p>
        </p:txBody>
      </p:sp>
      <p:sp>
        <p:nvSpPr>
          <p:cNvPr id="7" name="Text 5"/>
          <p:cNvSpPr/>
          <p:nvPr/>
        </p:nvSpPr>
        <p:spPr>
          <a:xfrm>
            <a:off x="762000" y="914400"/>
            <a:ext cx="7620000" cy="508000"/>
          </a:xfrm>
          <a:prstGeom prst="rect">
            <a:avLst/>
          </a:prstGeom>
          <a:noFill/>
          <a:ln/>
        </p:spPr>
        <p:txBody>
          <a:bodyPr wrap="none" lIns="0" tIns="0" rIns="0" bIns="0" rtlCol="0" anchor="ctr"/>
          <a:lstStyle/>
          <a:p>
            <a:pPr>
              <a:lnSpc>
                <a:spcPct val="100000"/>
              </a:lnSpc>
            </a:pPr>
            <a:r>
              <a:rPr lang="en-US" sz="2800" dirty="0">
                <a:solidFill>
                  <a:srgbClr val="1E3A3A"/>
                </a:solidFill>
                <a:latin typeface="Liter" pitchFamily="34" charset="0"/>
                <a:ea typeface="Liter" pitchFamily="34" charset="-122"/>
                <a:cs typeface="Liter" pitchFamily="34" charset="-120"/>
              </a:rPr>
              <a:t>Part 1 — Basic Queries</a:t>
            </a:r>
            <a:endParaRPr lang="en-US" sz="2800" dirty="0"/>
          </a:p>
        </p:txBody>
      </p:sp>
      <p:sp>
        <p:nvSpPr>
          <p:cNvPr id="8" name="Shape 6"/>
          <p:cNvSpPr/>
          <p:nvPr/>
        </p:nvSpPr>
        <p:spPr>
          <a:xfrm>
            <a:off x="762000" y="1498600"/>
            <a:ext cx="762000" cy="38100"/>
          </a:xfrm>
          <a:prstGeom prst="rect">
            <a:avLst/>
          </a:prstGeom>
          <a:solidFill>
            <a:srgbClr val="B87333"/>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62000" y="1778000"/>
          <a:ext cx="14732000" cy="4826000"/>
        </p:xfrm>
        <a:graphic>
          <a:graphicData uri="http://schemas.openxmlformats.org/drawingml/2006/table">
            <a:tbl>
              <a:tblPr/>
              <a:tblGrid>
                <a:gridCol w="736600"/>
                <a:gridCol w="5156200"/>
                <a:gridCol w="5156200"/>
                <a:gridCol w="3683000"/>
              </a:tblGrid>
              <a:tr h="678456">
                <a:tc>
                  <a:txBody>
                    <a:bodyPr/>
                    <a:lstStyle/>
                    <a:p>
                      <a:pPr algn="l"/>
                      <a:r>
                        <a:rPr lang="en-US" sz="1400" b="1" u="none" dirty="0">
                          <a:solidFill>
                            <a:srgbClr val="F2EDE4"/>
                          </a:solidFill>
                          <a:latin typeface="QuattrocentoSans" pitchFamily="34" charset="0"/>
                          <a:ea typeface="QuattrocentoSans" pitchFamily="34" charset="-122"/>
                          <a:cs typeface="QuattrocentoSans" pitchFamily="34" charset="-120"/>
                        </a:rPr>
                        <a: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1E3A3A"/>
                    </a:solidFill>
                  </a:tcPr>
                </a:tc>
                <a:tc>
                  <a:txBody>
                    <a:bodyPr/>
                    <a:lstStyle/>
                    <a:p>
                      <a:pPr algn="l"/>
                      <a:r>
                        <a:rPr lang="en-US" sz="1400" b="1" u="none" dirty="0">
                          <a:solidFill>
                            <a:srgbClr val="F2EDE4"/>
                          </a:solidFill>
                          <a:latin typeface="QuattrocentoSans" pitchFamily="34" charset="0"/>
                          <a:ea typeface="QuattrocentoSans" pitchFamily="34" charset="-122"/>
                          <a:cs typeface="QuattrocentoSans" pitchFamily="34" charset="-120"/>
                        </a:rPr>
                        <a:t>Query Description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1E3A3A"/>
                    </a:solidFill>
                  </a:tcPr>
                </a:tc>
                <a:tc>
                  <a:txBody>
                    <a:bodyPr/>
                    <a:lstStyle/>
                    <a:p>
                      <a:pPr algn="l"/>
                      <a:r>
                        <a:rPr lang="en-US" sz="1400" b="1" u="none" dirty="0">
                          <a:solidFill>
                            <a:srgbClr val="F2EDE4"/>
                          </a:solidFill>
                          <a:latin typeface="QuattrocentoSans" pitchFamily="34" charset="0"/>
                          <a:ea typeface="QuattrocentoSans" pitchFamily="34" charset="-122"/>
                          <a:cs typeface="QuattrocentoSans" pitchFamily="34" charset="-120"/>
                        </a:rPr>
                        <a:t>SQL Concept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1E3A3A"/>
                    </a:solidFill>
                  </a:tcPr>
                </a:tc>
                <a:tc>
                  <a:txBody>
                    <a:bodyPr/>
                    <a:lstStyle/>
                    <a:p>
                      <a:pPr algn="l"/>
                      <a:r>
                        <a:rPr lang="en-US" sz="1400" b="1" u="none" dirty="0">
                          <a:solidFill>
                            <a:srgbClr val="F2EDE4"/>
                          </a:solidFill>
                          <a:latin typeface="QuattrocentoSans" pitchFamily="34" charset="0"/>
                          <a:ea typeface="QuattrocentoSans" pitchFamily="34" charset="-122"/>
                          <a:cs typeface="QuattrocentoSans" pitchFamily="34" charset="-120"/>
                        </a:rPr>
                        <a:t>Result Type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1E3A3A"/>
                    </a:solidFill>
                  </a:tcPr>
                </a:tc>
              </a:tr>
              <a:tr h="691257">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1</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List all fiction books in inventory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SELECT + WHERE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Filtered list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r>
              <a:tr h="691257">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2</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Find books published after 1950</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SELECT + WHERE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Filtered list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r>
              <a:tr h="691257">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3</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Get all customers from Canada</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SELECT + WHERE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Filtered list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r>
              <a:tr h="691257">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4</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Retrieve orders placed in Nov 2023</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SELECT + WHERE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Date-filtered list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r>
              <a:tr h="691257">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5</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Calculate total stock of all books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SUM aggregate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Single value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r>
              <a:tr h="691257">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6</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Identify the most expensive book</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MAX + ORDER BY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Single record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r>
            </a:tbl>
          </a:graphicData>
        </a:graphic>
      </p:graphicFrame>
      <p:sp>
        <p:nvSpPr>
          <p:cNvPr id="10" name="Shape 7"/>
          <p:cNvSpPr/>
          <p:nvPr/>
        </p:nvSpPr>
        <p:spPr>
          <a:xfrm>
            <a:off x="762000" y="6921500"/>
            <a:ext cx="14732000" cy="1587500"/>
          </a:xfrm>
          <a:prstGeom prst="rect">
            <a:avLst/>
          </a:prstGeom>
          <a:solidFill>
            <a:srgbClr val="E8E2D6"/>
          </a:solidFill>
          <a:ln/>
        </p:spPr>
      </p:sp>
      <p:sp>
        <p:nvSpPr>
          <p:cNvPr id="11" name="Shape 8"/>
          <p:cNvSpPr/>
          <p:nvPr/>
        </p:nvSpPr>
        <p:spPr>
          <a:xfrm>
            <a:off x="762000" y="6921500"/>
            <a:ext cx="63500" cy="1587500"/>
          </a:xfrm>
          <a:prstGeom prst="rect">
            <a:avLst/>
          </a:prstGeom>
          <a:solidFill>
            <a:srgbClr val="B87333"/>
          </a:solidFill>
          <a:ln/>
        </p:spPr>
      </p:sp>
      <p:sp>
        <p:nvSpPr>
          <p:cNvPr id="12" name="Text 9"/>
          <p:cNvSpPr/>
          <p:nvPr/>
        </p:nvSpPr>
        <p:spPr>
          <a:xfrm>
            <a:off x="1079500" y="7048500"/>
            <a:ext cx="2540000" cy="330200"/>
          </a:xfrm>
          <a:prstGeom prst="rect">
            <a:avLst/>
          </a:prstGeom>
          <a:noFill/>
          <a:ln/>
        </p:spPr>
        <p:txBody>
          <a:bodyPr wrap="none" lIns="0" tIns="0" rIns="0" bIns="0" rtlCol="0" anchor="ctr"/>
          <a:lstStyle/>
          <a:p>
            <a:pPr>
              <a:lnSpc>
                <a:spcPct val="100000"/>
              </a:lnSpc>
            </a:pPr>
            <a:r>
              <a:rPr lang="en-US" sz="1600" b="1" dirty="0">
                <a:solidFill>
                  <a:srgbClr val="B87333"/>
                </a:solidFill>
                <a:latin typeface="Liter" pitchFamily="34" charset="0"/>
                <a:ea typeface="Liter" pitchFamily="34" charset="-122"/>
                <a:cs typeface="Liter" pitchFamily="34" charset="-120"/>
              </a:rPr>
              <a:t>Key Insight</a:t>
            </a:r>
            <a:endParaRPr lang="en-US" sz="1600" dirty="0"/>
          </a:p>
        </p:txBody>
      </p:sp>
      <p:sp>
        <p:nvSpPr>
          <p:cNvPr id="13" name="Text 10"/>
          <p:cNvSpPr/>
          <p:nvPr/>
        </p:nvSpPr>
        <p:spPr>
          <a:xfrm>
            <a:off x="1079500" y="7429500"/>
            <a:ext cx="14097000" cy="952500"/>
          </a:xfrm>
          <a:prstGeom prst="rect">
            <a:avLst/>
          </a:prstGeom>
          <a:noFill/>
          <a:ln/>
        </p:spPr>
        <p:txBody>
          <a:bodyPr wrap="square" lIns="0" tIns="0" rIns="0" bIns="0" rtlCol="0" anchor="t"/>
          <a:lstStyle/>
          <a:p>
            <a:pPr>
              <a:lnSpc>
                <a:spcPct val="160000"/>
              </a:lnSpc>
            </a:pPr>
            <a:r>
              <a:rPr lang="en-US" sz="1600" dirty="0">
                <a:solidFill>
                  <a:srgbClr val="1C1C1C"/>
                </a:solidFill>
                <a:latin typeface="QuattrocentoSans" pitchFamily="34" charset="0"/>
                <a:ea typeface="QuattrocentoSans" pitchFamily="34" charset="-122"/>
                <a:cs typeface="QuattrocentoSans" pitchFamily="34" charset="-120"/>
              </a:rPr>
              <a:t>These foundational queries demonstrate core data retrieval patterns — filtering with WHERE, sorting with ORDER BY, and basic aggregation with SUM and MAX. They form the building blocks for all subsequent complex analysis.</a:t>
            </a:r>
            <a:endParaRPr lang="en-US" sz="1800" dirty="0"/>
          </a:p>
        </p:txBody>
      </p:sp>
      <p:sp>
        <p:nvSpPr>
          <p:cNvPr id="14" name="Text 11"/>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8A9B8A"/>
                </a:solidFill>
                <a:latin typeface="QuattrocentoSans" pitchFamily="34" charset="0"/>
                <a:ea typeface="QuattrocentoSans" pitchFamily="34" charset="-122"/>
                <a:cs typeface="QuattrocentoSans" pitchFamily="34" charset="-120"/>
              </a:rPr>
              <a:t>08</a:t>
            </a:r>
            <a:endParaRPr lang="en-US" sz="12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EDE4"/>
        </a:solidFill>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E3A3A"/>
          </a:solidFill>
          <a:ln/>
        </p:spPr>
      </p:sp>
      <p:sp>
        <p:nvSpPr>
          <p:cNvPr id="3" name="Text 1"/>
          <p:cNvSpPr/>
          <p:nvPr/>
        </p:nvSpPr>
        <p:spPr>
          <a:xfrm>
            <a:off x="0" y="0"/>
            <a:ext cx="5422900" cy="558800"/>
          </a:xfrm>
          <a:prstGeom prst="rect">
            <a:avLst/>
          </a:prstGeom>
          <a:noFill/>
          <a:ln/>
        </p:spPr>
        <p:txBody>
          <a:bodyPr wrap="none" lIns="0" tIns="0" rIns="0" bIns="0" rtlCol="0" anchor="ctr"/>
          <a:lstStyle/>
          <a:p>
            <a:pPr algn="ctr">
              <a:lnSpc>
                <a:spcPct val="100000"/>
              </a:lnSpc>
            </a:pPr>
            <a:r>
              <a:rPr lang="en-US" sz="1200" spc="100" kern="0" dirty="0">
                <a:solidFill>
                  <a:srgbClr val="8A9B8A"/>
                </a:solidFill>
                <a:latin typeface="QuattrocentoSans" pitchFamily="34" charset="0"/>
                <a:ea typeface="QuattrocentoSans" pitchFamily="34" charset="-122"/>
                <a:cs typeface="QuattrocentoSans" pitchFamily="34" charset="-120"/>
              </a:rPr>
              <a:t>PROJECT OVERVIEW</a:t>
            </a:r>
            <a:endParaRPr lang="en-US" sz="1200" dirty="0"/>
          </a:p>
        </p:txBody>
      </p:sp>
      <p:sp>
        <p:nvSpPr>
          <p:cNvPr id="4" name="Text 2"/>
          <p:cNvSpPr/>
          <p:nvPr/>
        </p:nvSpPr>
        <p:spPr>
          <a:xfrm>
            <a:off x="5422900" y="0"/>
            <a:ext cx="5410200" cy="558800"/>
          </a:xfrm>
          <a:prstGeom prst="rect">
            <a:avLst/>
          </a:prstGeom>
          <a:noFill/>
          <a:ln/>
        </p:spPr>
        <p:txBody>
          <a:bodyPr wrap="none" lIns="0" tIns="0" rIns="0" bIns="0" rtlCol="0" anchor="ctr"/>
          <a:lstStyle/>
          <a:p>
            <a:pPr algn="ctr">
              <a:lnSpc>
                <a:spcPct val="100000"/>
              </a:lnSpc>
            </a:pPr>
            <a:r>
              <a:rPr lang="en-US" sz="1200" b="1" spc="100" kern="0" dirty="0">
                <a:solidFill>
                  <a:srgbClr val="F2EDE4"/>
                </a:solidFill>
                <a:latin typeface="QuattrocentoSans" pitchFamily="34" charset="0"/>
                <a:ea typeface="QuattrocentoSans" pitchFamily="34" charset="-122"/>
                <a:cs typeface="QuattrocentoSans" pitchFamily="34" charset="-120"/>
              </a:rPr>
              <a:t>QUERY SOLUTIONS</a:t>
            </a:r>
            <a:endParaRPr lang="en-US" sz="1200" dirty="0"/>
          </a:p>
        </p:txBody>
      </p:sp>
      <p:sp>
        <p:nvSpPr>
          <p:cNvPr id="5" name="Shape 3"/>
          <p:cNvSpPr/>
          <p:nvPr/>
        </p:nvSpPr>
        <p:spPr>
          <a:xfrm>
            <a:off x="6946900" y="558800"/>
            <a:ext cx="2374900" cy="50800"/>
          </a:xfrm>
          <a:prstGeom prst="rect">
            <a:avLst/>
          </a:prstGeom>
          <a:solidFill>
            <a:srgbClr val="B87333"/>
          </a:solidFill>
          <a:ln/>
        </p:spPr>
      </p:sp>
      <p:sp>
        <p:nvSpPr>
          <p:cNvPr id="6" name="Text 4"/>
          <p:cNvSpPr/>
          <p:nvPr/>
        </p:nvSpPr>
        <p:spPr>
          <a:xfrm>
            <a:off x="10833100" y="0"/>
            <a:ext cx="5422900" cy="558800"/>
          </a:xfrm>
          <a:prstGeom prst="rect">
            <a:avLst/>
          </a:prstGeom>
          <a:noFill/>
          <a:ln/>
        </p:spPr>
        <p:txBody>
          <a:bodyPr wrap="none" lIns="0" tIns="0" rIns="0" bIns="0" rtlCol="0" anchor="ctr"/>
          <a:lstStyle/>
          <a:p>
            <a:pPr algn="ctr">
              <a:lnSpc>
                <a:spcPct val="100000"/>
              </a:lnSpc>
            </a:pPr>
            <a:r>
              <a:rPr lang="en-US" sz="1200" spc="100" kern="0" dirty="0">
                <a:solidFill>
                  <a:srgbClr val="8A9B8A"/>
                </a:solidFill>
                <a:latin typeface="QuattrocentoSans" pitchFamily="34" charset="0"/>
                <a:ea typeface="QuattrocentoSans" pitchFamily="34" charset="-122"/>
                <a:cs typeface="QuattrocentoSans" pitchFamily="34" charset="-120"/>
              </a:rPr>
              <a:t>ANALYTICS &amp; INSIGHTS</a:t>
            </a:r>
            <a:endParaRPr lang="en-US" sz="1200" dirty="0"/>
          </a:p>
        </p:txBody>
      </p:sp>
      <p:sp>
        <p:nvSpPr>
          <p:cNvPr id="7" name="Text 5"/>
          <p:cNvSpPr/>
          <p:nvPr/>
        </p:nvSpPr>
        <p:spPr>
          <a:xfrm>
            <a:off x="762000" y="914400"/>
            <a:ext cx="7620000" cy="508000"/>
          </a:xfrm>
          <a:prstGeom prst="rect">
            <a:avLst/>
          </a:prstGeom>
          <a:noFill/>
          <a:ln/>
        </p:spPr>
        <p:txBody>
          <a:bodyPr wrap="none" lIns="0" tIns="0" rIns="0" bIns="0" rtlCol="0" anchor="ctr"/>
          <a:lstStyle/>
          <a:p>
            <a:pPr>
              <a:lnSpc>
                <a:spcPct val="100000"/>
              </a:lnSpc>
            </a:pPr>
            <a:r>
              <a:rPr lang="en-US" sz="2800" dirty="0">
                <a:solidFill>
                  <a:srgbClr val="1E3A3A"/>
                </a:solidFill>
                <a:latin typeface="Liter" pitchFamily="34" charset="0"/>
                <a:ea typeface="Liter" pitchFamily="34" charset="-122"/>
                <a:cs typeface="Liter" pitchFamily="34" charset="-120"/>
              </a:rPr>
              <a:t>Part 2 — Intermediate Queries</a:t>
            </a:r>
            <a:endParaRPr lang="en-US" sz="2800" dirty="0"/>
          </a:p>
        </p:txBody>
      </p:sp>
      <p:sp>
        <p:nvSpPr>
          <p:cNvPr id="8" name="Shape 6"/>
          <p:cNvSpPr/>
          <p:nvPr/>
        </p:nvSpPr>
        <p:spPr>
          <a:xfrm>
            <a:off x="762000" y="1498600"/>
            <a:ext cx="762000" cy="38100"/>
          </a:xfrm>
          <a:prstGeom prst="rect">
            <a:avLst/>
          </a:prstGeom>
          <a:solidFill>
            <a:srgbClr val="B87333"/>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62000" y="1778000"/>
          <a:ext cx="14732000" cy="3048000"/>
        </p:xfrm>
        <a:graphic>
          <a:graphicData uri="http://schemas.openxmlformats.org/drawingml/2006/table">
            <a:tbl>
              <a:tblPr/>
              <a:tblGrid>
                <a:gridCol w="736600"/>
                <a:gridCol w="5892800"/>
                <a:gridCol w="4419600"/>
                <a:gridCol w="3683000"/>
              </a:tblGrid>
              <a:tr h="609600">
                <a:tc>
                  <a:txBody>
                    <a:bodyPr/>
                    <a:lstStyle/>
                    <a:p>
                      <a:pPr algn="l"/>
                      <a:r>
                        <a:rPr lang="en-US" sz="1400" b="1" u="none" dirty="0">
                          <a:solidFill>
                            <a:srgbClr val="F2EDE4"/>
                          </a:solidFill>
                          <a:latin typeface="QuattrocentoSans" pitchFamily="34" charset="0"/>
                          <a:ea typeface="QuattrocentoSans" pitchFamily="34" charset="-122"/>
                          <a:cs typeface="QuattrocentoSans" pitchFamily="34" charset="-120"/>
                        </a:rPr>
                        <a: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1E3A3A"/>
                    </a:solidFill>
                  </a:tcPr>
                </a:tc>
                <a:tc>
                  <a:txBody>
                    <a:bodyPr/>
                    <a:lstStyle/>
                    <a:p>
                      <a:pPr algn="l"/>
                      <a:r>
                        <a:rPr lang="en-US" sz="1400" b="1" u="none" dirty="0">
                          <a:solidFill>
                            <a:srgbClr val="F2EDE4"/>
                          </a:solidFill>
                          <a:latin typeface="QuattrocentoSans" pitchFamily="34" charset="0"/>
                          <a:ea typeface="QuattrocentoSans" pitchFamily="34" charset="-122"/>
                          <a:cs typeface="QuattrocentoSans" pitchFamily="34" charset="-120"/>
                        </a:rPr>
                        <a:t>Query Description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1E3A3A"/>
                    </a:solidFill>
                  </a:tcPr>
                </a:tc>
                <a:tc>
                  <a:txBody>
                    <a:bodyPr/>
                    <a:lstStyle/>
                    <a:p>
                      <a:pPr algn="l"/>
                      <a:r>
                        <a:rPr lang="en-US" sz="1400" b="1" u="none" dirty="0">
                          <a:solidFill>
                            <a:srgbClr val="F2EDE4"/>
                          </a:solidFill>
                          <a:latin typeface="QuattrocentoSans" pitchFamily="34" charset="0"/>
                          <a:ea typeface="QuattrocentoSans" pitchFamily="34" charset="-122"/>
                          <a:cs typeface="QuattrocentoSans" pitchFamily="34" charset="-120"/>
                        </a:rPr>
                        <a:t>SQL Concept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1E3A3A"/>
                    </a:solidFill>
                  </a:tcPr>
                </a:tc>
                <a:tc>
                  <a:txBody>
                    <a:bodyPr/>
                    <a:lstStyle/>
                    <a:p>
                      <a:pPr algn="l"/>
                      <a:r>
                        <a:rPr lang="en-US" sz="1400" b="1" u="none" dirty="0">
                          <a:solidFill>
                            <a:srgbClr val="F2EDE4"/>
                          </a:solidFill>
                          <a:latin typeface="QuattrocentoSans" pitchFamily="34" charset="0"/>
                          <a:ea typeface="QuattrocentoSans" pitchFamily="34" charset="-122"/>
                          <a:cs typeface="QuattrocentoSans" pitchFamily="34" charset="-120"/>
                        </a:rPr>
                        <a:t>Result Type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1E3A3A"/>
                    </a:solidFill>
                  </a:tcPr>
                </a:tc>
              </a:tr>
              <a:tr h="609600">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7</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Calculate total revenue from all orders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SUM + JOIN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Aggregated value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r>
              <a:tr h="609600">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8</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Find average price of fantasy books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AVG + WHERE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Aggregated value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r>
              <a:tr h="609600">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9</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List top-rated fantasy books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SELECT + ORDER BY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Ranked list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r>
              <a:tr h="609600">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10</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Find customers who ordered &gt;1 quantity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JOIN + HAVING</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Filtered group</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r>
            </a:tbl>
          </a:graphicData>
        </a:graphic>
      </p:graphicFrame>
      <p:sp>
        <p:nvSpPr>
          <p:cNvPr id="10" name="Text 7"/>
          <p:cNvSpPr/>
          <p:nvPr/>
        </p:nvSpPr>
        <p:spPr>
          <a:xfrm>
            <a:off x="762000" y="5143500"/>
            <a:ext cx="5080000" cy="355600"/>
          </a:xfrm>
          <a:prstGeom prst="rect">
            <a:avLst/>
          </a:prstGeom>
          <a:noFill/>
          <a:ln/>
        </p:spPr>
        <p:txBody>
          <a:bodyPr wrap="none" lIns="0" tIns="0" rIns="0" bIns="0" rtlCol="0" anchor="ctr"/>
          <a:lstStyle/>
          <a:p>
            <a:pPr>
              <a:lnSpc>
                <a:spcPct val="100000"/>
              </a:lnSpc>
            </a:pPr>
            <a:r>
              <a:rPr lang="en-US" sz="2200" dirty="0">
                <a:solidFill>
                  <a:srgbClr val="1E3A3A"/>
                </a:solidFill>
                <a:latin typeface="Liter" pitchFamily="34" charset="0"/>
                <a:ea typeface="Liter" pitchFamily="34" charset="-122"/>
                <a:cs typeface="Liter" pitchFamily="34" charset="-120"/>
              </a:rPr>
              <a:t>Query Complexity Breakdown</a:t>
            </a:r>
            <a:endParaRPr lang="en-US" sz="2200" dirty="0"/>
          </a:p>
        </p:txBody>
      </p:sp>
      <p:graphicFrame>
        <p:nvGraphicFramePr>
          <p:cNvPr id="11" name="Chart 0" descr=""/>
          <p:cNvGraphicFramePr/>
          <p:nvPr/>
        </p:nvGraphicFramePr>
        <p:xfrm>
          <a:off x="762000" y="5588000"/>
          <a:ext cx="6858000" cy="2921000"/>
        </p:xfrm>
        <a:graphic xmlns:a="http://schemas.openxmlformats.org/drawingml/2006/main">
          <a:graphicData uri="http://schemas.openxmlformats.org/drawingml/2006/chart">
            <c:chart xmlns:c="http://schemas.openxmlformats.org/drawingml/2006/chart" r:id="rId1"/>
          </a:graphicData>
        </a:graphic>
      </p:graphicFrame>
      <p:sp>
        <p:nvSpPr>
          <p:cNvPr id="12" name="Shape 8"/>
          <p:cNvSpPr/>
          <p:nvPr/>
        </p:nvSpPr>
        <p:spPr>
          <a:xfrm>
            <a:off x="8128000" y="5588000"/>
            <a:ext cx="7366000" cy="2921000"/>
          </a:xfrm>
          <a:prstGeom prst="rect">
            <a:avLst/>
          </a:prstGeom>
          <a:solidFill>
            <a:srgbClr val="E8E2D6"/>
          </a:solidFill>
          <a:ln/>
        </p:spPr>
      </p:sp>
      <p:sp>
        <p:nvSpPr>
          <p:cNvPr id="13" name="Shape 9"/>
          <p:cNvSpPr/>
          <p:nvPr/>
        </p:nvSpPr>
        <p:spPr>
          <a:xfrm>
            <a:off x="8128000" y="5588000"/>
            <a:ext cx="63500" cy="2921000"/>
          </a:xfrm>
          <a:prstGeom prst="rect">
            <a:avLst/>
          </a:prstGeom>
          <a:solidFill>
            <a:srgbClr val="B87333"/>
          </a:solidFill>
          <a:ln/>
        </p:spPr>
      </p:sp>
      <p:sp>
        <p:nvSpPr>
          <p:cNvPr id="14" name="Text 10"/>
          <p:cNvSpPr/>
          <p:nvPr/>
        </p:nvSpPr>
        <p:spPr>
          <a:xfrm>
            <a:off x="8445500" y="5778500"/>
            <a:ext cx="3810000" cy="330200"/>
          </a:xfrm>
          <a:prstGeom prst="rect">
            <a:avLst/>
          </a:prstGeom>
          <a:noFill/>
          <a:ln/>
        </p:spPr>
        <p:txBody>
          <a:bodyPr wrap="none" lIns="0" tIns="0" rIns="0" bIns="0" rtlCol="0" anchor="ctr"/>
          <a:lstStyle/>
          <a:p>
            <a:pPr>
              <a:lnSpc>
                <a:spcPct val="100000"/>
              </a:lnSpc>
            </a:pPr>
            <a:r>
              <a:rPr lang="en-US" sz="1600" b="1" dirty="0">
                <a:solidFill>
                  <a:srgbClr val="B87333"/>
                </a:solidFill>
                <a:latin typeface="Liter" pitchFamily="34" charset="0"/>
                <a:ea typeface="Liter" pitchFamily="34" charset="-122"/>
                <a:cs typeface="Liter" pitchFamily="34" charset="-120"/>
              </a:rPr>
              <a:t>Analysis Notes</a:t>
            </a:r>
            <a:endParaRPr lang="en-US" sz="1600" dirty="0"/>
          </a:p>
        </p:txBody>
      </p:sp>
      <p:sp>
        <p:nvSpPr>
          <p:cNvPr id="15" name="Text 11"/>
          <p:cNvSpPr/>
          <p:nvPr/>
        </p:nvSpPr>
        <p:spPr>
          <a:xfrm>
            <a:off x="8445500" y="6223000"/>
            <a:ext cx="6794500" cy="2286000"/>
          </a:xfrm>
          <a:prstGeom prst="rect">
            <a:avLst/>
          </a:prstGeom>
          <a:noFill/>
          <a:ln/>
        </p:spPr>
        <p:txBody>
          <a:bodyPr wrap="square" lIns="0" tIns="0" rIns="0" bIns="0" rtlCol="0" anchor="t"/>
          <a:lstStyle/>
          <a:p>
            <a:pPr>
              <a:lnSpc>
                <a:spcPct val="170000"/>
              </a:lnSpc>
            </a:pPr>
            <a:r>
              <a:rPr lang="en-US" sz="1600" dirty="0">
                <a:solidFill>
                  <a:srgbClr val="1C1C1C"/>
                </a:solidFill>
                <a:latin typeface="QuattrocentoSans" pitchFamily="34" charset="0"/>
                <a:ea typeface="QuattrocentoSans" pitchFamily="34" charset="-122"/>
                <a:cs typeface="QuattrocentoSans" pitchFamily="34" charset="-120"/>
              </a:rPr>
              <a:t>Intermediate queries introduce </a:t>
            </a:r>
            <a:pPr>
              <a:lnSpc>
                <a:spcPct val="170000"/>
              </a:lnSpc>
            </a:pPr>
            <a:r>
              <a:rPr lang="en-US" sz="1600" b="1" dirty="0">
                <a:solidFill>
                  <a:srgbClr val="1C1C1C"/>
                </a:solidFill>
                <a:latin typeface="QuattrocentoSans" pitchFamily="34" charset="0"/>
                <a:ea typeface="QuattrocentoSans" pitchFamily="34" charset="-122"/>
                <a:cs typeface="QuattrocentoSans" pitchFamily="34" charset="-120"/>
              </a:rPr>
              <a:t>JOIN operations</a:t>
            </a:r>
            <a:pPr>
              <a:lnSpc>
                <a:spcPct val="170000"/>
              </a:lnSpc>
            </a:pPr>
            <a:r>
              <a:rPr lang="en-US" sz="1600" dirty="0">
                <a:solidFill>
                  <a:srgbClr val="1C1C1C"/>
                </a:solidFill>
                <a:latin typeface="QuattrocentoSans" pitchFamily="34" charset="0"/>
                <a:ea typeface="QuattrocentoSans" pitchFamily="34" charset="-122"/>
                <a:cs typeface="QuattrocentoSans" pitchFamily="34" charset="-120"/>
              </a:rPr>
              <a:t> to combine data across tables, enabling richer business insights:</a:t>
            </a:r>
            <a:endParaRPr lang="en-US" sz="1800" dirty="0"/>
          </a:p>
          <a:p>
            <a:pPr>
              <a:lnSpc>
                <a:spcPct val="170000"/>
              </a:lnSpc>
              <a:spcBef>
                <a:spcPts val="600"/>
              </a:spcBef>
            </a:pPr>
            <a:r>
              <a:rPr lang="en-US" sz="1600" dirty="0">
                <a:solidFill>
                  <a:srgbClr val="1C1C1C"/>
                </a:solidFill>
                <a:latin typeface="QuattrocentoSans" pitchFamily="34" charset="0"/>
                <a:ea typeface="QuattrocentoSans" pitchFamily="34" charset="-122"/>
                <a:cs typeface="QuattrocentoSans" pitchFamily="34" charset="-120"/>
              </a:rPr>
              <a:t>• Revenue analysis links Orders to Books for price data</a:t>
            </a:r>
            <a:endParaRPr lang="en-US" sz="1800" dirty="0"/>
          </a:p>
          <a:p>
            <a:pPr>
              <a:lnSpc>
                <a:spcPct val="170000"/>
              </a:lnSpc>
            </a:pPr>
            <a:r>
              <a:rPr lang="en-US" sz="1600" dirty="0">
                <a:solidFill>
                  <a:srgbClr val="1C1C1C"/>
                </a:solidFill>
                <a:latin typeface="QuattrocentoSans" pitchFamily="34" charset="0"/>
                <a:ea typeface="QuattrocentoSans" pitchFamily="34" charset="-122"/>
                <a:cs typeface="QuattrocentoSans" pitchFamily="34" charset="-120"/>
              </a:rPr>
              <a:t>• Customer filtering uses JOIN + HAVING for conditional aggregation</a:t>
            </a:r>
            <a:endParaRPr lang="en-US" sz="1800" dirty="0"/>
          </a:p>
          <a:p>
            <a:pPr>
              <a:lnSpc>
                <a:spcPct val="170000"/>
              </a:lnSpc>
            </a:pPr>
            <a:r>
              <a:rPr lang="en-US" sz="1600" dirty="0">
                <a:solidFill>
                  <a:srgbClr val="1C1C1C"/>
                </a:solidFill>
                <a:latin typeface="QuattrocentoSans" pitchFamily="34" charset="0"/>
                <a:ea typeface="QuattrocentoSans" pitchFamily="34" charset="-122"/>
                <a:cs typeface="QuattrocentoSans" pitchFamily="34" charset="-120"/>
              </a:rPr>
              <a:t>• 40% of queries at this level require multi-table operations</a:t>
            </a:r>
            <a:endParaRPr lang="en-US" sz="1800" dirty="0"/>
          </a:p>
        </p:txBody>
      </p:sp>
      <p:sp>
        <p:nvSpPr>
          <p:cNvPr id="16" name="Text 12"/>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8A9B8A"/>
                </a:solidFill>
                <a:latin typeface="QuattrocentoSans" pitchFamily="34" charset="0"/>
                <a:ea typeface="QuattrocentoSans" pitchFamily="34" charset="-122"/>
                <a:cs typeface="QuattrocentoSans" pitchFamily="34" charset="-120"/>
              </a:rPr>
              <a:t>09</a:t>
            </a:r>
            <a:endParaRPr lang="en-US" sz="12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EDE4"/>
        </a:solidFill>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E3A3A"/>
          </a:solidFill>
          <a:ln/>
        </p:spPr>
      </p:sp>
      <p:sp>
        <p:nvSpPr>
          <p:cNvPr id="3" name="Text 1"/>
          <p:cNvSpPr/>
          <p:nvPr/>
        </p:nvSpPr>
        <p:spPr>
          <a:xfrm>
            <a:off x="0" y="0"/>
            <a:ext cx="5422900" cy="558800"/>
          </a:xfrm>
          <a:prstGeom prst="rect">
            <a:avLst/>
          </a:prstGeom>
          <a:noFill/>
          <a:ln/>
        </p:spPr>
        <p:txBody>
          <a:bodyPr wrap="none" lIns="0" tIns="0" rIns="0" bIns="0" rtlCol="0" anchor="ctr"/>
          <a:lstStyle/>
          <a:p>
            <a:pPr algn="ctr">
              <a:lnSpc>
                <a:spcPct val="100000"/>
              </a:lnSpc>
            </a:pPr>
            <a:r>
              <a:rPr lang="en-US" sz="1200" spc="100" kern="0" dirty="0">
                <a:solidFill>
                  <a:srgbClr val="8A9B8A"/>
                </a:solidFill>
                <a:latin typeface="QuattrocentoSans" pitchFamily="34" charset="0"/>
                <a:ea typeface="QuattrocentoSans" pitchFamily="34" charset="-122"/>
                <a:cs typeface="QuattrocentoSans" pitchFamily="34" charset="-120"/>
              </a:rPr>
              <a:t>PROJECT OVERVIEW</a:t>
            </a:r>
            <a:endParaRPr lang="en-US" sz="1200" dirty="0"/>
          </a:p>
        </p:txBody>
      </p:sp>
      <p:sp>
        <p:nvSpPr>
          <p:cNvPr id="4" name="Text 2"/>
          <p:cNvSpPr/>
          <p:nvPr/>
        </p:nvSpPr>
        <p:spPr>
          <a:xfrm>
            <a:off x="5422900" y="0"/>
            <a:ext cx="5410200" cy="558800"/>
          </a:xfrm>
          <a:prstGeom prst="rect">
            <a:avLst/>
          </a:prstGeom>
          <a:noFill/>
          <a:ln/>
        </p:spPr>
        <p:txBody>
          <a:bodyPr wrap="none" lIns="0" tIns="0" rIns="0" bIns="0" rtlCol="0" anchor="ctr"/>
          <a:lstStyle/>
          <a:p>
            <a:pPr algn="ctr">
              <a:lnSpc>
                <a:spcPct val="100000"/>
              </a:lnSpc>
            </a:pPr>
            <a:r>
              <a:rPr lang="en-US" sz="1200" b="1" spc="100" kern="0" dirty="0">
                <a:solidFill>
                  <a:srgbClr val="F2EDE4"/>
                </a:solidFill>
                <a:latin typeface="QuattrocentoSans" pitchFamily="34" charset="0"/>
                <a:ea typeface="QuattrocentoSans" pitchFamily="34" charset="-122"/>
                <a:cs typeface="QuattrocentoSans" pitchFamily="34" charset="-120"/>
              </a:rPr>
              <a:t>QUERY SOLUTIONS</a:t>
            </a:r>
            <a:endParaRPr lang="en-US" sz="1200" dirty="0"/>
          </a:p>
        </p:txBody>
      </p:sp>
      <p:sp>
        <p:nvSpPr>
          <p:cNvPr id="5" name="Shape 3"/>
          <p:cNvSpPr/>
          <p:nvPr/>
        </p:nvSpPr>
        <p:spPr>
          <a:xfrm>
            <a:off x="6946900" y="558800"/>
            <a:ext cx="2374900" cy="50800"/>
          </a:xfrm>
          <a:prstGeom prst="rect">
            <a:avLst/>
          </a:prstGeom>
          <a:solidFill>
            <a:srgbClr val="B87333"/>
          </a:solidFill>
          <a:ln/>
        </p:spPr>
      </p:sp>
      <p:sp>
        <p:nvSpPr>
          <p:cNvPr id="6" name="Text 4"/>
          <p:cNvSpPr/>
          <p:nvPr/>
        </p:nvSpPr>
        <p:spPr>
          <a:xfrm>
            <a:off x="10833100" y="0"/>
            <a:ext cx="5422900" cy="558800"/>
          </a:xfrm>
          <a:prstGeom prst="rect">
            <a:avLst/>
          </a:prstGeom>
          <a:noFill/>
          <a:ln/>
        </p:spPr>
        <p:txBody>
          <a:bodyPr wrap="none" lIns="0" tIns="0" rIns="0" bIns="0" rtlCol="0" anchor="ctr"/>
          <a:lstStyle/>
          <a:p>
            <a:pPr algn="ctr">
              <a:lnSpc>
                <a:spcPct val="100000"/>
              </a:lnSpc>
            </a:pPr>
            <a:r>
              <a:rPr lang="en-US" sz="1200" spc="100" kern="0" dirty="0">
                <a:solidFill>
                  <a:srgbClr val="8A9B8A"/>
                </a:solidFill>
                <a:latin typeface="QuattrocentoSans" pitchFamily="34" charset="0"/>
                <a:ea typeface="QuattrocentoSans" pitchFamily="34" charset="-122"/>
                <a:cs typeface="QuattrocentoSans" pitchFamily="34" charset="-120"/>
              </a:rPr>
              <a:t>ANALYTICS &amp; INSIGHTS</a:t>
            </a:r>
            <a:endParaRPr lang="en-US" sz="1200" dirty="0"/>
          </a:p>
        </p:txBody>
      </p:sp>
      <p:sp>
        <p:nvSpPr>
          <p:cNvPr id="7" name="Text 5"/>
          <p:cNvSpPr/>
          <p:nvPr/>
        </p:nvSpPr>
        <p:spPr>
          <a:xfrm>
            <a:off x="762000" y="914400"/>
            <a:ext cx="7620000" cy="508000"/>
          </a:xfrm>
          <a:prstGeom prst="rect">
            <a:avLst/>
          </a:prstGeom>
          <a:noFill/>
          <a:ln/>
        </p:spPr>
        <p:txBody>
          <a:bodyPr wrap="none" lIns="0" tIns="0" rIns="0" bIns="0" rtlCol="0" anchor="ctr"/>
          <a:lstStyle/>
          <a:p>
            <a:pPr>
              <a:lnSpc>
                <a:spcPct val="100000"/>
              </a:lnSpc>
            </a:pPr>
            <a:r>
              <a:rPr lang="en-US" sz="2800" dirty="0">
                <a:solidFill>
                  <a:srgbClr val="1E3A3A"/>
                </a:solidFill>
                <a:latin typeface="Liter" pitchFamily="34" charset="0"/>
                <a:ea typeface="Liter" pitchFamily="34" charset="-122"/>
                <a:cs typeface="Liter" pitchFamily="34" charset="-120"/>
              </a:rPr>
              <a:t>Part 3 — Advanced Queries</a:t>
            </a:r>
            <a:endParaRPr lang="en-US" sz="2800" dirty="0"/>
          </a:p>
        </p:txBody>
      </p:sp>
      <p:sp>
        <p:nvSpPr>
          <p:cNvPr id="8" name="Shape 6"/>
          <p:cNvSpPr/>
          <p:nvPr/>
        </p:nvSpPr>
        <p:spPr>
          <a:xfrm>
            <a:off x="762000" y="1498600"/>
            <a:ext cx="762000" cy="38100"/>
          </a:xfrm>
          <a:prstGeom prst="rect">
            <a:avLst/>
          </a:prstGeom>
          <a:solidFill>
            <a:srgbClr val="B87333"/>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62000" y="1778000"/>
          <a:ext cx="14732000" cy="3048000"/>
        </p:xfrm>
        <a:graphic>
          <a:graphicData uri="http://schemas.openxmlformats.org/drawingml/2006/table">
            <a:tbl>
              <a:tblPr/>
              <a:tblGrid>
                <a:gridCol w="736600"/>
                <a:gridCol w="5892800"/>
                <a:gridCol w="4419600"/>
                <a:gridCol w="3683000"/>
              </a:tblGrid>
              <a:tr h="609600">
                <a:tc>
                  <a:txBody>
                    <a:bodyPr/>
                    <a:lstStyle/>
                    <a:p>
                      <a:pPr algn="l"/>
                      <a:r>
                        <a:rPr lang="en-US" sz="1400" b="1" u="none" dirty="0">
                          <a:solidFill>
                            <a:srgbClr val="F2EDE4"/>
                          </a:solidFill>
                          <a:latin typeface="QuattrocentoSans" pitchFamily="34" charset="0"/>
                          <a:ea typeface="QuattrocentoSans" pitchFamily="34" charset="-122"/>
                          <a:cs typeface="QuattrocentoSans" pitchFamily="34" charset="-120"/>
                        </a:rPr>
                        <a: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1E3A3A"/>
                    </a:solidFill>
                  </a:tcPr>
                </a:tc>
                <a:tc>
                  <a:txBody>
                    <a:bodyPr/>
                    <a:lstStyle/>
                    <a:p>
                      <a:pPr algn="l"/>
                      <a:r>
                        <a:rPr lang="en-US" sz="1400" b="1" u="none" dirty="0">
                          <a:solidFill>
                            <a:srgbClr val="F2EDE4"/>
                          </a:solidFill>
                          <a:latin typeface="QuattrocentoSans" pitchFamily="34" charset="0"/>
                          <a:ea typeface="QuattrocentoSans" pitchFamily="34" charset="-122"/>
                          <a:cs typeface="QuattrocentoSans" pitchFamily="34" charset="-120"/>
                        </a:rPr>
                        <a:t>Query Description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1E3A3A"/>
                    </a:solidFill>
                  </a:tcPr>
                </a:tc>
                <a:tc>
                  <a:txBody>
                    <a:bodyPr/>
                    <a:lstStyle/>
                    <a:p>
                      <a:pPr algn="l"/>
                      <a:r>
                        <a:rPr lang="en-US" sz="1400" b="1" u="none" dirty="0">
                          <a:solidFill>
                            <a:srgbClr val="F2EDE4"/>
                          </a:solidFill>
                          <a:latin typeface="QuattrocentoSans" pitchFamily="34" charset="0"/>
                          <a:ea typeface="QuattrocentoSans" pitchFamily="34" charset="-122"/>
                          <a:cs typeface="QuattrocentoSans" pitchFamily="34" charset="-120"/>
                        </a:rPr>
                        <a:t>SQL Concept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1E3A3A"/>
                    </a:solidFill>
                  </a:tcPr>
                </a:tc>
                <a:tc>
                  <a:txBody>
                    <a:bodyPr/>
                    <a:lstStyle/>
                    <a:p>
                      <a:pPr algn="l"/>
                      <a:r>
                        <a:rPr lang="en-US" sz="1400" b="1" u="none" dirty="0">
                          <a:solidFill>
                            <a:srgbClr val="F2EDE4"/>
                          </a:solidFill>
                          <a:latin typeface="QuattrocentoSans" pitchFamily="34" charset="0"/>
                          <a:ea typeface="QuattrocentoSans" pitchFamily="34" charset="-122"/>
                          <a:cs typeface="QuattrocentoSans" pitchFamily="34" charset="-120"/>
                        </a:rPr>
                        <a:t>Result Type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1E3A3A"/>
                    </a:solidFill>
                  </a:tcPr>
                </a:tc>
              </a:tr>
              <a:tr h="609600">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11</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Find customers with multiple orders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GROUP BY + COUNT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Grouped analysis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r>
              <a:tr h="609600">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12</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Identify most frequently ordered book</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JOIN + GROUP BY + MAX</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Ranked aggregate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r>
              <a:tr h="609600">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13</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Genre-wise sales breakdown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JOIN + GROUP BY + SUM</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Category report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r>
              <a:tr h="609600">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14</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Author-wise sales ranking</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JOIN + GROUP BY + ORDER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Ranked report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r>
            </a:tbl>
          </a:graphicData>
        </a:graphic>
      </p:graphicFrame>
      <p:sp>
        <p:nvSpPr>
          <p:cNvPr id="10" name="Text 7"/>
          <p:cNvSpPr/>
          <p:nvPr/>
        </p:nvSpPr>
        <p:spPr>
          <a:xfrm>
            <a:off x="762000" y="5143500"/>
            <a:ext cx="6350000" cy="355600"/>
          </a:xfrm>
          <a:prstGeom prst="rect">
            <a:avLst/>
          </a:prstGeom>
          <a:noFill/>
          <a:ln/>
        </p:spPr>
        <p:txBody>
          <a:bodyPr wrap="none" lIns="0" tIns="0" rIns="0" bIns="0" rtlCol="0" anchor="ctr"/>
          <a:lstStyle/>
          <a:p>
            <a:pPr>
              <a:lnSpc>
                <a:spcPct val="100000"/>
              </a:lnSpc>
            </a:pPr>
            <a:r>
              <a:rPr lang="en-US" sz="2200" dirty="0">
                <a:solidFill>
                  <a:srgbClr val="1E3A3A"/>
                </a:solidFill>
                <a:latin typeface="Liter" pitchFamily="34" charset="0"/>
                <a:ea typeface="Liter" pitchFamily="34" charset="-122"/>
                <a:cs typeface="Liter" pitchFamily="34" charset="-120"/>
              </a:rPr>
              <a:t>Genre-wise Sales Distribution</a:t>
            </a:r>
            <a:endParaRPr lang="en-US" sz="2200" dirty="0"/>
          </a:p>
        </p:txBody>
      </p:sp>
      <p:graphicFrame>
        <p:nvGraphicFramePr>
          <p:cNvPr id="11" name="Chart 0" descr=""/>
          <p:cNvGraphicFramePr/>
          <p:nvPr/>
        </p:nvGraphicFramePr>
        <p:xfrm>
          <a:off x="762000" y="5588000"/>
          <a:ext cx="14732000" cy="2921000"/>
        </p:xfrm>
        <a:graphic xmlns:a="http://schemas.openxmlformats.org/drawingml/2006/main">
          <a:graphicData uri="http://schemas.openxmlformats.org/drawingml/2006/chart">
            <c:chart xmlns:c="http://schemas.openxmlformats.org/drawingml/2006/chart" r:id="rId1"/>
          </a:graphicData>
        </a:graphic>
      </p:graphicFrame>
      <p:sp>
        <p:nvSpPr>
          <p:cNvPr id="12" name="Text 8"/>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8A9B8A"/>
                </a:solidFill>
                <a:latin typeface="QuattrocentoSans" pitchFamily="34" charset="0"/>
                <a:ea typeface="QuattrocentoSans" pitchFamily="34" charset="-122"/>
                <a:cs typeface="QuattrocentoSans" pitchFamily="34" charset="-120"/>
              </a:rPr>
              <a:t>10</a:t>
            </a:r>
            <a:endParaRPr lang="en-US" sz="12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B2B"/>
        </a:solidFill>
      </p:bgPr>
    </p:bg>
    <p:spTree>
      <p:nvGrpSpPr>
        <p:cNvPr id="1" name=""/>
        <p:cNvGrpSpPr/>
        <p:nvPr/>
      </p:nvGrpSpPr>
      <p:grpSpPr>
        <a:xfrm>
          <a:off x="0" y="0"/>
          <a:ext cx="0" cy="0"/>
          <a:chOff x="0" y="0"/>
          <a:chExt cx="0" cy="0"/>
        </a:xfrm>
      </p:grpSpPr>
      <p:pic>
        <p:nvPicPr>
          <p:cNvPr id="2" name="Image 0" descr="https://kimi-img.moonshot.cn/pub/slides/okc/k2z4c76ljeume/mnt/agents/output/bookstore_sql/images/10_Analytics_Dashboard_UI_Template_with.png">    </p:cNvPr>
          <p:cNvPicPr>
            <a:picLocks noChangeAspect="1"/>
          </p:cNvPicPr>
          <p:nvPr/>
        </p:nvPicPr>
        <p:blipFill>
          <a:blip r:embed="rId1">
            <a:alphaModFix amt="15000"/>
          </a:blip>
          <a:srcRect l="0" r="0" t="5000" b="5000"/>
          <a:stretch/>
        </p:blipFill>
        <p:spPr>
          <a:xfrm>
            <a:off x="0" y="0"/>
            <a:ext cx="16256000" cy="9144000"/>
          </a:xfrm>
          <a:prstGeom prst="rect">
            <a:avLst/>
          </a:prstGeom>
        </p:spPr>
      </p:pic>
      <p:sp>
        <p:nvSpPr>
          <p:cNvPr id="3" name="Text 0"/>
          <p:cNvSpPr/>
          <p:nvPr/>
        </p:nvSpPr>
        <p:spPr>
          <a:xfrm>
            <a:off x="762000" y="1778000"/>
            <a:ext cx="5080000" cy="2032000"/>
          </a:xfrm>
          <a:prstGeom prst="rect">
            <a:avLst/>
          </a:prstGeom>
          <a:noFill/>
          <a:ln/>
        </p:spPr>
        <p:txBody>
          <a:bodyPr wrap="none" lIns="0" tIns="0" rIns="0" bIns="0" rtlCol="0" anchor="ctr"/>
          <a:lstStyle/>
          <a:p>
            <a:pPr>
              <a:lnSpc>
                <a:spcPct val="100000"/>
              </a:lnSpc>
            </a:pPr>
            <a:r>
              <a:rPr lang="en-US" sz="12000" dirty="0">
                <a:solidFill>
                  <a:srgbClr val="F2EDE4">
                    <a:alpha val="8235"/>
                  </a:srgbClr>
                </a:solidFill>
                <a:latin typeface="Liter" pitchFamily="34" charset="0"/>
                <a:ea typeface="Liter" pitchFamily="34" charset="-122"/>
                <a:cs typeface="Liter" pitchFamily="34" charset="-120"/>
              </a:rPr>
              <a:t>03</a:t>
            </a:r>
            <a:endParaRPr lang="en-US" sz="12000" dirty="0"/>
          </a:p>
        </p:txBody>
      </p:sp>
      <p:sp>
        <p:nvSpPr>
          <p:cNvPr id="4" name="Shape 1"/>
          <p:cNvSpPr/>
          <p:nvPr/>
        </p:nvSpPr>
        <p:spPr>
          <a:xfrm>
            <a:off x="762000" y="4064000"/>
            <a:ext cx="1016000" cy="50800"/>
          </a:xfrm>
          <a:prstGeom prst="rect">
            <a:avLst/>
          </a:prstGeom>
          <a:solidFill>
            <a:srgbClr val="B87333"/>
          </a:solidFill>
          <a:ln/>
        </p:spPr>
      </p:sp>
      <p:sp>
        <p:nvSpPr>
          <p:cNvPr id="5" name="Text 2"/>
          <p:cNvSpPr/>
          <p:nvPr/>
        </p:nvSpPr>
        <p:spPr>
          <a:xfrm>
            <a:off x="762000" y="4381500"/>
            <a:ext cx="8890000" cy="698500"/>
          </a:xfrm>
          <a:prstGeom prst="rect">
            <a:avLst/>
          </a:prstGeom>
          <a:noFill/>
          <a:ln/>
        </p:spPr>
        <p:txBody>
          <a:bodyPr wrap="none" lIns="0" tIns="0" rIns="0" bIns="0" rtlCol="0" anchor="ctr"/>
          <a:lstStyle/>
          <a:p>
            <a:pPr>
              <a:lnSpc>
                <a:spcPct val="100000"/>
              </a:lnSpc>
            </a:pPr>
            <a:r>
              <a:rPr lang="en-US" sz="3800" spc="200" kern="0" dirty="0">
                <a:solidFill>
                  <a:srgbClr val="F2EDE4"/>
                </a:solidFill>
                <a:latin typeface="Liter" pitchFamily="34" charset="0"/>
                <a:ea typeface="Liter" pitchFamily="34" charset="-122"/>
                <a:cs typeface="Liter" pitchFamily="34" charset="-120"/>
              </a:rPr>
              <a:t>ANALYTICS &amp; INSIGHTS</a:t>
            </a:r>
            <a:endParaRPr lang="en-US" sz="1600" dirty="0"/>
          </a:p>
        </p:txBody>
      </p:sp>
      <p:sp>
        <p:nvSpPr>
          <p:cNvPr id="6" name="Text 3"/>
          <p:cNvSpPr/>
          <p:nvPr/>
        </p:nvSpPr>
        <p:spPr>
          <a:xfrm>
            <a:off x="762000" y="5270500"/>
            <a:ext cx="6350000" cy="355600"/>
          </a:xfrm>
          <a:prstGeom prst="rect">
            <a:avLst/>
          </a:prstGeom>
          <a:noFill/>
          <a:ln/>
        </p:spPr>
        <p:txBody>
          <a:bodyPr wrap="none" lIns="0" tIns="0" rIns="0" bIns="0" rtlCol="0" anchor="ctr"/>
          <a:lstStyle/>
          <a:p>
            <a:pPr>
              <a:lnSpc>
                <a:spcPct val="100000"/>
              </a:lnSpc>
            </a:pPr>
            <a:r>
              <a:rPr lang="en-US" sz="1800" dirty="0">
                <a:solidFill>
                  <a:srgbClr val="8A9B8A"/>
                </a:solidFill>
                <a:latin typeface="Quattrocento Sans" pitchFamily="34" charset="0"/>
                <a:ea typeface="Quattrocento Sans" pitchFamily="34" charset="-122"/>
                <a:cs typeface="Quattrocento Sans" pitchFamily="34" charset="-120"/>
              </a:rPr>
              <a:t>Inventory tracking, project metrics &amp; skills</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EDE4"/>
        </a:solidFill>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E3A3A"/>
          </a:solidFill>
          <a:ln/>
        </p:spPr>
      </p:sp>
      <p:sp>
        <p:nvSpPr>
          <p:cNvPr id="3" name="Text 1"/>
          <p:cNvSpPr/>
          <p:nvPr/>
        </p:nvSpPr>
        <p:spPr>
          <a:xfrm>
            <a:off x="0" y="0"/>
            <a:ext cx="5422900" cy="558800"/>
          </a:xfrm>
          <a:prstGeom prst="rect">
            <a:avLst/>
          </a:prstGeom>
          <a:noFill/>
          <a:ln/>
        </p:spPr>
        <p:txBody>
          <a:bodyPr wrap="none" lIns="0" tIns="0" rIns="0" bIns="0" rtlCol="0" anchor="ctr"/>
          <a:lstStyle/>
          <a:p>
            <a:pPr algn="ctr">
              <a:lnSpc>
                <a:spcPct val="100000"/>
              </a:lnSpc>
            </a:pPr>
            <a:r>
              <a:rPr lang="en-US" sz="1200" spc="100" kern="0" dirty="0">
                <a:solidFill>
                  <a:srgbClr val="8A9B8A"/>
                </a:solidFill>
                <a:latin typeface="QuattrocentoSans" pitchFamily="34" charset="0"/>
                <a:ea typeface="QuattrocentoSans" pitchFamily="34" charset="-122"/>
                <a:cs typeface="QuattrocentoSans" pitchFamily="34" charset="-120"/>
              </a:rPr>
              <a:t>PROJECT OVERVIEW</a:t>
            </a:r>
            <a:endParaRPr lang="en-US" sz="1200" dirty="0"/>
          </a:p>
        </p:txBody>
      </p:sp>
      <p:sp>
        <p:nvSpPr>
          <p:cNvPr id="4" name="Text 2"/>
          <p:cNvSpPr/>
          <p:nvPr/>
        </p:nvSpPr>
        <p:spPr>
          <a:xfrm>
            <a:off x="5422900" y="0"/>
            <a:ext cx="5410200" cy="558800"/>
          </a:xfrm>
          <a:prstGeom prst="rect">
            <a:avLst/>
          </a:prstGeom>
          <a:noFill/>
          <a:ln/>
        </p:spPr>
        <p:txBody>
          <a:bodyPr wrap="none" lIns="0" tIns="0" rIns="0" bIns="0" rtlCol="0" anchor="ctr"/>
          <a:lstStyle/>
          <a:p>
            <a:pPr algn="ctr">
              <a:lnSpc>
                <a:spcPct val="100000"/>
              </a:lnSpc>
            </a:pPr>
            <a:r>
              <a:rPr lang="en-US" sz="1200" spc="100" kern="0" dirty="0">
                <a:solidFill>
                  <a:srgbClr val="8A9B8A"/>
                </a:solidFill>
                <a:latin typeface="QuattrocentoSans" pitchFamily="34" charset="0"/>
                <a:ea typeface="QuattrocentoSans" pitchFamily="34" charset="-122"/>
                <a:cs typeface="QuattrocentoSans" pitchFamily="34" charset="-120"/>
              </a:rPr>
              <a:t>QUERY SOLUTIONS</a:t>
            </a:r>
            <a:endParaRPr lang="en-US" sz="1200" dirty="0"/>
          </a:p>
        </p:txBody>
      </p:sp>
      <p:sp>
        <p:nvSpPr>
          <p:cNvPr id="5" name="Text 3"/>
          <p:cNvSpPr/>
          <p:nvPr/>
        </p:nvSpPr>
        <p:spPr>
          <a:xfrm>
            <a:off x="10833100" y="0"/>
            <a:ext cx="5422900" cy="558800"/>
          </a:xfrm>
          <a:prstGeom prst="rect">
            <a:avLst/>
          </a:prstGeom>
          <a:noFill/>
          <a:ln/>
        </p:spPr>
        <p:txBody>
          <a:bodyPr wrap="none" lIns="0" tIns="0" rIns="0" bIns="0" rtlCol="0" anchor="ctr"/>
          <a:lstStyle/>
          <a:p>
            <a:pPr algn="ctr">
              <a:lnSpc>
                <a:spcPct val="100000"/>
              </a:lnSpc>
            </a:pPr>
            <a:r>
              <a:rPr lang="en-US" sz="1200" b="1" spc="100" kern="0" dirty="0">
                <a:solidFill>
                  <a:srgbClr val="F2EDE4"/>
                </a:solidFill>
                <a:latin typeface="QuattrocentoSans" pitchFamily="34" charset="0"/>
                <a:ea typeface="QuattrocentoSans" pitchFamily="34" charset="-122"/>
                <a:cs typeface="QuattrocentoSans" pitchFamily="34" charset="-120"/>
              </a:rPr>
              <a:t>ANALYTICS &amp; INSIGHTS</a:t>
            </a:r>
            <a:endParaRPr lang="en-US" sz="1200" dirty="0"/>
          </a:p>
        </p:txBody>
      </p:sp>
      <p:sp>
        <p:nvSpPr>
          <p:cNvPr id="6" name="Shape 4"/>
          <p:cNvSpPr/>
          <p:nvPr/>
        </p:nvSpPr>
        <p:spPr>
          <a:xfrm>
            <a:off x="12357100" y="558800"/>
            <a:ext cx="2374900" cy="50800"/>
          </a:xfrm>
          <a:prstGeom prst="rect">
            <a:avLst/>
          </a:prstGeom>
          <a:solidFill>
            <a:srgbClr val="B87333"/>
          </a:solidFill>
          <a:ln/>
        </p:spPr>
      </p:sp>
      <p:sp>
        <p:nvSpPr>
          <p:cNvPr id="7" name="Text 5"/>
          <p:cNvSpPr/>
          <p:nvPr/>
        </p:nvSpPr>
        <p:spPr>
          <a:xfrm>
            <a:off x="762000" y="914400"/>
            <a:ext cx="6350000" cy="508000"/>
          </a:xfrm>
          <a:prstGeom prst="rect">
            <a:avLst/>
          </a:prstGeom>
          <a:noFill/>
          <a:ln/>
        </p:spPr>
        <p:txBody>
          <a:bodyPr wrap="none" lIns="0" tIns="0" rIns="0" bIns="0" rtlCol="0" anchor="ctr"/>
          <a:lstStyle/>
          <a:p>
            <a:pPr>
              <a:lnSpc>
                <a:spcPct val="100000"/>
              </a:lnSpc>
            </a:pPr>
            <a:r>
              <a:rPr lang="en-US" sz="2800" dirty="0">
                <a:solidFill>
                  <a:srgbClr val="1E3A3A"/>
                </a:solidFill>
                <a:latin typeface="Liter" pitchFamily="34" charset="0"/>
                <a:ea typeface="Liter" pitchFamily="34" charset="-122"/>
                <a:cs typeface="Liter" pitchFamily="34" charset="-120"/>
              </a:rPr>
              <a:t>Inventory Analytics</a:t>
            </a:r>
            <a:endParaRPr lang="en-US" sz="2800" dirty="0"/>
          </a:p>
        </p:txBody>
      </p:sp>
      <p:sp>
        <p:nvSpPr>
          <p:cNvPr id="8" name="Shape 6"/>
          <p:cNvSpPr/>
          <p:nvPr/>
        </p:nvSpPr>
        <p:spPr>
          <a:xfrm>
            <a:off x="762000" y="1498600"/>
            <a:ext cx="762000" cy="38100"/>
          </a:xfrm>
          <a:prstGeom prst="rect">
            <a:avLst/>
          </a:prstGeom>
          <a:solidFill>
            <a:srgbClr val="B87333"/>
          </a:solidFill>
          <a:ln/>
        </p:spPr>
      </p:sp>
      <p:sp>
        <p:nvSpPr>
          <p:cNvPr id="9" name="Shape 7"/>
          <p:cNvSpPr/>
          <p:nvPr/>
        </p:nvSpPr>
        <p:spPr>
          <a:xfrm>
            <a:off x="762000" y="1778000"/>
            <a:ext cx="4699000" cy="1397000"/>
          </a:xfrm>
          <a:prstGeom prst="rect">
            <a:avLst/>
          </a:prstGeom>
          <a:solidFill>
            <a:srgbClr val="1E3A3A"/>
          </a:solidFill>
          <a:ln/>
        </p:spPr>
      </p:sp>
      <p:sp>
        <p:nvSpPr>
          <p:cNvPr id="10" name="Shape 8"/>
          <p:cNvSpPr/>
          <p:nvPr/>
        </p:nvSpPr>
        <p:spPr>
          <a:xfrm>
            <a:off x="1079500" y="2032000"/>
            <a:ext cx="355600" cy="355600"/>
          </a:xfrm>
          <a:custGeom>
            <a:avLst/>
            <a:gdLst/>
            <a:ahLst/>
            <a:cxnLst/>
            <a:rect l="l" t="t" r="r" b="b"/>
            <a:pathLst>
              <a:path w="355600" h="355600">
                <a:moveTo>
                  <a:pt x="155575" y="0"/>
                </a:moveTo>
                <a:lnTo>
                  <a:pt x="155575" y="44450"/>
                </a:lnTo>
                <a:cubicBezTo>
                  <a:pt x="155575" y="50562"/>
                  <a:pt x="160576" y="55563"/>
                  <a:pt x="166688" y="55563"/>
                </a:cubicBezTo>
                <a:lnTo>
                  <a:pt x="188913" y="55563"/>
                </a:lnTo>
                <a:cubicBezTo>
                  <a:pt x="195024" y="55563"/>
                  <a:pt x="200025" y="50562"/>
                  <a:pt x="200025" y="44450"/>
                </a:cubicBezTo>
                <a:lnTo>
                  <a:pt x="200025" y="0"/>
                </a:lnTo>
                <a:lnTo>
                  <a:pt x="222250" y="0"/>
                </a:lnTo>
                <a:cubicBezTo>
                  <a:pt x="246767" y="0"/>
                  <a:pt x="266700" y="19933"/>
                  <a:pt x="266700" y="44450"/>
                </a:cubicBezTo>
                <a:lnTo>
                  <a:pt x="266700" y="133350"/>
                </a:lnTo>
                <a:cubicBezTo>
                  <a:pt x="266700" y="137170"/>
                  <a:pt x="266214" y="140920"/>
                  <a:pt x="265311" y="144463"/>
                </a:cubicBezTo>
                <a:lnTo>
                  <a:pt x="90289" y="144463"/>
                </a:lnTo>
                <a:cubicBezTo>
                  <a:pt x="89386" y="140920"/>
                  <a:pt x="88900" y="137170"/>
                  <a:pt x="88900" y="133350"/>
                </a:cubicBezTo>
                <a:lnTo>
                  <a:pt x="88900" y="44450"/>
                </a:lnTo>
                <a:cubicBezTo>
                  <a:pt x="88900" y="19933"/>
                  <a:pt x="108833" y="0"/>
                  <a:pt x="133350" y="0"/>
                </a:cubicBezTo>
                <a:lnTo>
                  <a:pt x="155575" y="0"/>
                </a:lnTo>
                <a:close/>
                <a:moveTo>
                  <a:pt x="222250" y="355600"/>
                </a:moveTo>
                <a:cubicBezTo>
                  <a:pt x="214471" y="355600"/>
                  <a:pt x="207109" y="353586"/>
                  <a:pt x="200720" y="350044"/>
                </a:cubicBezTo>
                <a:cubicBezTo>
                  <a:pt x="207318" y="338584"/>
                  <a:pt x="211138" y="325318"/>
                  <a:pt x="211138" y="311150"/>
                </a:cubicBezTo>
                <a:lnTo>
                  <a:pt x="211138" y="222250"/>
                </a:lnTo>
                <a:cubicBezTo>
                  <a:pt x="211138" y="208082"/>
                  <a:pt x="207318" y="194816"/>
                  <a:pt x="200720" y="183356"/>
                </a:cubicBezTo>
                <a:cubicBezTo>
                  <a:pt x="207109" y="179814"/>
                  <a:pt x="214402" y="177800"/>
                  <a:pt x="222250" y="177800"/>
                </a:cubicBezTo>
                <a:lnTo>
                  <a:pt x="244475" y="177800"/>
                </a:lnTo>
                <a:lnTo>
                  <a:pt x="244475" y="222250"/>
                </a:lnTo>
                <a:cubicBezTo>
                  <a:pt x="244475" y="228362"/>
                  <a:pt x="249476" y="233363"/>
                  <a:pt x="255587" y="233363"/>
                </a:cubicBezTo>
                <a:lnTo>
                  <a:pt x="277813" y="233363"/>
                </a:lnTo>
                <a:cubicBezTo>
                  <a:pt x="283924" y="233363"/>
                  <a:pt x="288925" y="228362"/>
                  <a:pt x="288925" y="222250"/>
                </a:cubicBezTo>
                <a:lnTo>
                  <a:pt x="288925" y="177800"/>
                </a:lnTo>
                <a:lnTo>
                  <a:pt x="311150" y="177800"/>
                </a:lnTo>
                <a:cubicBezTo>
                  <a:pt x="335667" y="177800"/>
                  <a:pt x="355600" y="197733"/>
                  <a:pt x="355600" y="222250"/>
                </a:cubicBezTo>
                <a:lnTo>
                  <a:pt x="355600" y="311150"/>
                </a:lnTo>
                <a:cubicBezTo>
                  <a:pt x="355600" y="335667"/>
                  <a:pt x="335667" y="355600"/>
                  <a:pt x="311150" y="355600"/>
                </a:cubicBezTo>
                <a:lnTo>
                  <a:pt x="222250" y="355600"/>
                </a:lnTo>
                <a:close/>
                <a:moveTo>
                  <a:pt x="0" y="222250"/>
                </a:moveTo>
                <a:cubicBezTo>
                  <a:pt x="0" y="197733"/>
                  <a:pt x="19933" y="177800"/>
                  <a:pt x="44450" y="177800"/>
                </a:cubicBezTo>
                <a:lnTo>
                  <a:pt x="66675" y="177800"/>
                </a:lnTo>
                <a:lnTo>
                  <a:pt x="66675" y="222250"/>
                </a:lnTo>
                <a:cubicBezTo>
                  <a:pt x="66675" y="228362"/>
                  <a:pt x="71676" y="233363"/>
                  <a:pt x="77788" y="233363"/>
                </a:cubicBezTo>
                <a:lnTo>
                  <a:pt x="100013" y="233363"/>
                </a:lnTo>
                <a:cubicBezTo>
                  <a:pt x="106124" y="233363"/>
                  <a:pt x="111125" y="228362"/>
                  <a:pt x="111125" y="222250"/>
                </a:cubicBezTo>
                <a:lnTo>
                  <a:pt x="111125" y="177800"/>
                </a:lnTo>
                <a:lnTo>
                  <a:pt x="133350" y="177800"/>
                </a:lnTo>
                <a:cubicBezTo>
                  <a:pt x="157867" y="177800"/>
                  <a:pt x="177800" y="197733"/>
                  <a:pt x="177800" y="222250"/>
                </a:cubicBezTo>
                <a:lnTo>
                  <a:pt x="177800" y="311150"/>
                </a:lnTo>
                <a:cubicBezTo>
                  <a:pt x="177800" y="335667"/>
                  <a:pt x="157867" y="355600"/>
                  <a:pt x="133350" y="355600"/>
                </a:cubicBezTo>
                <a:lnTo>
                  <a:pt x="44450" y="355600"/>
                </a:lnTo>
                <a:cubicBezTo>
                  <a:pt x="19933" y="355600"/>
                  <a:pt x="0" y="335667"/>
                  <a:pt x="0" y="311150"/>
                </a:cubicBezTo>
                <a:lnTo>
                  <a:pt x="0" y="222250"/>
                </a:lnTo>
                <a:close/>
              </a:path>
            </a:pathLst>
          </a:custGeom>
          <a:solidFill>
            <a:srgbClr val="B87333"/>
          </a:solidFill>
          <a:ln/>
        </p:spPr>
      </p:sp>
      <p:sp>
        <p:nvSpPr>
          <p:cNvPr id="11" name="Text 9"/>
          <p:cNvSpPr/>
          <p:nvPr/>
        </p:nvSpPr>
        <p:spPr>
          <a:xfrm>
            <a:off x="1587500" y="2006600"/>
            <a:ext cx="3556000" cy="304800"/>
          </a:xfrm>
          <a:prstGeom prst="rect">
            <a:avLst/>
          </a:prstGeom>
          <a:noFill/>
          <a:ln/>
        </p:spPr>
        <p:txBody>
          <a:bodyPr wrap="none" lIns="0" tIns="0" rIns="0" bIns="0" rtlCol="0" anchor="ctr"/>
          <a:lstStyle/>
          <a:p>
            <a:pPr>
              <a:lnSpc>
                <a:spcPct val="100000"/>
              </a:lnSpc>
            </a:pPr>
            <a:r>
              <a:rPr lang="en-US" sz="1400" dirty="0">
                <a:solidFill>
                  <a:srgbClr val="B8C4C4"/>
                </a:solidFill>
                <a:latin typeface="Quattrocento Sans" pitchFamily="34" charset="0"/>
                <a:ea typeface="Quattrocento Sans" pitchFamily="34" charset="-122"/>
                <a:cs typeface="Quattrocento Sans" pitchFamily="34" charset="-120"/>
              </a:rPr>
              <a:t>Total Books in Stock</a:t>
            </a:r>
            <a:endParaRPr lang="en-US" sz="1600" dirty="0"/>
          </a:p>
        </p:txBody>
      </p:sp>
      <p:sp>
        <p:nvSpPr>
          <p:cNvPr id="12" name="Text 10"/>
          <p:cNvSpPr/>
          <p:nvPr/>
        </p:nvSpPr>
        <p:spPr>
          <a:xfrm>
            <a:off x="1079500" y="2476500"/>
            <a:ext cx="4064000" cy="508000"/>
          </a:xfrm>
          <a:prstGeom prst="rect">
            <a:avLst/>
          </a:prstGeom>
          <a:noFill/>
          <a:ln/>
        </p:spPr>
        <p:txBody>
          <a:bodyPr wrap="none" lIns="0" tIns="0" rIns="0" bIns="0" rtlCol="0" anchor="ctr"/>
          <a:lstStyle/>
          <a:p>
            <a:pPr>
              <a:lnSpc>
                <a:spcPct val="100000"/>
              </a:lnSpc>
            </a:pPr>
            <a:r>
              <a:rPr lang="en-US" sz="3600" b="1" dirty="0">
                <a:solidFill>
                  <a:srgbClr val="F2EDE4"/>
                </a:solidFill>
                <a:latin typeface="Liter" pitchFamily="34" charset="0"/>
                <a:ea typeface="Liter" pitchFamily="34" charset="-122"/>
                <a:cs typeface="Liter" pitchFamily="34" charset="-120"/>
              </a:rPr>
              <a:t>2,847</a:t>
            </a:r>
            <a:endParaRPr lang="en-US" sz="1600" dirty="0"/>
          </a:p>
        </p:txBody>
      </p:sp>
      <p:sp>
        <p:nvSpPr>
          <p:cNvPr id="13" name="Shape 11"/>
          <p:cNvSpPr/>
          <p:nvPr/>
        </p:nvSpPr>
        <p:spPr>
          <a:xfrm>
            <a:off x="5778500" y="1778000"/>
            <a:ext cx="4699000" cy="1397000"/>
          </a:xfrm>
          <a:prstGeom prst="rect">
            <a:avLst/>
          </a:prstGeom>
          <a:solidFill>
            <a:srgbClr val="1E3A3A"/>
          </a:solidFill>
          <a:ln/>
        </p:spPr>
      </p:sp>
      <p:sp>
        <p:nvSpPr>
          <p:cNvPr id="14" name="Shape 12"/>
          <p:cNvSpPr/>
          <p:nvPr/>
        </p:nvSpPr>
        <p:spPr>
          <a:xfrm>
            <a:off x="6051550" y="2032000"/>
            <a:ext cx="444500" cy="355600"/>
          </a:xfrm>
          <a:custGeom>
            <a:avLst/>
            <a:gdLst/>
            <a:ahLst/>
            <a:cxnLst/>
            <a:rect l="l" t="t" r="r" b="b"/>
            <a:pathLst>
              <a:path w="444500" h="355600">
                <a:moveTo>
                  <a:pt x="16669" y="-11112"/>
                </a:moveTo>
                <a:cubicBezTo>
                  <a:pt x="7431" y="-11112"/>
                  <a:pt x="0" y="-3681"/>
                  <a:pt x="0" y="5556"/>
                </a:cubicBezTo>
                <a:cubicBezTo>
                  <a:pt x="0" y="14794"/>
                  <a:pt x="7431" y="22225"/>
                  <a:pt x="16669" y="22225"/>
                </a:cubicBezTo>
                <a:lnTo>
                  <a:pt x="48131" y="22225"/>
                </a:lnTo>
                <a:cubicBezTo>
                  <a:pt x="50840" y="22225"/>
                  <a:pt x="53132" y="24170"/>
                  <a:pt x="53618" y="26809"/>
                </a:cubicBezTo>
                <a:lnTo>
                  <a:pt x="89803" y="225653"/>
                </a:lnTo>
                <a:cubicBezTo>
                  <a:pt x="94109" y="249406"/>
                  <a:pt x="114806" y="266700"/>
                  <a:pt x="138976" y="266700"/>
                </a:cubicBezTo>
                <a:lnTo>
                  <a:pt x="316706" y="266700"/>
                </a:lnTo>
                <a:cubicBezTo>
                  <a:pt x="325944" y="266700"/>
                  <a:pt x="333375" y="259269"/>
                  <a:pt x="333375" y="250031"/>
                </a:cubicBezTo>
                <a:cubicBezTo>
                  <a:pt x="333375" y="240794"/>
                  <a:pt x="325944" y="233363"/>
                  <a:pt x="316706" y="233363"/>
                </a:cubicBezTo>
                <a:lnTo>
                  <a:pt x="138976" y="233363"/>
                </a:lnTo>
                <a:cubicBezTo>
                  <a:pt x="130919" y="233363"/>
                  <a:pt x="124043" y="227598"/>
                  <a:pt x="122585" y="219680"/>
                </a:cubicBezTo>
                <a:lnTo>
                  <a:pt x="119043" y="200025"/>
                </a:lnTo>
                <a:lnTo>
                  <a:pt x="329902" y="200025"/>
                </a:lnTo>
                <a:cubicBezTo>
                  <a:pt x="351294" y="200025"/>
                  <a:pt x="369630" y="184815"/>
                  <a:pt x="373588" y="163770"/>
                </a:cubicBezTo>
                <a:lnTo>
                  <a:pt x="395119" y="48548"/>
                </a:lnTo>
                <a:cubicBezTo>
                  <a:pt x="397689" y="34865"/>
                  <a:pt x="387201" y="22225"/>
                  <a:pt x="373241" y="22225"/>
                </a:cubicBezTo>
                <a:lnTo>
                  <a:pt x="86608" y="22225"/>
                </a:lnTo>
                <a:lnTo>
                  <a:pt x="86330" y="20836"/>
                </a:lnTo>
                <a:cubicBezTo>
                  <a:pt x="82996" y="2361"/>
                  <a:pt x="66883" y="-11112"/>
                  <a:pt x="48062" y="-11112"/>
                </a:cubicBezTo>
                <a:lnTo>
                  <a:pt x="16669" y="-11112"/>
                </a:lnTo>
                <a:close/>
                <a:moveTo>
                  <a:pt x="144463" y="355600"/>
                </a:moveTo>
                <a:cubicBezTo>
                  <a:pt x="162862" y="355600"/>
                  <a:pt x="177800" y="340662"/>
                  <a:pt x="177800" y="322263"/>
                </a:cubicBezTo>
                <a:cubicBezTo>
                  <a:pt x="177800" y="303863"/>
                  <a:pt x="162862" y="288925"/>
                  <a:pt x="144463" y="288925"/>
                </a:cubicBezTo>
                <a:cubicBezTo>
                  <a:pt x="126063" y="288925"/>
                  <a:pt x="111125" y="303863"/>
                  <a:pt x="111125" y="322263"/>
                </a:cubicBezTo>
                <a:cubicBezTo>
                  <a:pt x="111125" y="340662"/>
                  <a:pt x="126063" y="355600"/>
                  <a:pt x="144463" y="355600"/>
                </a:cubicBezTo>
                <a:close/>
                <a:moveTo>
                  <a:pt x="300038" y="355600"/>
                </a:moveTo>
                <a:cubicBezTo>
                  <a:pt x="318437" y="355600"/>
                  <a:pt x="333375" y="340662"/>
                  <a:pt x="333375" y="322263"/>
                </a:cubicBezTo>
                <a:cubicBezTo>
                  <a:pt x="333375" y="303863"/>
                  <a:pt x="318437" y="288925"/>
                  <a:pt x="300038" y="288925"/>
                </a:cubicBezTo>
                <a:cubicBezTo>
                  <a:pt x="281638" y="288925"/>
                  <a:pt x="266700" y="303863"/>
                  <a:pt x="266700" y="322263"/>
                </a:cubicBezTo>
                <a:cubicBezTo>
                  <a:pt x="266700" y="340662"/>
                  <a:pt x="281638" y="355600"/>
                  <a:pt x="300038" y="355600"/>
                </a:cubicBezTo>
                <a:close/>
              </a:path>
            </a:pathLst>
          </a:custGeom>
          <a:solidFill>
            <a:srgbClr val="B87333"/>
          </a:solidFill>
          <a:ln/>
        </p:spPr>
      </p:sp>
      <p:sp>
        <p:nvSpPr>
          <p:cNvPr id="15" name="Text 13"/>
          <p:cNvSpPr/>
          <p:nvPr/>
        </p:nvSpPr>
        <p:spPr>
          <a:xfrm>
            <a:off x="6604000" y="2006600"/>
            <a:ext cx="3556000" cy="304800"/>
          </a:xfrm>
          <a:prstGeom prst="rect">
            <a:avLst/>
          </a:prstGeom>
          <a:noFill/>
          <a:ln/>
        </p:spPr>
        <p:txBody>
          <a:bodyPr wrap="none" lIns="0" tIns="0" rIns="0" bIns="0" rtlCol="0" anchor="ctr"/>
          <a:lstStyle/>
          <a:p>
            <a:pPr>
              <a:lnSpc>
                <a:spcPct val="100000"/>
              </a:lnSpc>
            </a:pPr>
            <a:r>
              <a:rPr lang="en-US" sz="1400" dirty="0">
                <a:solidFill>
                  <a:srgbClr val="B8C4C4"/>
                </a:solidFill>
                <a:latin typeface="Quattrocento Sans" pitchFamily="34" charset="0"/>
                <a:ea typeface="Quattrocento Sans" pitchFamily="34" charset="-122"/>
                <a:cs typeface="Quattrocento Sans" pitchFamily="34" charset="-120"/>
              </a:rPr>
              <a:t>Total Orders Processed</a:t>
            </a:r>
            <a:endParaRPr lang="en-US" sz="1600" dirty="0"/>
          </a:p>
        </p:txBody>
      </p:sp>
      <p:sp>
        <p:nvSpPr>
          <p:cNvPr id="16" name="Text 14"/>
          <p:cNvSpPr/>
          <p:nvPr/>
        </p:nvSpPr>
        <p:spPr>
          <a:xfrm>
            <a:off x="6096000" y="2476500"/>
            <a:ext cx="4064000" cy="508000"/>
          </a:xfrm>
          <a:prstGeom prst="rect">
            <a:avLst/>
          </a:prstGeom>
          <a:noFill/>
          <a:ln/>
        </p:spPr>
        <p:txBody>
          <a:bodyPr wrap="none" lIns="0" tIns="0" rIns="0" bIns="0" rtlCol="0" anchor="ctr"/>
          <a:lstStyle/>
          <a:p>
            <a:pPr>
              <a:lnSpc>
                <a:spcPct val="100000"/>
              </a:lnSpc>
            </a:pPr>
            <a:r>
              <a:rPr lang="en-US" sz="3600" b="1" dirty="0">
                <a:solidFill>
                  <a:srgbClr val="F2EDE4"/>
                </a:solidFill>
                <a:latin typeface="Liter" pitchFamily="34" charset="0"/>
                <a:ea typeface="Liter" pitchFamily="34" charset="-122"/>
                <a:cs typeface="Liter" pitchFamily="34" charset="-120"/>
              </a:rPr>
              <a:t>1,256</a:t>
            </a:r>
            <a:endParaRPr lang="en-US" sz="1600" dirty="0"/>
          </a:p>
        </p:txBody>
      </p:sp>
      <p:sp>
        <p:nvSpPr>
          <p:cNvPr id="17" name="Shape 15"/>
          <p:cNvSpPr/>
          <p:nvPr/>
        </p:nvSpPr>
        <p:spPr>
          <a:xfrm>
            <a:off x="10795000" y="1778000"/>
            <a:ext cx="4699000" cy="1397000"/>
          </a:xfrm>
          <a:prstGeom prst="rect">
            <a:avLst/>
          </a:prstGeom>
          <a:solidFill>
            <a:srgbClr val="1E3A3A"/>
          </a:solidFill>
          <a:ln/>
        </p:spPr>
      </p:sp>
      <p:sp>
        <p:nvSpPr>
          <p:cNvPr id="18" name="Shape 16"/>
          <p:cNvSpPr/>
          <p:nvPr/>
        </p:nvSpPr>
        <p:spPr>
          <a:xfrm>
            <a:off x="11068050" y="2032000"/>
            <a:ext cx="444500" cy="355600"/>
          </a:xfrm>
          <a:custGeom>
            <a:avLst/>
            <a:gdLst/>
            <a:ahLst/>
            <a:cxnLst/>
            <a:rect l="l" t="t" r="r" b="b"/>
            <a:pathLst>
              <a:path w="444500" h="355600">
                <a:moveTo>
                  <a:pt x="222250" y="11112"/>
                </a:moveTo>
                <a:cubicBezTo>
                  <a:pt x="262116" y="11112"/>
                  <a:pt x="294481" y="43478"/>
                  <a:pt x="294481" y="83344"/>
                </a:cubicBezTo>
                <a:cubicBezTo>
                  <a:pt x="294481" y="123209"/>
                  <a:pt x="262116" y="155575"/>
                  <a:pt x="222250" y="155575"/>
                </a:cubicBezTo>
                <a:cubicBezTo>
                  <a:pt x="182384" y="155575"/>
                  <a:pt x="150019" y="123209"/>
                  <a:pt x="150019" y="83344"/>
                </a:cubicBezTo>
                <a:cubicBezTo>
                  <a:pt x="150019" y="43478"/>
                  <a:pt x="182384" y="11113"/>
                  <a:pt x="222250" y="11112"/>
                </a:cubicBezTo>
                <a:close/>
                <a:moveTo>
                  <a:pt x="66675" y="61119"/>
                </a:moveTo>
                <a:cubicBezTo>
                  <a:pt x="94274" y="61119"/>
                  <a:pt x="116681" y="83526"/>
                  <a:pt x="116681" y="111125"/>
                </a:cubicBezTo>
                <a:cubicBezTo>
                  <a:pt x="116681" y="138724"/>
                  <a:pt x="94274" y="161131"/>
                  <a:pt x="66675" y="161131"/>
                </a:cubicBezTo>
                <a:cubicBezTo>
                  <a:pt x="39076" y="161131"/>
                  <a:pt x="16669" y="138724"/>
                  <a:pt x="16669" y="111125"/>
                </a:cubicBezTo>
                <a:cubicBezTo>
                  <a:pt x="16669" y="83526"/>
                  <a:pt x="39076" y="61119"/>
                  <a:pt x="66675" y="61119"/>
                </a:cubicBezTo>
                <a:close/>
                <a:moveTo>
                  <a:pt x="0" y="288925"/>
                </a:moveTo>
                <a:cubicBezTo>
                  <a:pt x="0" y="239822"/>
                  <a:pt x="39797" y="200025"/>
                  <a:pt x="88900" y="200025"/>
                </a:cubicBezTo>
                <a:cubicBezTo>
                  <a:pt x="97790" y="200025"/>
                  <a:pt x="106402" y="201345"/>
                  <a:pt x="114528" y="203775"/>
                </a:cubicBezTo>
                <a:cubicBezTo>
                  <a:pt x="91678" y="229334"/>
                  <a:pt x="77788" y="263088"/>
                  <a:pt x="77788" y="300038"/>
                </a:cubicBezTo>
                <a:lnTo>
                  <a:pt x="77788" y="311150"/>
                </a:lnTo>
                <a:cubicBezTo>
                  <a:pt x="77788" y="319068"/>
                  <a:pt x="79454" y="326569"/>
                  <a:pt x="82441" y="333375"/>
                </a:cubicBezTo>
                <a:lnTo>
                  <a:pt x="22225" y="333375"/>
                </a:lnTo>
                <a:cubicBezTo>
                  <a:pt x="9932" y="333375"/>
                  <a:pt x="0" y="323443"/>
                  <a:pt x="0" y="311150"/>
                </a:cubicBezTo>
                <a:lnTo>
                  <a:pt x="0" y="288925"/>
                </a:lnTo>
                <a:close/>
                <a:moveTo>
                  <a:pt x="362059" y="333375"/>
                </a:moveTo>
                <a:cubicBezTo>
                  <a:pt x="365046" y="326569"/>
                  <a:pt x="366712" y="319068"/>
                  <a:pt x="366712" y="311150"/>
                </a:cubicBezTo>
                <a:lnTo>
                  <a:pt x="366712" y="300038"/>
                </a:lnTo>
                <a:cubicBezTo>
                  <a:pt x="366712" y="263088"/>
                  <a:pt x="352822" y="229334"/>
                  <a:pt x="329972" y="203775"/>
                </a:cubicBezTo>
                <a:cubicBezTo>
                  <a:pt x="338098" y="201345"/>
                  <a:pt x="346710" y="200025"/>
                  <a:pt x="355600" y="200025"/>
                </a:cubicBezTo>
                <a:cubicBezTo>
                  <a:pt x="404703" y="200025"/>
                  <a:pt x="444500" y="239822"/>
                  <a:pt x="444500" y="288925"/>
                </a:cubicBezTo>
                <a:lnTo>
                  <a:pt x="444500" y="311150"/>
                </a:lnTo>
                <a:cubicBezTo>
                  <a:pt x="444500" y="323443"/>
                  <a:pt x="434568" y="333375"/>
                  <a:pt x="422275" y="333375"/>
                </a:cubicBezTo>
                <a:lnTo>
                  <a:pt x="362059" y="333375"/>
                </a:lnTo>
                <a:close/>
                <a:moveTo>
                  <a:pt x="327819" y="111125"/>
                </a:moveTo>
                <a:cubicBezTo>
                  <a:pt x="327819" y="83526"/>
                  <a:pt x="350226" y="61119"/>
                  <a:pt x="377825" y="61119"/>
                </a:cubicBezTo>
                <a:cubicBezTo>
                  <a:pt x="405424" y="61119"/>
                  <a:pt x="427831" y="83526"/>
                  <a:pt x="427831" y="111125"/>
                </a:cubicBezTo>
                <a:cubicBezTo>
                  <a:pt x="427831" y="138724"/>
                  <a:pt x="405424" y="161131"/>
                  <a:pt x="377825" y="161131"/>
                </a:cubicBezTo>
                <a:cubicBezTo>
                  <a:pt x="350226" y="161131"/>
                  <a:pt x="327819" y="138724"/>
                  <a:pt x="327819" y="111125"/>
                </a:cubicBezTo>
                <a:close/>
                <a:moveTo>
                  <a:pt x="111125" y="300038"/>
                </a:moveTo>
                <a:cubicBezTo>
                  <a:pt x="111125" y="238641"/>
                  <a:pt x="160853" y="188913"/>
                  <a:pt x="222250" y="188913"/>
                </a:cubicBezTo>
                <a:cubicBezTo>
                  <a:pt x="283647" y="188913"/>
                  <a:pt x="333375" y="238641"/>
                  <a:pt x="333375" y="300038"/>
                </a:cubicBezTo>
                <a:lnTo>
                  <a:pt x="333375" y="311150"/>
                </a:lnTo>
                <a:cubicBezTo>
                  <a:pt x="333375" y="323443"/>
                  <a:pt x="323443" y="333375"/>
                  <a:pt x="311150" y="333375"/>
                </a:cubicBezTo>
                <a:lnTo>
                  <a:pt x="133350" y="333375"/>
                </a:lnTo>
                <a:cubicBezTo>
                  <a:pt x="121057" y="333375"/>
                  <a:pt x="111125" y="323443"/>
                  <a:pt x="111125" y="311150"/>
                </a:cubicBezTo>
                <a:lnTo>
                  <a:pt x="111125" y="300038"/>
                </a:lnTo>
                <a:close/>
              </a:path>
            </a:pathLst>
          </a:custGeom>
          <a:solidFill>
            <a:srgbClr val="B87333"/>
          </a:solidFill>
          <a:ln/>
        </p:spPr>
      </p:sp>
      <p:sp>
        <p:nvSpPr>
          <p:cNvPr id="19" name="Text 17"/>
          <p:cNvSpPr/>
          <p:nvPr/>
        </p:nvSpPr>
        <p:spPr>
          <a:xfrm>
            <a:off x="11620500" y="2006600"/>
            <a:ext cx="3556000" cy="304800"/>
          </a:xfrm>
          <a:prstGeom prst="rect">
            <a:avLst/>
          </a:prstGeom>
          <a:noFill/>
          <a:ln/>
        </p:spPr>
        <p:txBody>
          <a:bodyPr wrap="none" lIns="0" tIns="0" rIns="0" bIns="0" rtlCol="0" anchor="ctr"/>
          <a:lstStyle/>
          <a:p>
            <a:pPr>
              <a:lnSpc>
                <a:spcPct val="100000"/>
              </a:lnSpc>
            </a:pPr>
            <a:r>
              <a:rPr lang="en-US" sz="1400" dirty="0">
                <a:solidFill>
                  <a:srgbClr val="B8C4C4"/>
                </a:solidFill>
                <a:latin typeface="Quattrocento Sans" pitchFamily="34" charset="0"/>
                <a:ea typeface="Quattrocento Sans" pitchFamily="34" charset="-122"/>
                <a:cs typeface="Quattrocento Sans" pitchFamily="34" charset="-120"/>
              </a:rPr>
              <a:t>Unique Customers</a:t>
            </a:r>
            <a:endParaRPr lang="en-US" sz="1600" dirty="0"/>
          </a:p>
        </p:txBody>
      </p:sp>
      <p:sp>
        <p:nvSpPr>
          <p:cNvPr id="20" name="Text 18"/>
          <p:cNvSpPr/>
          <p:nvPr/>
        </p:nvSpPr>
        <p:spPr>
          <a:xfrm>
            <a:off x="11112500" y="2476500"/>
            <a:ext cx="4064000" cy="508000"/>
          </a:xfrm>
          <a:prstGeom prst="rect">
            <a:avLst/>
          </a:prstGeom>
          <a:noFill/>
          <a:ln/>
        </p:spPr>
        <p:txBody>
          <a:bodyPr wrap="none" lIns="0" tIns="0" rIns="0" bIns="0" rtlCol="0" anchor="ctr"/>
          <a:lstStyle/>
          <a:p>
            <a:pPr>
              <a:lnSpc>
                <a:spcPct val="100000"/>
              </a:lnSpc>
            </a:pPr>
            <a:r>
              <a:rPr lang="en-US" sz="3600" b="1" dirty="0">
                <a:solidFill>
                  <a:srgbClr val="F2EDE4"/>
                </a:solidFill>
                <a:latin typeface="Liter" pitchFamily="34" charset="0"/>
                <a:ea typeface="Liter" pitchFamily="34" charset="-122"/>
                <a:cs typeface="Liter" pitchFamily="34" charset="-120"/>
              </a:rPr>
              <a:t>342</a:t>
            </a:r>
            <a:endParaRPr lang="en-US" sz="1600" dirty="0"/>
          </a:p>
        </p:txBody>
      </p:sp>
      <p:sp>
        <p:nvSpPr>
          <p:cNvPr id="21" name="Text 19"/>
          <p:cNvSpPr/>
          <p:nvPr/>
        </p:nvSpPr>
        <p:spPr>
          <a:xfrm>
            <a:off x="762000" y="3492500"/>
            <a:ext cx="5080000" cy="355600"/>
          </a:xfrm>
          <a:prstGeom prst="rect">
            <a:avLst/>
          </a:prstGeom>
          <a:noFill/>
          <a:ln/>
        </p:spPr>
        <p:txBody>
          <a:bodyPr wrap="none" lIns="0" tIns="0" rIns="0" bIns="0" rtlCol="0" anchor="ctr"/>
          <a:lstStyle/>
          <a:p>
            <a:pPr>
              <a:lnSpc>
                <a:spcPct val="100000"/>
              </a:lnSpc>
            </a:pPr>
            <a:r>
              <a:rPr lang="en-US" sz="2200" dirty="0">
                <a:solidFill>
                  <a:srgbClr val="1E3A3A"/>
                </a:solidFill>
                <a:latin typeface="Liter" pitchFamily="34" charset="0"/>
                <a:ea typeface="Liter" pitchFamily="34" charset="-122"/>
                <a:cs typeface="Liter" pitchFamily="34" charset="-120"/>
              </a:rPr>
              <a:t>Stock Levels by Genre</a:t>
            </a:r>
            <a:endParaRPr lang="en-US" sz="2200" dirty="0"/>
          </a:p>
        </p:txBody>
      </p:sp>
      <p:graphicFrame>
        <p:nvGraphicFramePr>
          <p:cNvPr id="22" name="Chart 0" descr=""/>
          <p:cNvGraphicFramePr/>
          <p:nvPr/>
        </p:nvGraphicFramePr>
        <p:xfrm>
          <a:off x="762000" y="3937000"/>
          <a:ext cx="7620000" cy="4445000"/>
        </p:xfrm>
        <a:graphic xmlns:a="http://schemas.openxmlformats.org/drawingml/2006/main">
          <a:graphicData uri="http://schemas.openxmlformats.org/drawingml/2006/chart">
            <c:chart xmlns:c="http://schemas.openxmlformats.org/drawingml/2006/chart" r:id="rId1"/>
          </a:graphicData>
        </a:graphic>
      </p:graphicFrame>
      <p:sp>
        <p:nvSpPr>
          <p:cNvPr id="23" name="Text 20"/>
          <p:cNvSpPr/>
          <p:nvPr/>
        </p:nvSpPr>
        <p:spPr>
          <a:xfrm>
            <a:off x="8890000" y="3492500"/>
            <a:ext cx="5080000" cy="355600"/>
          </a:xfrm>
          <a:prstGeom prst="rect">
            <a:avLst/>
          </a:prstGeom>
          <a:noFill/>
          <a:ln/>
        </p:spPr>
        <p:txBody>
          <a:bodyPr wrap="none" lIns="0" tIns="0" rIns="0" bIns="0" rtlCol="0" anchor="ctr"/>
          <a:lstStyle/>
          <a:p>
            <a:pPr>
              <a:lnSpc>
                <a:spcPct val="100000"/>
              </a:lnSpc>
            </a:pPr>
            <a:r>
              <a:rPr lang="en-US" sz="2200" dirty="0">
                <a:solidFill>
                  <a:srgbClr val="1E3A3A"/>
                </a:solidFill>
                <a:latin typeface="Liter" pitchFamily="34" charset="0"/>
                <a:ea typeface="Liter" pitchFamily="34" charset="-122"/>
                <a:cs typeface="Liter" pitchFamily="34" charset="-120"/>
              </a:rPr>
              <a:t>Customer Spending Analysis</a:t>
            </a:r>
            <a:endParaRPr lang="en-US" sz="2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890000" y="3937000"/>
          <a:ext cx="6604000" cy="4445000"/>
        </p:xfrm>
        <a:graphic>
          <a:graphicData uri="http://schemas.openxmlformats.org/drawingml/2006/table">
            <a:tbl>
              <a:tblPr/>
              <a:tblGrid>
                <a:gridCol w="2971800"/>
                <a:gridCol w="1981200"/>
                <a:gridCol w="1651000"/>
              </a:tblGrid>
              <a:tr h="622300">
                <a:tc>
                  <a:txBody>
                    <a:bodyPr/>
                    <a:lstStyle/>
                    <a:p>
                      <a:pPr algn="l"/>
                      <a:r>
                        <a:rPr lang="en-US" sz="1400" b="1" u="none" dirty="0">
                          <a:solidFill>
                            <a:srgbClr val="F2EDE4"/>
                          </a:solidFill>
                          <a:latin typeface="QuattrocentoSans" pitchFamily="34" charset="0"/>
                          <a:ea typeface="QuattrocentoSans" pitchFamily="34" charset="-122"/>
                          <a:cs typeface="QuattrocentoSans" pitchFamily="34" charset="-120"/>
                        </a:rPr>
                        <a:t>Customer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1E3A3A"/>
                    </a:solidFill>
                  </a:tcPr>
                </a:tc>
                <a:tc>
                  <a:txBody>
                    <a:bodyPr/>
                    <a:lstStyle/>
                    <a:p>
                      <a:pPr algn="l"/>
                      <a:r>
                        <a:rPr lang="en-US" sz="1400" b="1" u="none" dirty="0">
                          <a:solidFill>
                            <a:srgbClr val="F2EDE4"/>
                          </a:solidFill>
                          <a:latin typeface="QuattrocentoSans" pitchFamily="34" charset="0"/>
                          <a:ea typeface="QuattrocentoSans" pitchFamily="34" charset="-122"/>
                          <a:cs typeface="QuattrocentoSans" pitchFamily="34" charset="-120"/>
                        </a:rPr>
                        <a:t>Total Spent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1E3A3A"/>
                    </a:solidFill>
                  </a:tcPr>
                </a:tc>
                <a:tc>
                  <a:txBody>
                    <a:bodyPr/>
                    <a:lstStyle/>
                    <a:p>
                      <a:pPr algn="l"/>
                      <a:r>
                        <a:rPr lang="en-US" sz="1400" b="1" u="none" dirty="0">
                          <a:solidFill>
                            <a:srgbClr val="F2EDE4"/>
                          </a:solidFill>
                          <a:latin typeface="QuattrocentoSans" pitchFamily="34" charset="0"/>
                          <a:ea typeface="QuattrocentoSans" pitchFamily="34" charset="-122"/>
                          <a:cs typeface="QuattrocentoSans" pitchFamily="34" charset="-120"/>
                        </a:rPr>
                        <a:t>Orders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1E3A3A"/>
                    </a:solidFill>
                  </a:tcPr>
                </a:tc>
              </a:tr>
              <a:tr h="546100">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Sarah Johnson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$1,245.50</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12</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r>
              <a:tr h="546100">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Michael Chen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$987.30</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9</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r>
              <a:tr h="546100">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Emma Williams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$856.75</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8</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r>
              <a:tr h="546100">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James Brown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$743.20</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7</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r>
              <a:tr h="546100">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Lisa Davis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$698.90</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6</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r>
              <a:tr h="546100">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Robert Wilson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$612.40</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6</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E8E2D6"/>
                    </a:solidFill>
                  </a:tcPr>
                </a:tc>
              </a:tr>
              <a:tr h="546100">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Anna Martinez</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$534.15</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c>
                  <a:txBody>
                    <a:bodyPr/>
                    <a:lstStyle/>
                    <a:p>
                      <a:pPr algn="l"/>
                      <a:r>
                        <a:rPr lang="en-US" sz="1400" u="none" dirty="0">
                          <a:solidFill>
                            <a:srgbClr val="1C1C1C"/>
                          </a:solidFill>
                          <a:latin typeface="QuattrocentoSans" pitchFamily="34" charset="0"/>
                          <a:ea typeface="QuattrocentoSans" pitchFamily="34" charset="-122"/>
                          <a:cs typeface="QuattrocentoSans" pitchFamily="34" charset="-120"/>
                        </a:rPr>
                        <a:t>5</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5CFC6"/>
                      </a:solidFill>
                      <a:prstDash val="solid"/>
                      <a:round/>
                      <a:headEnd type="none" w="med" len="med"/>
                      <a:tailEnd type="none" w="med" len="med"/>
                    </a:lnL>
                    <a:lnR w="12700" cap="flat" cmpd="sng" algn="ctr">
                      <a:solidFill>
                        <a:srgbClr val="D5CFC6"/>
                      </a:solidFill>
                      <a:prstDash val="solid"/>
                      <a:round/>
                      <a:headEnd type="none" w="med" len="med"/>
                      <a:tailEnd type="none" w="med" len="med"/>
                    </a:lnR>
                    <a:lnT w="12700" cap="flat" cmpd="sng" algn="ctr">
                      <a:solidFill>
                        <a:srgbClr val="D5CFC6"/>
                      </a:solidFill>
                      <a:prstDash val="solid"/>
                      <a:round/>
                      <a:headEnd type="none" w="med" len="med"/>
                      <a:tailEnd type="none" w="med" len="med"/>
                    </a:lnT>
                    <a:lnB w="12700" cap="flat" cmpd="sng" algn="ctr">
                      <a:solidFill>
                        <a:srgbClr val="D5CFC6"/>
                      </a:solidFill>
                      <a:prstDash val="solid"/>
                      <a:round/>
                      <a:headEnd type="none" w="med" len="med"/>
                      <a:tailEnd type="none" w="med" len="med"/>
                    </a:lnB>
                    <a:solidFill>
                      <a:srgbClr val="F2EDE4"/>
                    </a:solidFill>
                  </a:tcPr>
                </a:tc>
              </a:tr>
            </a:tbl>
          </a:graphicData>
        </a:graphic>
      </p:graphicFrame>
      <p:sp>
        <p:nvSpPr>
          <p:cNvPr id="25" name="Text 21"/>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8A9B8A"/>
                </a:solidFill>
                <a:latin typeface="QuattrocentoSans" pitchFamily="34" charset="0"/>
                <a:ea typeface="QuattrocentoSans" pitchFamily="34" charset="-122"/>
                <a:cs typeface="QuattrocentoSans" pitchFamily="34" charset="-120"/>
              </a:rPr>
              <a:t>12</a:t>
            </a:r>
            <a:endParaRPr lang="en-US" sz="12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EDE4"/>
        </a:solidFill>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E3A3A"/>
          </a:solidFill>
          <a:ln/>
        </p:spPr>
      </p:sp>
      <p:sp>
        <p:nvSpPr>
          <p:cNvPr id="3" name="Text 1"/>
          <p:cNvSpPr/>
          <p:nvPr/>
        </p:nvSpPr>
        <p:spPr>
          <a:xfrm>
            <a:off x="0" y="0"/>
            <a:ext cx="5422900" cy="558800"/>
          </a:xfrm>
          <a:prstGeom prst="rect">
            <a:avLst/>
          </a:prstGeom>
          <a:noFill/>
          <a:ln/>
        </p:spPr>
        <p:txBody>
          <a:bodyPr wrap="none" lIns="0" tIns="0" rIns="0" bIns="0" rtlCol="0" anchor="ctr"/>
          <a:lstStyle/>
          <a:p>
            <a:pPr algn="ctr">
              <a:lnSpc>
                <a:spcPct val="100000"/>
              </a:lnSpc>
            </a:pPr>
            <a:r>
              <a:rPr lang="en-US" sz="1200" spc="100" kern="0" dirty="0">
                <a:solidFill>
                  <a:srgbClr val="8A9B8A"/>
                </a:solidFill>
                <a:latin typeface="QuattrocentoSans" pitchFamily="34" charset="0"/>
                <a:ea typeface="QuattrocentoSans" pitchFamily="34" charset="-122"/>
                <a:cs typeface="QuattrocentoSans" pitchFamily="34" charset="-120"/>
              </a:rPr>
              <a:t>PROJECT OVERVIEW</a:t>
            </a:r>
            <a:endParaRPr lang="en-US" sz="1200" dirty="0"/>
          </a:p>
        </p:txBody>
      </p:sp>
      <p:sp>
        <p:nvSpPr>
          <p:cNvPr id="4" name="Text 2"/>
          <p:cNvSpPr/>
          <p:nvPr/>
        </p:nvSpPr>
        <p:spPr>
          <a:xfrm>
            <a:off x="5422900" y="0"/>
            <a:ext cx="5410200" cy="558800"/>
          </a:xfrm>
          <a:prstGeom prst="rect">
            <a:avLst/>
          </a:prstGeom>
          <a:noFill/>
          <a:ln/>
        </p:spPr>
        <p:txBody>
          <a:bodyPr wrap="none" lIns="0" tIns="0" rIns="0" bIns="0" rtlCol="0" anchor="ctr"/>
          <a:lstStyle/>
          <a:p>
            <a:pPr algn="ctr">
              <a:lnSpc>
                <a:spcPct val="100000"/>
              </a:lnSpc>
            </a:pPr>
            <a:r>
              <a:rPr lang="en-US" sz="1200" spc="100" kern="0" dirty="0">
                <a:solidFill>
                  <a:srgbClr val="8A9B8A"/>
                </a:solidFill>
                <a:latin typeface="QuattrocentoSans" pitchFamily="34" charset="0"/>
                <a:ea typeface="QuattrocentoSans" pitchFamily="34" charset="-122"/>
                <a:cs typeface="QuattrocentoSans" pitchFamily="34" charset="-120"/>
              </a:rPr>
              <a:t>QUERY SOLUTIONS</a:t>
            </a:r>
            <a:endParaRPr lang="en-US" sz="1200" dirty="0"/>
          </a:p>
        </p:txBody>
      </p:sp>
      <p:sp>
        <p:nvSpPr>
          <p:cNvPr id="5" name="Text 3"/>
          <p:cNvSpPr/>
          <p:nvPr/>
        </p:nvSpPr>
        <p:spPr>
          <a:xfrm>
            <a:off x="10833100" y="0"/>
            <a:ext cx="5422900" cy="558800"/>
          </a:xfrm>
          <a:prstGeom prst="rect">
            <a:avLst/>
          </a:prstGeom>
          <a:noFill/>
          <a:ln/>
        </p:spPr>
        <p:txBody>
          <a:bodyPr wrap="none" lIns="0" tIns="0" rIns="0" bIns="0" rtlCol="0" anchor="ctr"/>
          <a:lstStyle/>
          <a:p>
            <a:pPr algn="ctr">
              <a:lnSpc>
                <a:spcPct val="100000"/>
              </a:lnSpc>
            </a:pPr>
            <a:r>
              <a:rPr lang="en-US" sz="1200" b="1" spc="100" kern="0" dirty="0">
                <a:solidFill>
                  <a:srgbClr val="F2EDE4"/>
                </a:solidFill>
                <a:latin typeface="QuattrocentoSans" pitchFamily="34" charset="0"/>
                <a:ea typeface="QuattrocentoSans" pitchFamily="34" charset="-122"/>
                <a:cs typeface="QuattrocentoSans" pitchFamily="34" charset="-120"/>
              </a:rPr>
              <a:t>ANALYTICS &amp; INSIGHTS</a:t>
            </a:r>
            <a:endParaRPr lang="en-US" sz="1200" dirty="0"/>
          </a:p>
        </p:txBody>
      </p:sp>
      <p:sp>
        <p:nvSpPr>
          <p:cNvPr id="6" name="Shape 4"/>
          <p:cNvSpPr/>
          <p:nvPr/>
        </p:nvSpPr>
        <p:spPr>
          <a:xfrm>
            <a:off x="12357100" y="558800"/>
            <a:ext cx="2374900" cy="50800"/>
          </a:xfrm>
          <a:prstGeom prst="rect">
            <a:avLst/>
          </a:prstGeom>
          <a:solidFill>
            <a:srgbClr val="B87333"/>
          </a:solidFill>
          <a:ln/>
        </p:spPr>
      </p:sp>
      <p:sp>
        <p:nvSpPr>
          <p:cNvPr id="7" name="Text 5"/>
          <p:cNvSpPr/>
          <p:nvPr/>
        </p:nvSpPr>
        <p:spPr>
          <a:xfrm>
            <a:off x="762000" y="914400"/>
            <a:ext cx="7620000" cy="508000"/>
          </a:xfrm>
          <a:prstGeom prst="rect">
            <a:avLst/>
          </a:prstGeom>
          <a:noFill/>
          <a:ln/>
        </p:spPr>
        <p:txBody>
          <a:bodyPr wrap="none" lIns="0" tIns="0" rIns="0" bIns="0" rtlCol="0" anchor="ctr"/>
          <a:lstStyle/>
          <a:p>
            <a:pPr>
              <a:lnSpc>
                <a:spcPct val="100000"/>
              </a:lnSpc>
            </a:pPr>
            <a:r>
              <a:rPr lang="en-US" sz="2800" dirty="0">
                <a:solidFill>
                  <a:srgbClr val="1E3A3A"/>
                </a:solidFill>
                <a:latin typeface="Liter" pitchFamily="34" charset="0"/>
                <a:ea typeface="Liter" pitchFamily="34" charset="-122"/>
                <a:cs typeface="Liter" pitchFamily="34" charset="-120"/>
              </a:rPr>
              <a:t>Project Statistics &amp; Skills</a:t>
            </a:r>
            <a:endParaRPr lang="en-US" sz="2800" dirty="0"/>
          </a:p>
        </p:txBody>
      </p:sp>
      <p:sp>
        <p:nvSpPr>
          <p:cNvPr id="8" name="Shape 6"/>
          <p:cNvSpPr/>
          <p:nvPr/>
        </p:nvSpPr>
        <p:spPr>
          <a:xfrm>
            <a:off x="762000" y="1498600"/>
            <a:ext cx="762000" cy="38100"/>
          </a:xfrm>
          <a:prstGeom prst="rect">
            <a:avLst/>
          </a:prstGeom>
          <a:solidFill>
            <a:srgbClr val="B87333"/>
          </a:solidFill>
          <a:ln/>
        </p:spPr>
      </p:sp>
      <p:sp>
        <p:nvSpPr>
          <p:cNvPr id="9" name="Shape 7"/>
          <p:cNvSpPr/>
          <p:nvPr/>
        </p:nvSpPr>
        <p:spPr>
          <a:xfrm>
            <a:off x="762000" y="1841500"/>
            <a:ext cx="2794000" cy="1651000"/>
          </a:xfrm>
          <a:prstGeom prst="rect">
            <a:avLst/>
          </a:prstGeom>
          <a:solidFill>
            <a:srgbClr val="E8E2D6"/>
          </a:solidFill>
          <a:ln/>
        </p:spPr>
      </p:sp>
      <p:sp>
        <p:nvSpPr>
          <p:cNvPr id="10" name="Text 8"/>
          <p:cNvSpPr/>
          <p:nvPr/>
        </p:nvSpPr>
        <p:spPr>
          <a:xfrm>
            <a:off x="952500" y="1968500"/>
            <a:ext cx="2413000" cy="698500"/>
          </a:xfrm>
          <a:prstGeom prst="rect">
            <a:avLst/>
          </a:prstGeom>
          <a:noFill/>
          <a:ln/>
        </p:spPr>
        <p:txBody>
          <a:bodyPr wrap="none" lIns="0" tIns="0" rIns="0" bIns="0" rtlCol="0" anchor="ctr"/>
          <a:lstStyle/>
          <a:p>
            <a:pPr algn="ctr">
              <a:lnSpc>
                <a:spcPct val="100000"/>
              </a:lnSpc>
            </a:pPr>
            <a:r>
              <a:rPr lang="en-US" sz="4200" dirty="0">
                <a:solidFill>
                  <a:srgbClr val="B87333"/>
                </a:solidFill>
                <a:latin typeface="Liter" pitchFamily="34" charset="0"/>
                <a:ea typeface="Liter" pitchFamily="34" charset="-122"/>
                <a:cs typeface="Liter" pitchFamily="34" charset="-120"/>
              </a:rPr>
              <a:t>3</a:t>
            </a:r>
            <a:endParaRPr lang="en-US" sz="4200" dirty="0"/>
          </a:p>
        </p:txBody>
      </p:sp>
      <p:sp>
        <p:nvSpPr>
          <p:cNvPr id="11" name="Text 9"/>
          <p:cNvSpPr/>
          <p:nvPr/>
        </p:nvSpPr>
        <p:spPr>
          <a:xfrm>
            <a:off x="952500" y="2730500"/>
            <a:ext cx="2413000" cy="571500"/>
          </a:xfrm>
          <a:prstGeom prst="rect">
            <a:avLst/>
          </a:prstGeom>
          <a:noFill/>
          <a:ln/>
        </p:spPr>
        <p:txBody>
          <a:bodyPr wrap="square" lIns="0" tIns="0" rIns="0" bIns="0" rtlCol="0" anchor="t"/>
          <a:lstStyle/>
          <a:p>
            <a:pPr algn="ctr">
              <a:lnSpc>
                <a:spcPct val="140000"/>
              </a:lnSpc>
            </a:pPr>
            <a:r>
              <a:rPr lang="en-US" sz="1400" dirty="0">
                <a:solidFill>
                  <a:srgbClr val="1C1C1C"/>
                </a:solidFill>
                <a:latin typeface="Quattrocento Sans" pitchFamily="34" charset="0"/>
                <a:ea typeface="Quattrocento Sans" pitchFamily="34" charset="-122"/>
                <a:cs typeface="Quattrocento Sans" pitchFamily="34" charset="-120"/>
              </a:rPr>
              <a:t>Database Tables</a:t>
            </a:r>
            <a:endParaRPr lang="en-US" sz="1600" dirty="0"/>
          </a:p>
        </p:txBody>
      </p:sp>
      <p:sp>
        <p:nvSpPr>
          <p:cNvPr id="12" name="Shape 10"/>
          <p:cNvSpPr/>
          <p:nvPr/>
        </p:nvSpPr>
        <p:spPr>
          <a:xfrm>
            <a:off x="3873500" y="1841500"/>
            <a:ext cx="2794000" cy="1651000"/>
          </a:xfrm>
          <a:prstGeom prst="rect">
            <a:avLst/>
          </a:prstGeom>
          <a:solidFill>
            <a:srgbClr val="E8E2D6"/>
          </a:solidFill>
          <a:ln/>
        </p:spPr>
      </p:sp>
      <p:sp>
        <p:nvSpPr>
          <p:cNvPr id="13" name="Text 11"/>
          <p:cNvSpPr/>
          <p:nvPr/>
        </p:nvSpPr>
        <p:spPr>
          <a:xfrm>
            <a:off x="4064000" y="1968500"/>
            <a:ext cx="2413000" cy="698500"/>
          </a:xfrm>
          <a:prstGeom prst="rect">
            <a:avLst/>
          </a:prstGeom>
          <a:noFill/>
          <a:ln/>
        </p:spPr>
        <p:txBody>
          <a:bodyPr wrap="none" lIns="0" tIns="0" rIns="0" bIns="0" rtlCol="0" anchor="ctr"/>
          <a:lstStyle/>
          <a:p>
            <a:pPr algn="ctr">
              <a:lnSpc>
                <a:spcPct val="100000"/>
              </a:lnSpc>
            </a:pPr>
            <a:r>
              <a:rPr lang="en-US" sz="4200" dirty="0">
                <a:solidFill>
                  <a:srgbClr val="B87333"/>
                </a:solidFill>
                <a:latin typeface="Liter" pitchFamily="34" charset="0"/>
                <a:ea typeface="Liter" pitchFamily="34" charset="-122"/>
                <a:cs typeface="Liter" pitchFamily="34" charset="-120"/>
              </a:rPr>
              <a:t>20+</a:t>
            </a:r>
            <a:endParaRPr lang="en-US" sz="4200" dirty="0"/>
          </a:p>
        </p:txBody>
      </p:sp>
      <p:sp>
        <p:nvSpPr>
          <p:cNvPr id="14" name="Text 12"/>
          <p:cNvSpPr/>
          <p:nvPr/>
        </p:nvSpPr>
        <p:spPr>
          <a:xfrm>
            <a:off x="4064000" y="2730500"/>
            <a:ext cx="2413000" cy="571500"/>
          </a:xfrm>
          <a:prstGeom prst="rect">
            <a:avLst/>
          </a:prstGeom>
          <a:noFill/>
          <a:ln/>
        </p:spPr>
        <p:txBody>
          <a:bodyPr wrap="square" lIns="0" tIns="0" rIns="0" bIns="0" rtlCol="0" anchor="t"/>
          <a:lstStyle/>
          <a:p>
            <a:pPr algn="ctr">
              <a:lnSpc>
                <a:spcPct val="140000"/>
              </a:lnSpc>
            </a:pPr>
            <a:r>
              <a:rPr lang="en-US" sz="1400" dirty="0">
                <a:solidFill>
                  <a:srgbClr val="1C1C1C"/>
                </a:solidFill>
                <a:latin typeface="Quattrocento Sans" pitchFamily="34" charset="0"/>
                <a:ea typeface="Quattrocento Sans" pitchFamily="34" charset="-122"/>
                <a:cs typeface="Quattrocento Sans" pitchFamily="34" charset="-120"/>
              </a:rPr>
              <a:t>SQL Queries</a:t>
            </a:r>
            <a:endParaRPr lang="en-US" sz="1600" dirty="0"/>
          </a:p>
        </p:txBody>
      </p:sp>
      <p:sp>
        <p:nvSpPr>
          <p:cNvPr id="15" name="Shape 13"/>
          <p:cNvSpPr/>
          <p:nvPr/>
        </p:nvSpPr>
        <p:spPr>
          <a:xfrm>
            <a:off x="6985000" y="1841500"/>
            <a:ext cx="2794000" cy="1651000"/>
          </a:xfrm>
          <a:prstGeom prst="rect">
            <a:avLst/>
          </a:prstGeom>
          <a:solidFill>
            <a:srgbClr val="E8E2D6"/>
          </a:solidFill>
          <a:ln/>
        </p:spPr>
      </p:sp>
      <p:sp>
        <p:nvSpPr>
          <p:cNvPr id="16" name="Text 14"/>
          <p:cNvSpPr/>
          <p:nvPr/>
        </p:nvSpPr>
        <p:spPr>
          <a:xfrm>
            <a:off x="7175500" y="1968500"/>
            <a:ext cx="2413000" cy="698500"/>
          </a:xfrm>
          <a:prstGeom prst="rect">
            <a:avLst/>
          </a:prstGeom>
          <a:noFill/>
          <a:ln/>
        </p:spPr>
        <p:txBody>
          <a:bodyPr wrap="none" lIns="0" tIns="0" rIns="0" bIns="0" rtlCol="0" anchor="ctr"/>
          <a:lstStyle/>
          <a:p>
            <a:pPr algn="ctr">
              <a:lnSpc>
                <a:spcPct val="100000"/>
              </a:lnSpc>
            </a:pPr>
            <a:r>
              <a:rPr lang="en-US" sz="4200" dirty="0">
                <a:solidFill>
                  <a:srgbClr val="B87333"/>
                </a:solidFill>
                <a:latin typeface="Liter" pitchFamily="34" charset="0"/>
                <a:ea typeface="Liter" pitchFamily="34" charset="-122"/>
                <a:cs typeface="Liter" pitchFamily="34" charset="-120"/>
              </a:rPr>
              <a:t>8</a:t>
            </a:r>
            <a:endParaRPr lang="en-US" sz="4200" dirty="0"/>
          </a:p>
        </p:txBody>
      </p:sp>
      <p:sp>
        <p:nvSpPr>
          <p:cNvPr id="17" name="Text 15"/>
          <p:cNvSpPr/>
          <p:nvPr/>
        </p:nvSpPr>
        <p:spPr>
          <a:xfrm>
            <a:off x="7175500" y="2730500"/>
            <a:ext cx="2413000" cy="571500"/>
          </a:xfrm>
          <a:prstGeom prst="rect">
            <a:avLst/>
          </a:prstGeom>
          <a:noFill/>
          <a:ln/>
        </p:spPr>
        <p:txBody>
          <a:bodyPr wrap="square" lIns="0" tIns="0" rIns="0" bIns="0" rtlCol="0" anchor="t"/>
          <a:lstStyle/>
          <a:p>
            <a:pPr algn="ctr">
              <a:lnSpc>
                <a:spcPct val="140000"/>
              </a:lnSpc>
            </a:pPr>
            <a:r>
              <a:rPr lang="en-US" sz="1400" dirty="0">
                <a:solidFill>
                  <a:srgbClr val="1C1C1C"/>
                </a:solidFill>
                <a:latin typeface="Quattrocento Sans" pitchFamily="34" charset="0"/>
                <a:ea typeface="Quattrocento Sans" pitchFamily="34" charset="-122"/>
                <a:cs typeface="Quattrocento Sans" pitchFamily="34" charset="-120"/>
              </a:rPr>
              <a:t>SQL Concepts</a:t>
            </a:r>
            <a:endParaRPr lang="en-US" sz="1600" dirty="0"/>
          </a:p>
        </p:txBody>
      </p:sp>
      <p:sp>
        <p:nvSpPr>
          <p:cNvPr id="18" name="Shape 16"/>
          <p:cNvSpPr/>
          <p:nvPr/>
        </p:nvSpPr>
        <p:spPr>
          <a:xfrm>
            <a:off x="10096500" y="1841500"/>
            <a:ext cx="2794000" cy="1651000"/>
          </a:xfrm>
          <a:prstGeom prst="rect">
            <a:avLst/>
          </a:prstGeom>
          <a:solidFill>
            <a:srgbClr val="E8E2D6"/>
          </a:solidFill>
          <a:ln/>
        </p:spPr>
      </p:sp>
      <p:sp>
        <p:nvSpPr>
          <p:cNvPr id="19" name="Text 17"/>
          <p:cNvSpPr/>
          <p:nvPr/>
        </p:nvSpPr>
        <p:spPr>
          <a:xfrm>
            <a:off x="10287000" y="1968500"/>
            <a:ext cx="2413000" cy="698500"/>
          </a:xfrm>
          <a:prstGeom prst="rect">
            <a:avLst/>
          </a:prstGeom>
          <a:noFill/>
          <a:ln/>
        </p:spPr>
        <p:txBody>
          <a:bodyPr wrap="none" lIns="0" tIns="0" rIns="0" bIns="0" rtlCol="0" anchor="ctr"/>
          <a:lstStyle/>
          <a:p>
            <a:pPr algn="ctr">
              <a:lnSpc>
                <a:spcPct val="100000"/>
              </a:lnSpc>
            </a:pPr>
            <a:r>
              <a:rPr lang="en-US" sz="4200" dirty="0">
                <a:solidFill>
                  <a:srgbClr val="B87333"/>
                </a:solidFill>
                <a:latin typeface="Liter" pitchFamily="34" charset="0"/>
                <a:ea typeface="Liter" pitchFamily="34" charset="-122"/>
                <a:cs typeface="Liter" pitchFamily="34" charset="-120"/>
              </a:rPr>
              <a:t>5</a:t>
            </a:r>
            <a:endParaRPr lang="en-US" sz="4200" dirty="0"/>
          </a:p>
        </p:txBody>
      </p:sp>
      <p:sp>
        <p:nvSpPr>
          <p:cNvPr id="20" name="Text 18"/>
          <p:cNvSpPr/>
          <p:nvPr/>
        </p:nvSpPr>
        <p:spPr>
          <a:xfrm>
            <a:off x="10287000" y="2730500"/>
            <a:ext cx="2413000" cy="571500"/>
          </a:xfrm>
          <a:prstGeom prst="rect">
            <a:avLst/>
          </a:prstGeom>
          <a:noFill/>
          <a:ln/>
        </p:spPr>
        <p:txBody>
          <a:bodyPr wrap="square" lIns="0" tIns="0" rIns="0" bIns="0" rtlCol="0" anchor="t"/>
          <a:lstStyle/>
          <a:p>
            <a:pPr algn="ctr">
              <a:lnSpc>
                <a:spcPct val="140000"/>
              </a:lnSpc>
            </a:pPr>
            <a:r>
              <a:rPr lang="en-US" sz="1400" dirty="0">
                <a:solidFill>
                  <a:srgbClr val="1C1C1C"/>
                </a:solidFill>
                <a:latin typeface="Quattrocento Sans" pitchFamily="34" charset="0"/>
                <a:ea typeface="Quattrocento Sans" pitchFamily="34" charset="-122"/>
                <a:cs typeface="Quattrocento Sans" pitchFamily="34" charset="-120"/>
              </a:rPr>
              <a:t>Skills Areas</a:t>
            </a:r>
            <a:endParaRPr lang="en-US" sz="1600" dirty="0"/>
          </a:p>
        </p:txBody>
      </p:sp>
      <p:sp>
        <p:nvSpPr>
          <p:cNvPr id="21" name="Shape 19"/>
          <p:cNvSpPr/>
          <p:nvPr/>
        </p:nvSpPr>
        <p:spPr>
          <a:xfrm>
            <a:off x="13208000" y="1841500"/>
            <a:ext cx="2286000" cy="1651000"/>
          </a:xfrm>
          <a:prstGeom prst="rect">
            <a:avLst/>
          </a:prstGeom>
          <a:solidFill>
            <a:srgbClr val="E8E2D6"/>
          </a:solidFill>
          <a:ln/>
        </p:spPr>
      </p:sp>
      <p:sp>
        <p:nvSpPr>
          <p:cNvPr id="22" name="Shape 20"/>
          <p:cNvSpPr/>
          <p:nvPr/>
        </p:nvSpPr>
        <p:spPr>
          <a:xfrm>
            <a:off x="13970000" y="2032000"/>
            <a:ext cx="457200" cy="457200"/>
          </a:xfrm>
          <a:custGeom>
            <a:avLst/>
            <a:gdLst/>
            <a:ahLst/>
            <a:cxnLst/>
            <a:rect l="l" t="t" r="r" b="b"/>
            <a:pathLst>
              <a:path w="457200" h="457200">
                <a:moveTo>
                  <a:pt x="228600" y="457200"/>
                </a:moveTo>
                <a:cubicBezTo>
                  <a:pt x="354768" y="457200"/>
                  <a:pt x="457200" y="354768"/>
                  <a:pt x="457200" y="228600"/>
                </a:cubicBezTo>
                <a:cubicBezTo>
                  <a:pt x="457200" y="102432"/>
                  <a:pt x="354768" y="0"/>
                  <a:pt x="228600" y="0"/>
                </a:cubicBezTo>
                <a:cubicBezTo>
                  <a:pt x="102432" y="0"/>
                  <a:pt x="0" y="102432"/>
                  <a:pt x="0" y="228600"/>
                </a:cubicBezTo>
                <a:cubicBezTo>
                  <a:pt x="0" y="354768"/>
                  <a:pt x="102432" y="457200"/>
                  <a:pt x="228600" y="457200"/>
                </a:cubicBezTo>
                <a:close/>
                <a:moveTo>
                  <a:pt x="303967" y="189934"/>
                </a:moveTo>
                <a:lnTo>
                  <a:pt x="232529" y="304234"/>
                </a:lnTo>
                <a:cubicBezTo>
                  <a:pt x="228779" y="310217"/>
                  <a:pt x="222349" y="313968"/>
                  <a:pt x="215295" y="314325"/>
                </a:cubicBezTo>
                <a:cubicBezTo>
                  <a:pt x="208240" y="314682"/>
                  <a:pt x="201454" y="311468"/>
                  <a:pt x="197257" y="305753"/>
                </a:cubicBezTo>
                <a:lnTo>
                  <a:pt x="154394" y="248602"/>
                </a:lnTo>
                <a:cubicBezTo>
                  <a:pt x="147251" y="239137"/>
                  <a:pt x="149215" y="225743"/>
                  <a:pt x="158681" y="218599"/>
                </a:cubicBezTo>
                <a:cubicBezTo>
                  <a:pt x="168146" y="211455"/>
                  <a:pt x="181541" y="213420"/>
                  <a:pt x="188684" y="222885"/>
                </a:cubicBezTo>
                <a:lnTo>
                  <a:pt x="212794" y="255032"/>
                </a:lnTo>
                <a:lnTo>
                  <a:pt x="267623" y="167253"/>
                </a:lnTo>
                <a:cubicBezTo>
                  <a:pt x="273874" y="157252"/>
                  <a:pt x="287089" y="154126"/>
                  <a:pt x="297180" y="160466"/>
                </a:cubicBezTo>
                <a:cubicBezTo>
                  <a:pt x="307271" y="166807"/>
                  <a:pt x="310307" y="179933"/>
                  <a:pt x="303967" y="190024"/>
                </a:cubicBezTo>
                <a:close/>
              </a:path>
            </a:pathLst>
          </a:custGeom>
          <a:solidFill>
            <a:srgbClr val="4A7C59"/>
          </a:solidFill>
          <a:ln/>
        </p:spPr>
      </p:sp>
      <p:sp>
        <p:nvSpPr>
          <p:cNvPr id="23" name="Text 21"/>
          <p:cNvSpPr/>
          <p:nvPr/>
        </p:nvSpPr>
        <p:spPr>
          <a:xfrm>
            <a:off x="13398500" y="2603500"/>
            <a:ext cx="1905000" cy="698500"/>
          </a:xfrm>
          <a:prstGeom prst="rect">
            <a:avLst/>
          </a:prstGeom>
          <a:noFill/>
          <a:ln/>
        </p:spPr>
        <p:txBody>
          <a:bodyPr wrap="square" lIns="0" tIns="0" rIns="0" bIns="0" rtlCol="0" anchor="t"/>
          <a:lstStyle/>
          <a:p>
            <a:pPr algn="ctr">
              <a:lnSpc>
                <a:spcPct val="140000"/>
              </a:lnSpc>
            </a:pPr>
            <a:r>
              <a:rPr lang="en-US" sz="1400" dirty="0">
                <a:solidFill>
                  <a:srgbClr val="1C1C1C"/>
                </a:solidFill>
                <a:latin typeface="Quattrocento Sans" pitchFamily="34" charset="0"/>
                <a:ea typeface="Quattrocento Sans" pitchFamily="34" charset="-122"/>
                <a:cs typeface="Quattrocento Sans" pitchFamily="34" charset="-120"/>
              </a:rPr>
              <a:t>CSV Import Pipeline</a:t>
            </a:r>
            <a:endParaRPr lang="en-US" sz="1600" dirty="0"/>
          </a:p>
        </p:txBody>
      </p:sp>
      <p:sp>
        <p:nvSpPr>
          <p:cNvPr id="24" name="Text 22"/>
          <p:cNvSpPr/>
          <p:nvPr/>
        </p:nvSpPr>
        <p:spPr>
          <a:xfrm>
            <a:off x="762000" y="3810000"/>
            <a:ext cx="5080000" cy="355600"/>
          </a:xfrm>
          <a:prstGeom prst="rect">
            <a:avLst/>
          </a:prstGeom>
          <a:noFill/>
          <a:ln/>
        </p:spPr>
        <p:txBody>
          <a:bodyPr wrap="none" lIns="0" tIns="0" rIns="0" bIns="0" rtlCol="0" anchor="ctr"/>
          <a:lstStyle/>
          <a:p>
            <a:pPr>
              <a:lnSpc>
                <a:spcPct val="100000"/>
              </a:lnSpc>
            </a:pPr>
            <a:r>
              <a:rPr lang="en-US" sz="2200" dirty="0">
                <a:solidFill>
                  <a:srgbClr val="1E3A3A"/>
                </a:solidFill>
                <a:latin typeface="Liter" pitchFamily="34" charset="0"/>
                <a:ea typeface="Liter" pitchFamily="34" charset="-122"/>
                <a:cs typeface="Liter" pitchFamily="34" charset="-120"/>
              </a:rPr>
              <a:t>Skills Proficiency</a:t>
            </a:r>
            <a:endParaRPr lang="en-US" sz="2200" dirty="0"/>
          </a:p>
        </p:txBody>
      </p:sp>
      <p:graphicFrame>
        <p:nvGraphicFramePr>
          <p:cNvPr id="25" name="Chart 0" descr=""/>
          <p:cNvGraphicFramePr/>
          <p:nvPr/>
        </p:nvGraphicFramePr>
        <p:xfrm>
          <a:off x="762000" y="4254500"/>
          <a:ext cx="7112000" cy="4191000"/>
        </p:xfrm>
        <a:graphic xmlns:a="http://schemas.openxmlformats.org/drawingml/2006/main">
          <a:graphicData uri="http://schemas.openxmlformats.org/drawingml/2006/chart">
            <c:chart xmlns:c="http://schemas.openxmlformats.org/drawingml/2006/chart" r:id="rId1"/>
          </a:graphicData>
        </a:graphic>
      </p:graphicFrame>
      <p:sp>
        <p:nvSpPr>
          <p:cNvPr id="26" name="Text 23"/>
          <p:cNvSpPr/>
          <p:nvPr/>
        </p:nvSpPr>
        <p:spPr>
          <a:xfrm>
            <a:off x="8636000" y="3810000"/>
            <a:ext cx="5080000" cy="355600"/>
          </a:xfrm>
          <a:prstGeom prst="rect">
            <a:avLst/>
          </a:prstGeom>
          <a:noFill/>
          <a:ln/>
        </p:spPr>
        <p:txBody>
          <a:bodyPr wrap="none" lIns="0" tIns="0" rIns="0" bIns="0" rtlCol="0" anchor="ctr"/>
          <a:lstStyle/>
          <a:p>
            <a:pPr>
              <a:lnSpc>
                <a:spcPct val="100000"/>
              </a:lnSpc>
            </a:pPr>
            <a:r>
              <a:rPr lang="en-US" sz="2200" dirty="0">
                <a:solidFill>
                  <a:srgbClr val="1E3A3A"/>
                </a:solidFill>
                <a:latin typeface="Liter" pitchFamily="34" charset="0"/>
                <a:ea typeface="Liter" pitchFamily="34" charset="-122"/>
                <a:cs typeface="Liter" pitchFamily="34" charset="-120"/>
              </a:rPr>
              <a:t>Skills Demonstrated</a:t>
            </a:r>
            <a:endParaRPr lang="en-US" sz="2200" dirty="0"/>
          </a:p>
        </p:txBody>
      </p:sp>
      <p:sp>
        <p:nvSpPr>
          <p:cNvPr id="27" name="Shape 24"/>
          <p:cNvSpPr/>
          <p:nvPr/>
        </p:nvSpPr>
        <p:spPr>
          <a:xfrm>
            <a:off x="8636000" y="4318000"/>
            <a:ext cx="6858000" cy="698500"/>
          </a:xfrm>
          <a:prstGeom prst="rect">
            <a:avLst/>
          </a:prstGeom>
          <a:solidFill>
            <a:srgbClr val="1E3A3A"/>
          </a:solidFill>
          <a:ln/>
        </p:spPr>
      </p:sp>
      <p:sp>
        <p:nvSpPr>
          <p:cNvPr id="28" name="Shape 25"/>
          <p:cNvSpPr/>
          <p:nvPr/>
        </p:nvSpPr>
        <p:spPr>
          <a:xfrm>
            <a:off x="8912225" y="4483100"/>
            <a:ext cx="311150" cy="355600"/>
          </a:xfrm>
          <a:custGeom>
            <a:avLst/>
            <a:gdLst/>
            <a:ahLst/>
            <a:cxnLst/>
            <a:rect l="l" t="t" r="r" b="b"/>
            <a:pathLst>
              <a:path w="311150" h="355600">
                <a:moveTo>
                  <a:pt x="311150" y="142935"/>
                </a:moveTo>
                <a:cubicBezTo>
                  <a:pt x="300871" y="149741"/>
                  <a:pt x="289064" y="155228"/>
                  <a:pt x="276771" y="159603"/>
                </a:cubicBezTo>
                <a:cubicBezTo>
                  <a:pt x="244128" y="171271"/>
                  <a:pt x="201275" y="177800"/>
                  <a:pt x="155575" y="177800"/>
                </a:cubicBezTo>
                <a:cubicBezTo>
                  <a:pt x="109875" y="177800"/>
                  <a:pt x="66953" y="171202"/>
                  <a:pt x="34379" y="159603"/>
                </a:cubicBezTo>
                <a:cubicBezTo>
                  <a:pt x="22156" y="155228"/>
                  <a:pt x="10279" y="149741"/>
                  <a:pt x="0" y="142935"/>
                </a:cubicBezTo>
                <a:lnTo>
                  <a:pt x="0" y="200025"/>
                </a:lnTo>
                <a:cubicBezTo>
                  <a:pt x="0" y="230723"/>
                  <a:pt x="69661" y="255587"/>
                  <a:pt x="155575" y="255587"/>
                </a:cubicBezTo>
                <a:cubicBezTo>
                  <a:pt x="241489" y="255587"/>
                  <a:pt x="311150" y="230723"/>
                  <a:pt x="311150" y="200025"/>
                </a:cubicBezTo>
                <a:lnTo>
                  <a:pt x="311150" y="142935"/>
                </a:lnTo>
                <a:close/>
                <a:moveTo>
                  <a:pt x="311150" y="88900"/>
                </a:moveTo>
                <a:lnTo>
                  <a:pt x="311150" y="55563"/>
                </a:lnTo>
                <a:cubicBezTo>
                  <a:pt x="311150" y="24864"/>
                  <a:pt x="241489" y="0"/>
                  <a:pt x="155575" y="0"/>
                </a:cubicBezTo>
                <a:cubicBezTo>
                  <a:pt x="69661" y="0"/>
                  <a:pt x="0" y="24864"/>
                  <a:pt x="0" y="55563"/>
                </a:cubicBezTo>
                <a:lnTo>
                  <a:pt x="0" y="88900"/>
                </a:lnTo>
                <a:cubicBezTo>
                  <a:pt x="0" y="119598"/>
                  <a:pt x="69661" y="144463"/>
                  <a:pt x="155575" y="144463"/>
                </a:cubicBezTo>
                <a:cubicBezTo>
                  <a:pt x="241489" y="144463"/>
                  <a:pt x="311150" y="119598"/>
                  <a:pt x="311150" y="88900"/>
                </a:cubicBezTo>
                <a:close/>
                <a:moveTo>
                  <a:pt x="276771" y="270728"/>
                </a:moveTo>
                <a:cubicBezTo>
                  <a:pt x="244197" y="282327"/>
                  <a:pt x="201345" y="288925"/>
                  <a:pt x="155575" y="288925"/>
                </a:cubicBezTo>
                <a:cubicBezTo>
                  <a:pt x="109805" y="288925"/>
                  <a:pt x="66953" y="282327"/>
                  <a:pt x="34379" y="270728"/>
                </a:cubicBezTo>
                <a:cubicBezTo>
                  <a:pt x="22156" y="266353"/>
                  <a:pt x="10279" y="260866"/>
                  <a:pt x="0" y="254060"/>
                </a:cubicBezTo>
                <a:lnTo>
                  <a:pt x="0" y="300038"/>
                </a:lnTo>
                <a:cubicBezTo>
                  <a:pt x="0" y="330736"/>
                  <a:pt x="69661" y="355600"/>
                  <a:pt x="155575" y="355600"/>
                </a:cubicBezTo>
                <a:cubicBezTo>
                  <a:pt x="241489" y="355600"/>
                  <a:pt x="311150" y="330736"/>
                  <a:pt x="311150" y="300038"/>
                </a:cubicBezTo>
                <a:lnTo>
                  <a:pt x="311150" y="254060"/>
                </a:lnTo>
                <a:cubicBezTo>
                  <a:pt x="300871" y="260866"/>
                  <a:pt x="289064" y="266353"/>
                  <a:pt x="276771" y="270728"/>
                </a:cubicBezTo>
                <a:close/>
              </a:path>
            </a:pathLst>
          </a:custGeom>
          <a:solidFill>
            <a:srgbClr val="B87333"/>
          </a:solidFill>
          <a:ln/>
        </p:spPr>
      </p:sp>
      <p:sp>
        <p:nvSpPr>
          <p:cNvPr id="29" name="Text 26"/>
          <p:cNvSpPr/>
          <p:nvPr/>
        </p:nvSpPr>
        <p:spPr>
          <a:xfrm>
            <a:off x="9398000" y="4318000"/>
            <a:ext cx="5842000" cy="698500"/>
          </a:xfrm>
          <a:prstGeom prst="rect">
            <a:avLst/>
          </a:prstGeom>
          <a:noFill/>
          <a:ln/>
        </p:spPr>
        <p:txBody>
          <a:bodyPr wrap="none" lIns="0" tIns="0" rIns="0" bIns="0" rtlCol="0" anchor="ctr"/>
          <a:lstStyle/>
          <a:p>
            <a:pPr>
              <a:lnSpc>
                <a:spcPct val="100000"/>
              </a:lnSpc>
            </a:pPr>
            <a:r>
              <a:rPr lang="en-US" sz="1800" b="1" dirty="0">
                <a:solidFill>
                  <a:srgbClr val="F2EDE4"/>
                </a:solidFill>
                <a:latin typeface="Quattrocento Sans" pitchFamily="34" charset="0"/>
                <a:ea typeface="Quattrocento Sans" pitchFamily="34" charset="-122"/>
                <a:cs typeface="Quattrocento Sans" pitchFamily="34" charset="-120"/>
              </a:rPr>
              <a:t>MySQL</a:t>
            </a:r>
            <a:pPr>
              <a:lnSpc>
                <a:spcPct val="100000"/>
              </a:lnSpc>
            </a:pPr>
            <a:r>
              <a:rPr lang="en-US" sz="1800" dirty="0">
                <a:solidFill>
                  <a:srgbClr val="F2EDE4"/>
                </a:solidFill>
                <a:latin typeface="Quattrocento Sans" pitchFamily="34" charset="0"/>
                <a:ea typeface="Quattrocento Sans" pitchFamily="34" charset="-122"/>
                <a:cs typeface="Quattrocento Sans" pitchFamily="34" charset="-120"/>
              </a:rPr>
              <a:t> — Schema design, queries, optimization</a:t>
            </a:r>
            <a:endParaRPr lang="en-US" sz="1600" dirty="0"/>
          </a:p>
        </p:txBody>
      </p:sp>
      <p:sp>
        <p:nvSpPr>
          <p:cNvPr id="30" name="Shape 27"/>
          <p:cNvSpPr/>
          <p:nvPr/>
        </p:nvSpPr>
        <p:spPr>
          <a:xfrm>
            <a:off x="8636000" y="5143500"/>
            <a:ext cx="6858000" cy="698500"/>
          </a:xfrm>
          <a:prstGeom prst="rect">
            <a:avLst/>
          </a:prstGeom>
          <a:solidFill>
            <a:srgbClr val="1E3A3A"/>
          </a:solidFill>
          <a:ln/>
        </p:spPr>
      </p:sp>
      <p:sp>
        <p:nvSpPr>
          <p:cNvPr id="31" name="Shape 28"/>
          <p:cNvSpPr/>
          <p:nvPr/>
        </p:nvSpPr>
        <p:spPr>
          <a:xfrm>
            <a:off x="8912225" y="5308600"/>
            <a:ext cx="311150" cy="355600"/>
          </a:xfrm>
          <a:custGeom>
            <a:avLst/>
            <a:gdLst/>
            <a:ahLst/>
            <a:cxnLst/>
            <a:rect l="l" t="t" r="r" b="b"/>
            <a:pathLst>
              <a:path w="311150" h="355600">
                <a:moveTo>
                  <a:pt x="0" y="66675"/>
                </a:moveTo>
                <a:cubicBezTo>
                  <a:pt x="0" y="42158"/>
                  <a:pt x="19933" y="22225"/>
                  <a:pt x="44450" y="22225"/>
                </a:cubicBezTo>
                <a:lnTo>
                  <a:pt x="266700" y="22225"/>
                </a:lnTo>
                <a:cubicBezTo>
                  <a:pt x="291217" y="22225"/>
                  <a:pt x="311150" y="42158"/>
                  <a:pt x="311150" y="66675"/>
                </a:cubicBezTo>
                <a:lnTo>
                  <a:pt x="311150" y="288925"/>
                </a:lnTo>
                <a:cubicBezTo>
                  <a:pt x="311150" y="313442"/>
                  <a:pt x="291217" y="333375"/>
                  <a:pt x="266700" y="333375"/>
                </a:cubicBezTo>
                <a:lnTo>
                  <a:pt x="44450" y="333375"/>
                </a:lnTo>
                <a:cubicBezTo>
                  <a:pt x="19933" y="333375"/>
                  <a:pt x="0" y="313442"/>
                  <a:pt x="0" y="288925"/>
                </a:cubicBezTo>
                <a:lnTo>
                  <a:pt x="0" y="66675"/>
                </a:lnTo>
                <a:close/>
                <a:moveTo>
                  <a:pt x="44450" y="111125"/>
                </a:moveTo>
                <a:lnTo>
                  <a:pt x="44450" y="288925"/>
                </a:lnTo>
                <a:lnTo>
                  <a:pt x="133350" y="288925"/>
                </a:lnTo>
                <a:lnTo>
                  <a:pt x="133350" y="111125"/>
                </a:lnTo>
                <a:lnTo>
                  <a:pt x="44450" y="111125"/>
                </a:lnTo>
                <a:close/>
                <a:moveTo>
                  <a:pt x="266700" y="111125"/>
                </a:moveTo>
                <a:lnTo>
                  <a:pt x="177800" y="111125"/>
                </a:lnTo>
                <a:lnTo>
                  <a:pt x="177800" y="288925"/>
                </a:lnTo>
                <a:lnTo>
                  <a:pt x="266700" y="288925"/>
                </a:lnTo>
                <a:lnTo>
                  <a:pt x="266700" y="111125"/>
                </a:lnTo>
                <a:close/>
              </a:path>
            </a:pathLst>
          </a:custGeom>
          <a:solidFill>
            <a:srgbClr val="B87333"/>
          </a:solidFill>
          <a:ln/>
        </p:spPr>
      </p:sp>
      <p:sp>
        <p:nvSpPr>
          <p:cNvPr id="32" name="Text 29"/>
          <p:cNvSpPr/>
          <p:nvPr/>
        </p:nvSpPr>
        <p:spPr>
          <a:xfrm>
            <a:off x="9398000" y="5143500"/>
            <a:ext cx="5842000" cy="698500"/>
          </a:xfrm>
          <a:prstGeom prst="rect">
            <a:avLst/>
          </a:prstGeom>
          <a:noFill/>
          <a:ln/>
        </p:spPr>
        <p:txBody>
          <a:bodyPr wrap="none" lIns="0" tIns="0" rIns="0" bIns="0" rtlCol="0" anchor="ctr"/>
          <a:lstStyle/>
          <a:p>
            <a:pPr>
              <a:lnSpc>
                <a:spcPct val="100000"/>
              </a:lnSpc>
            </a:pPr>
            <a:r>
              <a:rPr lang="en-US" sz="1800" b="1" dirty="0">
                <a:solidFill>
                  <a:srgbClr val="F2EDE4"/>
                </a:solidFill>
                <a:latin typeface="Quattrocento Sans" pitchFamily="34" charset="0"/>
                <a:ea typeface="Quattrocento Sans" pitchFamily="34" charset="-122"/>
                <a:cs typeface="Quattrocento Sans" pitchFamily="34" charset="-120"/>
              </a:rPr>
              <a:t>Relational Databases</a:t>
            </a:r>
            <a:pPr>
              <a:lnSpc>
                <a:spcPct val="100000"/>
              </a:lnSpc>
            </a:pPr>
            <a:r>
              <a:rPr lang="en-US" sz="1800" dirty="0">
                <a:solidFill>
                  <a:srgbClr val="F2EDE4"/>
                </a:solidFill>
                <a:latin typeface="Quattrocento Sans" pitchFamily="34" charset="0"/>
                <a:ea typeface="Quattrocento Sans" pitchFamily="34" charset="-122"/>
                <a:cs typeface="Quattrocento Sans" pitchFamily="34" charset="-120"/>
              </a:rPr>
              <a:t> — PK/FK, normalization</a:t>
            </a:r>
            <a:endParaRPr lang="en-US" sz="1600" dirty="0"/>
          </a:p>
        </p:txBody>
      </p:sp>
      <p:sp>
        <p:nvSpPr>
          <p:cNvPr id="33" name="Shape 30"/>
          <p:cNvSpPr/>
          <p:nvPr/>
        </p:nvSpPr>
        <p:spPr>
          <a:xfrm>
            <a:off x="8636000" y="5969000"/>
            <a:ext cx="6858000" cy="698500"/>
          </a:xfrm>
          <a:prstGeom prst="rect">
            <a:avLst/>
          </a:prstGeom>
          <a:solidFill>
            <a:srgbClr val="1E3A3A"/>
          </a:solidFill>
          <a:ln/>
        </p:spPr>
      </p:sp>
      <p:sp>
        <p:nvSpPr>
          <p:cNvPr id="34" name="Shape 31"/>
          <p:cNvSpPr/>
          <p:nvPr/>
        </p:nvSpPr>
        <p:spPr>
          <a:xfrm>
            <a:off x="8867775" y="6134100"/>
            <a:ext cx="400050" cy="355600"/>
          </a:xfrm>
          <a:custGeom>
            <a:avLst/>
            <a:gdLst/>
            <a:ahLst/>
            <a:cxnLst/>
            <a:rect l="l" t="t" r="r" b="b"/>
            <a:pathLst>
              <a:path w="400050" h="355600">
                <a:moveTo>
                  <a:pt x="355878" y="166688"/>
                </a:moveTo>
                <a:lnTo>
                  <a:pt x="233640" y="166688"/>
                </a:lnTo>
                <a:cubicBezTo>
                  <a:pt x="221347" y="166688"/>
                  <a:pt x="211415" y="156756"/>
                  <a:pt x="211415" y="144463"/>
                </a:cubicBezTo>
                <a:lnTo>
                  <a:pt x="211415" y="22225"/>
                </a:lnTo>
                <a:cubicBezTo>
                  <a:pt x="211415" y="9932"/>
                  <a:pt x="221417" y="-139"/>
                  <a:pt x="233571" y="1459"/>
                </a:cubicBezTo>
                <a:cubicBezTo>
                  <a:pt x="307886" y="11321"/>
                  <a:pt x="366782" y="70217"/>
                  <a:pt x="376644" y="144532"/>
                </a:cubicBezTo>
                <a:cubicBezTo>
                  <a:pt x="378242" y="156686"/>
                  <a:pt x="368171" y="166688"/>
                  <a:pt x="355878" y="166688"/>
                </a:cubicBezTo>
                <a:close/>
                <a:moveTo>
                  <a:pt x="154603" y="25837"/>
                </a:moveTo>
                <a:cubicBezTo>
                  <a:pt x="167174" y="23197"/>
                  <a:pt x="178078" y="33476"/>
                  <a:pt x="178078" y="46325"/>
                </a:cubicBezTo>
                <a:lnTo>
                  <a:pt x="178078" y="183356"/>
                </a:lnTo>
                <a:cubicBezTo>
                  <a:pt x="178078" y="187246"/>
                  <a:pt x="179467" y="190996"/>
                  <a:pt x="181898" y="193983"/>
                </a:cubicBezTo>
                <a:lnTo>
                  <a:pt x="273645" y="304691"/>
                </a:lnTo>
                <a:cubicBezTo>
                  <a:pt x="281771" y="314484"/>
                  <a:pt x="280035" y="329277"/>
                  <a:pt x="268853" y="335320"/>
                </a:cubicBezTo>
                <a:cubicBezTo>
                  <a:pt x="245170" y="348238"/>
                  <a:pt x="218013" y="355600"/>
                  <a:pt x="189190" y="355600"/>
                </a:cubicBezTo>
                <a:cubicBezTo>
                  <a:pt x="97165" y="355600"/>
                  <a:pt x="22503" y="280938"/>
                  <a:pt x="22503" y="188913"/>
                </a:cubicBezTo>
                <a:cubicBezTo>
                  <a:pt x="22503" y="108694"/>
                  <a:pt x="79107" y="41741"/>
                  <a:pt x="154603" y="25837"/>
                </a:cubicBezTo>
                <a:close/>
                <a:moveTo>
                  <a:pt x="331847" y="200025"/>
                </a:moveTo>
                <a:lnTo>
                  <a:pt x="376297" y="200025"/>
                </a:lnTo>
                <a:cubicBezTo>
                  <a:pt x="389146" y="200025"/>
                  <a:pt x="399425" y="210929"/>
                  <a:pt x="396786" y="223500"/>
                </a:cubicBezTo>
                <a:cubicBezTo>
                  <a:pt x="389701" y="257115"/>
                  <a:pt x="372477" y="286980"/>
                  <a:pt x="348446" y="309761"/>
                </a:cubicBezTo>
                <a:cubicBezTo>
                  <a:pt x="339904" y="317887"/>
                  <a:pt x="326499" y="316151"/>
                  <a:pt x="318998" y="307052"/>
                </a:cubicBezTo>
                <a:lnTo>
                  <a:pt x="260380" y="236418"/>
                </a:lnTo>
                <a:cubicBezTo>
                  <a:pt x="248364" y="221903"/>
                  <a:pt x="258713" y="200025"/>
                  <a:pt x="277465" y="200025"/>
                </a:cubicBezTo>
                <a:lnTo>
                  <a:pt x="331778" y="200025"/>
                </a:lnTo>
                <a:close/>
              </a:path>
            </a:pathLst>
          </a:custGeom>
          <a:solidFill>
            <a:srgbClr val="B87333"/>
          </a:solidFill>
          <a:ln/>
        </p:spPr>
      </p:sp>
      <p:sp>
        <p:nvSpPr>
          <p:cNvPr id="35" name="Text 32"/>
          <p:cNvSpPr/>
          <p:nvPr/>
        </p:nvSpPr>
        <p:spPr>
          <a:xfrm>
            <a:off x="9398000" y="5969000"/>
            <a:ext cx="5842000" cy="698500"/>
          </a:xfrm>
          <a:prstGeom prst="rect">
            <a:avLst/>
          </a:prstGeom>
          <a:noFill/>
          <a:ln/>
        </p:spPr>
        <p:txBody>
          <a:bodyPr wrap="none" lIns="0" tIns="0" rIns="0" bIns="0" rtlCol="0" anchor="ctr"/>
          <a:lstStyle/>
          <a:p>
            <a:pPr>
              <a:lnSpc>
                <a:spcPct val="100000"/>
              </a:lnSpc>
            </a:pPr>
            <a:r>
              <a:rPr lang="en-US" sz="1800" b="1" dirty="0">
                <a:solidFill>
                  <a:srgbClr val="F2EDE4"/>
                </a:solidFill>
                <a:latin typeface="Quattrocento Sans" pitchFamily="34" charset="0"/>
                <a:ea typeface="Quattrocento Sans" pitchFamily="34" charset="-122"/>
                <a:cs typeface="Quattrocento Sans" pitchFamily="34" charset="-120"/>
              </a:rPr>
              <a:t>Data Analysis</a:t>
            </a:r>
            <a:pPr>
              <a:lnSpc>
                <a:spcPct val="100000"/>
              </a:lnSpc>
            </a:pPr>
            <a:r>
              <a:rPr lang="en-US" sz="1800" dirty="0">
                <a:solidFill>
                  <a:srgbClr val="F2EDE4"/>
                </a:solidFill>
                <a:latin typeface="Quattrocento Sans" pitchFamily="34" charset="0"/>
                <a:ea typeface="Quattrocento Sans" pitchFamily="34" charset="-122"/>
                <a:cs typeface="Quattrocento Sans" pitchFamily="34" charset="-120"/>
              </a:rPr>
              <a:t> — Aggregation, reporting, insights</a:t>
            </a:r>
            <a:endParaRPr lang="en-US" sz="1600" dirty="0"/>
          </a:p>
        </p:txBody>
      </p:sp>
      <p:sp>
        <p:nvSpPr>
          <p:cNvPr id="36" name="Shape 33"/>
          <p:cNvSpPr/>
          <p:nvPr/>
        </p:nvSpPr>
        <p:spPr>
          <a:xfrm>
            <a:off x="8636000" y="6794500"/>
            <a:ext cx="6858000" cy="698500"/>
          </a:xfrm>
          <a:prstGeom prst="rect">
            <a:avLst/>
          </a:prstGeom>
          <a:solidFill>
            <a:srgbClr val="1E3A3A"/>
          </a:solidFill>
          <a:ln/>
        </p:spPr>
      </p:sp>
      <p:sp>
        <p:nvSpPr>
          <p:cNvPr id="37" name="Shape 34"/>
          <p:cNvSpPr/>
          <p:nvPr/>
        </p:nvSpPr>
        <p:spPr>
          <a:xfrm>
            <a:off x="8890000" y="6959600"/>
            <a:ext cx="355600" cy="355600"/>
          </a:xfrm>
          <a:custGeom>
            <a:avLst/>
            <a:gdLst/>
            <a:ahLst/>
            <a:cxnLst/>
            <a:rect l="l" t="t" r="r" b="b"/>
            <a:pathLst>
              <a:path w="355600" h="355600">
                <a:moveTo>
                  <a:pt x="155575" y="0"/>
                </a:moveTo>
                <a:lnTo>
                  <a:pt x="155575" y="44450"/>
                </a:lnTo>
                <a:cubicBezTo>
                  <a:pt x="155575" y="50562"/>
                  <a:pt x="160576" y="55563"/>
                  <a:pt x="166688" y="55563"/>
                </a:cubicBezTo>
                <a:lnTo>
                  <a:pt x="188913" y="55563"/>
                </a:lnTo>
                <a:cubicBezTo>
                  <a:pt x="195024" y="55563"/>
                  <a:pt x="200025" y="50562"/>
                  <a:pt x="200025" y="44450"/>
                </a:cubicBezTo>
                <a:lnTo>
                  <a:pt x="200025" y="0"/>
                </a:lnTo>
                <a:lnTo>
                  <a:pt x="222250" y="0"/>
                </a:lnTo>
                <a:cubicBezTo>
                  <a:pt x="246767" y="0"/>
                  <a:pt x="266700" y="19933"/>
                  <a:pt x="266700" y="44450"/>
                </a:cubicBezTo>
                <a:lnTo>
                  <a:pt x="266700" y="133350"/>
                </a:lnTo>
                <a:cubicBezTo>
                  <a:pt x="266700" y="137170"/>
                  <a:pt x="266214" y="140920"/>
                  <a:pt x="265311" y="144463"/>
                </a:cubicBezTo>
                <a:lnTo>
                  <a:pt x="90289" y="144463"/>
                </a:lnTo>
                <a:cubicBezTo>
                  <a:pt x="89386" y="140920"/>
                  <a:pt x="88900" y="137170"/>
                  <a:pt x="88900" y="133350"/>
                </a:cubicBezTo>
                <a:lnTo>
                  <a:pt x="88900" y="44450"/>
                </a:lnTo>
                <a:cubicBezTo>
                  <a:pt x="88900" y="19933"/>
                  <a:pt x="108833" y="0"/>
                  <a:pt x="133350" y="0"/>
                </a:cubicBezTo>
                <a:lnTo>
                  <a:pt x="155575" y="0"/>
                </a:lnTo>
                <a:close/>
                <a:moveTo>
                  <a:pt x="222250" y="355600"/>
                </a:moveTo>
                <a:cubicBezTo>
                  <a:pt x="214471" y="355600"/>
                  <a:pt x="207109" y="353586"/>
                  <a:pt x="200720" y="350044"/>
                </a:cubicBezTo>
                <a:cubicBezTo>
                  <a:pt x="207318" y="338584"/>
                  <a:pt x="211138" y="325318"/>
                  <a:pt x="211138" y="311150"/>
                </a:cubicBezTo>
                <a:lnTo>
                  <a:pt x="211138" y="222250"/>
                </a:lnTo>
                <a:cubicBezTo>
                  <a:pt x="211138" y="208082"/>
                  <a:pt x="207318" y="194816"/>
                  <a:pt x="200720" y="183356"/>
                </a:cubicBezTo>
                <a:cubicBezTo>
                  <a:pt x="207109" y="179814"/>
                  <a:pt x="214402" y="177800"/>
                  <a:pt x="222250" y="177800"/>
                </a:cubicBezTo>
                <a:lnTo>
                  <a:pt x="244475" y="177800"/>
                </a:lnTo>
                <a:lnTo>
                  <a:pt x="244475" y="222250"/>
                </a:lnTo>
                <a:cubicBezTo>
                  <a:pt x="244475" y="228362"/>
                  <a:pt x="249476" y="233363"/>
                  <a:pt x="255587" y="233363"/>
                </a:cubicBezTo>
                <a:lnTo>
                  <a:pt x="277813" y="233363"/>
                </a:lnTo>
                <a:cubicBezTo>
                  <a:pt x="283924" y="233363"/>
                  <a:pt x="288925" y="228362"/>
                  <a:pt x="288925" y="222250"/>
                </a:cubicBezTo>
                <a:lnTo>
                  <a:pt x="288925" y="177800"/>
                </a:lnTo>
                <a:lnTo>
                  <a:pt x="311150" y="177800"/>
                </a:lnTo>
                <a:cubicBezTo>
                  <a:pt x="335667" y="177800"/>
                  <a:pt x="355600" y="197733"/>
                  <a:pt x="355600" y="222250"/>
                </a:cubicBezTo>
                <a:lnTo>
                  <a:pt x="355600" y="311150"/>
                </a:lnTo>
                <a:cubicBezTo>
                  <a:pt x="355600" y="335667"/>
                  <a:pt x="335667" y="355600"/>
                  <a:pt x="311150" y="355600"/>
                </a:cubicBezTo>
                <a:lnTo>
                  <a:pt x="222250" y="355600"/>
                </a:lnTo>
                <a:close/>
                <a:moveTo>
                  <a:pt x="0" y="222250"/>
                </a:moveTo>
                <a:cubicBezTo>
                  <a:pt x="0" y="197733"/>
                  <a:pt x="19933" y="177800"/>
                  <a:pt x="44450" y="177800"/>
                </a:cubicBezTo>
                <a:lnTo>
                  <a:pt x="66675" y="177800"/>
                </a:lnTo>
                <a:lnTo>
                  <a:pt x="66675" y="222250"/>
                </a:lnTo>
                <a:cubicBezTo>
                  <a:pt x="66675" y="228362"/>
                  <a:pt x="71676" y="233363"/>
                  <a:pt x="77788" y="233363"/>
                </a:cubicBezTo>
                <a:lnTo>
                  <a:pt x="100013" y="233363"/>
                </a:lnTo>
                <a:cubicBezTo>
                  <a:pt x="106124" y="233363"/>
                  <a:pt x="111125" y="228362"/>
                  <a:pt x="111125" y="222250"/>
                </a:cubicBezTo>
                <a:lnTo>
                  <a:pt x="111125" y="177800"/>
                </a:lnTo>
                <a:lnTo>
                  <a:pt x="133350" y="177800"/>
                </a:lnTo>
                <a:cubicBezTo>
                  <a:pt x="157867" y="177800"/>
                  <a:pt x="177800" y="197733"/>
                  <a:pt x="177800" y="222250"/>
                </a:cubicBezTo>
                <a:lnTo>
                  <a:pt x="177800" y="311150"/>
                </a:lnTo>
                <a:cubicBezTo>
                  <a:pt x="177800" y="335667"/>
                  <a:pt x="157867" y="355600"/>
                  <a:pt x="133350" y="355600"/>
                </a:cubicBezTo>
                <a:lnTo>
                  <a:pt x="44450" y="355600"/>
                </a:lnTo>
                <a:cubicBezTo>
                  <a:pt x="19933" y="355600"/>
                  <a:pt x="0" y="335667"/>
                  <a:pt x="0" y="311150"/>
                </a:cubicBezTo>
                <a:lnTo>
                  <a:pt x="0" y="222250"/>
                </a:lnTo>
                <a:close/>
              </a:path>
            </a:pathLst>
          </a:custGeom>
          <a:solidFill>
            <a:srgbClr val="B87333"/>
          </a:solidFill>
          <a:ln/>
        </p:spPr>
      </p:sp>
      <p:sp>
        <p:nvSpPr>
          <p:cNvPr id="38" name="Text 35"/>
          <p:cNvSpPr/>
          <p:nvPr/>
        </p:nvSpPr>
        <p:spPr>
          <a:xfrm>
            <a:off x="9398000" y="6794500"/>
            <a:ext cx="5842000" cy="698500"/>
          </a:xfrm>
          <a:prstGeom prst="rect">
            <a:avLst/>
          </a:prstGeom>
          <a:noFill/>
          <a:ln/>
        </p:spPr>
        <p:txBody>
          <a:bodyPr wrap="none" lIns="0" tIns="0" rIns="0" bIns="0" rtlCol="0" anchor="ctr"/>
          <a:lstStyle/>
          <a:p>
            <a:pPr>
              <a:lnSpc>
                <a:spcPct val="100000"/>
              </a:lnSpc>
            </a:pPr>
            <a:r>
              <a:rPr lang="en-US" sz="1800" b="1" dirty="0">
                <a:solidFill>
                  <a:srgbClr val="F2EDE4"/>
                </a:solidFill>
                <a:latin typeface="Quattrocento Sans" pitchFamily="34" charset="0"/>
                <a:ea typeface="Quattrocento Sans" pitchFamily="34" charset="-122"/>
                <a:cs typeface="Quattrocento Sans" pitchFamily="34" charset="-120"/>
              </a:rPr>
              <a:t>Inventory Management</a:t>
            </a:r>
            <a:pPr>
              <a:lnSpc>
                <a:spcPct val="100000"/>
              </a:lnSpc>
            </a:pPr>
            <a:r>
              <a:rPr lang="en-US" sz="1800" dirty="0">
                <a:solidFill>
                  <a:srgbClr val="F2EDE4"/>
                </a:solidFill>
                <a:latin typeface="Quattrocento Sans" pitchFamily="34" charset="0"/>
                <a:ea typeface="Quattrocento Sans" pitchFamily="34" charset="-122"/>
                <a:cs typeface="Quattrocento Sans" pitchFamily="34" charset="-120"/>
              </a:rPr>
              <a:t> — Stock tracking, fulfillment</a:t>
            </a:r>
            <a:endParaRPr lang="en-US" sz="1600" dirty="0"/>
          </a:p>
        </p:txBody>
      </p:sp>
      <p:sp>
        <p:nvSpPr>
          <p:cNvPr id="39" name="Shape 36"/>
          <p:cNvSpPr/>
          <p:nvPr/>
        </p:nvSpPr>
        <p:spPr>
          <a:xfrm>
            <a:off x="8636000" y="7620000"/>
            <a:ext cx="6858000" cy="698500"/>
          </a:xfrm>
          <a:prstGeom prst="rect">
            <a:avLst/>
          </a:prstGeom>
          <a:solidFill>
            <a:srgbClr val="1E3A3A"/>
          </a:solidFill>
          <a:ln/>
        </p:spPr>
      </p:sp>
      <p:sp>
        <p:nvSpPr>
          <p:cNvPr id="40" name="Shape 37"/>
          <p:cNvSpPr/>
          <p:nvPr/>
        </p:nvSpPr>
        <p:spPr>
          <a:xfrm>
            <a:off x="8912225" y="7785100"/>
            <a:ext cx="311150" cy="355600"/>
          </a:xfrm>
          <a:custGeom>
            <a:avLst/>
            <a:gdLst/>
            <a:ahLst/>
            <a:cxnLst/>
            <a:rect l="l" t="t" r="r" b="b"/>
            <a:pathLst>
              <a:path w="311150" h="355600">
                <a:moveTo>
                  <a:pt x="235307" y="-6876"/>
                </a:moveTo>
                <a:cubicBezTo>
                  <a:pt x="243572" y="-903"/>
                  <a:pt x="246628" y="9932"/>
                  <a:pt x="242878" y="19377"/>
                </a:cubicBezTo>
                <a:lnTo>
                  <a:pt x="188426" y="155575"/>
                </a:lnTo>
                <a:lnTo>
                  <a:pt x="288925" y="155575"/>
                </a:lnTo>
                <a:cubicBezTo>
                  <a:pt x="298301" y="155575"/>
                  <a:pt x="306636" y="161409"/>
                  <a:pt x="309830" y="170230"/>
                </a:cubicBezTo>
                <a:cubicBezTo>
                  <a:pt x="313025" y="179050"/>
                  <a:pt x="310317" y="188913"/>
                  <a:pt x="303163" y="194885"/>
                </a:cubicBezTo>
                <a:lnTo>
                  <a:pt x="103138" y="361573"/>
                </a:lnTo>
                <a:cubicBezTo>
                  <a:pt x="95290" y="368102"/>
                  <a:pt x="84108" y="368449"/>
                  <a:pt x="75843" y="362476"/>
                </a:cubicBezTo>
                <a:cubicBezTo>
                  <a:pt x="67578" y="356503"/>
                  <a:pt x="64522" y="345668"/>
                  <a:pt x="68272" y="336223"/>
                </a:cubicBezTo>
                <a:lnTo>
                  <a:pt x="122724" y="200025"/>
                </a:lnTo>
                <a:lnTo>
                  <a:pt x="22225" y="200025"/>
                </a:lnTo>
                <a:cubicBezTo>
                  <a:pt x="12849" y="200025"/>
                  <a:pt x="4514" y="194191"/>
                  <a:pt x="1320" y="185370"/>
                </a:cubicBezTo>
                <a:cubicBezTo>
                  <a:pt x="-1875" y="176550"/>
                  <a:pt x="833" y="166688"/>
                  <a:pt x="7987" y="160715"/>
                </a:cubicBezTo>
                <a:lnTo>
                  <a:pt x="208012" y="-5973"/>
                </a:lnTo>
                <a:cubicBezTo>
                  <a:pt x="215860" y="-12502"/>
                  <a:pt x="227042" y="-12849"/>
                  <a:pt x="235307" y="-6876"/>
                </a:cubicBezTo>
                <a:close/>
              </a:path>
            </a:pathLst>
          </a:custGeom>
          <a:solidFill>
            <a:srgbClr val="B87333"/>
          </a:solidFill>
          <a:ln/>
        </p:spPr>
      </p:sp>
      <p:sp>
        <p:nvSpPr>
          <p:cNvPr id="41" name="Text 38"/>
          <p:cNvSpPr/>
          <p:nvPr/>
        </p:nvSpPr>
        <p:spPr>
          <a:xfrm>
            <a:off x="9398000" y="7620000"/>
            <a:ext cx="5842000" cy="698500"/>
          </a:xfrm>
          <a:prstGeom prst="rect">
            <a:avLst/>
          </a:prstGeom>
          <a:noFill/>
          <a:ln/>
        </p:spPr>
        <p:txBody>
          <a:bodyPr wrap="none" lIns="0" tIns="0" rIns="0" bIns="0" rtlCol="0" anchor="ctr"/>
          <a:lstStyle/>
          <a:p>
            <a:pPr>
              <a:lnSpc>
                <a:spcPct val="100000"/>
              </a:lnSpc>
            </a:pPr>
            <a:r>
              <a:rPr lang="en-US" sz="1800" b="1" dirty="0">
                <a:solidFill>
                  <a:srgbClr val="F2EDE4"/>
                </a:solidFill>
                <a:latin typeface="Quattrocento Sans" pitchFamily="34" charset="0"/>
                <a:ea typeface="Quattrocento Sans" pitchFamily="34" charset="-122"/>
                <a:cs typeface="Quattrocento Sans" pitchFamily="34" charset="-120"/>
              </a:rPr>
              <a:t>Query Optimization</a:t>
            </a:r>
            <a:pPr>
              <a:lnSpc>
                <a:spcPct val="100000"/>
              </a:lnSpc>
            </a:pPr>
            <a:r>
              <a:rPr lang="en-US" sz="1800" dirty="0">
                <a:solidFill>
                  <a:srgbClr val="F2EDE4"/>
                </a:solidFill>
                <a:latin typeface="Quattrocento Sans" pitchFamily="34" charset="0"/>
                <a:ea typeface="Quattrocento Sans" pitchFamily="34" charset="-122"/>
                <a:cs typeface="Quattrocento Sans" pitchFamily="34" charset="-120"/>
              </a:rPr>
              <a:t> — Joins, indexes, efficiency</a:t>
            </a:r>
            <a:endParaRPr lang="en-US" sz="1600" dirty="0"/>
          </a:p>
        </p:txBody>
      </p:sp>
      <p:sp>
        <p:nvSpPr>
          <p:cNvPr id="42" name="Text 39"/>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8A9B8A"/>
                </a:solidFill>
                <a:latin typeface="QuattrocentoSans" pitchFamily="34" charset="0"/>
                <a:ea typeface="QuattrocentoSans" pitchFamily="34" charset="-122"/>
                <a:cs typeface="QuattrocentoSans" pitchFamily="34" charset="-120"/>
              </a:rPr>
              <a:t>13</a:t>
            </a:r>
            <a:endParaRPr lang="en-US" sz="12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https://kimi-img.moonshot.cn/pub/slides/okc/k2z4c76ljeume/mnt/agents/output/bookstore_sql/images/8_Free_Books_in_Library_Image_Books.png">    </p:cNvPr>
          <p:cNvPicPr>
            <a:picLocks noChangeAspect="1"/>
          </p:cNvPicPr>
          <p:nvPr/>
        </p:nvPicPr>
        <p:blipFill>
          <a:blip r:embed="rId1"/>
          <a:srcRect l="0" r="0" t="21875" b="21875"/>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162B2B">
                  <a:alpha val="90000"/>
                </a:srgbClr>
              </a:gs>
              <a:gs pos="50000">
                <a:srgbClr val="162B2B">
                  <a:alpha val="80000"/>
                </a:srgbClr>
              </a:gs>
              <a:gs pos="100000">
                <a:srgbClr val="162B2B">
                  <a:alpha val="95000"/>
                </a:srgbClr>
              </a:gs>
            </a:gsLst>
            <a:lin ang="5400000" scaled="1"/>
          </a:gradFill>
          <a:ln w="12700">
            <a:solidFill>
              <a:srgbClr val="333333"/>
            </a:solidFill>
            <a:prstDash val="solid"/>
          </a:ln>
        </p:spPr>
      </p:sp>
      <p:sp>
        <p:nvSpPr>
          <p:cNvPr id="4" name="Shape 1"/>
          <p:cNvSpPr/>
          <p:nvPr/>
        </p:nvSpPr>
        <p:spPr>
          <a:xfrm>
            <a:off x="6858000" y="3048000"/>
            <a:ext cx="2540000" cy="38100"/>
          </a:xfrm>
          <a:prstGeom prst="rect">
            <a:avLst/>
          </a:prstGeom>
          <a:solidFill>
            <a:srgbClr val="B87333"/>
          </a:solidFill>
          <a:ln/>
        </p:spPr>
      </p:sp>
      <p:sp>
        <p:nvSpPr>
          <p:cNvPr id="5" name="Text 2"/>
          <p:cNvSpPr/>
          <p:nvPr/>
        </p:nvSpPr>
        <p:spPr>
          <a:xfrm>
            <a:off x="1778000" y="3302000"/>
            <a:ext cx="12700000" cy="762000"/>
          </a:xfrm>
          <a:prstGeom prst="rect">
            <a:avLst/>
          </a:prstGeom>
          <a:noFill/>
          <a:ln/>
        </p:spPr>
        <p:txBody>
          <a:bodyPr wrap="none" lIns="0" tIns="0" rIns="0" bIns="0" rtlCol="0" anchor="ctr"/>
          <a:lstStyle/>
          <a:p>
            <a:pPr algn="ctr">
              <a:lnSpc>
                <a:spcPct val="100000"/>
              </a:lnSpc>
            </a:pPr>
            <a:r>
              <a:rPr lang="en-US" sz="4200" spc="300" kern="0" dirty="0">
                <a:solidFill>
                  <a:srgbClr val="F2EDE4"/>
                </a:solidFill>
                <a:latin typeface="Liter" pitchFamily="34" charset="0"/>
                <a:ea typeface="Liter" pitchFamily="34" charset="-122"/>
                <a:cs typeface="Liter" pitchFamily="34" charset="-120"/>
              </a:rPr>
              <a:t>THANK YOU</a:t>
            </a:r>
            <a:endParaRPr lang="en-US" sz="4200" dirty="0"/>
          </a:p>
        </p:txBody>
      </p:sp>
      <p:sp>
        <p:nvSpPr>
          <p:cNvPr id="6" name="Text 3"/>
          <p:cNvSpPr/>
          <p:nvPr/>
        </p:nvSpPr>
        <p:spPr>
          <a:xfrm>
            <a:off x="3048000" y="4318000"/>
            <a:ext cx="10160000" cy="381000"/>
          </a:xfrm>
          <a:prstGeom prst="rect">
            <a:avLst/>
          </a:prstGeom>
          <a:noFill/>
          <a:ln/>
        </p:spPr>
        <p:txBody>
          <a:bodyPr wrap="none" lIns="0" tIns="0" rIns="0" bIns="0" rtlCol="0" anchor="ctr"/>
          <a:lstStyle/>
          <a:p>
            <a:pPr algn="ctr">
              <a:lnSpc>
                <a:spcPct val="100000"/>
              </a:lnSpc>
            </a:pPr>
            <a:r>
              <a:rPr lang="en-US" sz="2000" dirty="0">
                <a:solidFill>
                  <a:srgbClr val="B8C4C4"/>
                </a:solidFill>
                <a:latin typeface="Quattrocento Sans" pitchFamily="34" charset="0"/>
                <a:ea typeface="Quattrocento Sans" pitchFamily="34" charset="-122"/>
                <a:cs typeface="Quattrocento Sans" pitchFamily="34" charset="-120"/>
              </a:rPr>
              <a:t>Bookstore Management Database — MySQL Project</a:t>
            </a:r>
            <a:endParaRPr lang="en-US" sz="1600" dirty="0"/>
          </a:p>
        </p:txBody>
      </p:sp>
      <p:sp>
        <p:nvSpPr>
          <p:cNvPr id="7" name="Text 4"/>
          <p:cNvSpPr/>
          <p:nvPr/>
        </p:nvSpPr>
        <p:spPr>
          <a:xfrm>
            <a:off x="3683000" y="4953000"/>
            <a:ext cx="8890000" cy="355600"/>
          </a:xfrm>
          <a:prstGeom prst="rect">
            <a:avLst/>
          </a:prstGeom>
          <a:noFill/>
          <a:ln/>
        </p:spPr>
        <p:txBody>
          <a:bodyPr wrap="none" lIns="0" tIns="0" rIns="0" bIns="0" rtlCol="0" anchor="ctr"/>
          <a:lstStyle/>
          <a:p>
            <a:pPr algn="ctr">
              <a:lnSpc>
                <a:spcPct val="100000"/>
              </a:lnSpc>
            </a:pPr>
            <a:r>
              <a:rPr lang="en-US" sz="1600" dirty="0">
                <a:solidFill>
                  <a:srgbClr val="8A9B8A"/>
                </a:solidFill>
                <a:latin typeface="Quattrocento Sans" pitchFamily="34" charset="0"/>
                <a:ea typeface="Quattrocento Sans" pitchFamily="34" charset="-122"/>
                <a:cs typeface="Quattrocento Sans" pitchFamily="34" charset="-120"/>
              </a:rPr>
              <a:t>Questions &amp; Discussion</a:t>
            </a:r>
            <a:endParaRPr lang="en-US" sz="1600" dirty="0"/>
          </a:p>
        </p:txBody>
      </p:sp>
      <p:sp>
        <p:nvSpPr>
          <p:cNvPr id="8" name="Shape 5"/>
          <p:cNvSpPr/>
          <p:nvPr/>
        </p:nvSpPr>
        <p:spPr>
          <a:xfrm>
            <a:off x="762000" y="7874000"/>
            <a:ext cx="14732000" cy="12700"/>
          </a:xfrm>
          <a:prstGeom prst="rect">
            <a:avLst/>
          </a:prstGeom>
          <a:solidFill>
            <a:srgbClr val="F2EDE4">
              <a:alpha val="18824"/>
            </a:srgbClr>
          </a:solidFill>
          <a:ln/>
        </p:spPr>
      </p:sp>
      <p:sp>
        <p:nvSpPr>
          <p:cNvPr id="9" name="Text 6"/>
          <p:cNvSpPr/>
          <p:nvPr/>
        </p:nvSpPr>
        <p:spPr>
          <a:xfrm>
            <a:off x="762000" y="8128000"/>
            <a:ext cx="5080000" cy="254000"/>
          </a:xfrm>
          <a:prstGeom prst="rect">
            <a:avLst/>
          </a:prstGeom>
          <a:noFill/>
          <a:ln/>
        </p:spPr>
        <p:txBody>
          <a:bodyPr wrap="none" lIns="0" tIns="0" rIns="0" bIns="0" rtlCol="0" anchor="ctr"/>
          <a:lstStyle/>
          <a:p>
            <a:pPr>
              <a:lnSpc>
                <a:spcPct val="100000"/>
              </a:lnSpc>
            </a:pPr>
            <a:r>
              <a:rPr lang="en-US" sz="1200" dirty="0">
                <a:solidFill>
                  <a:srgbClr val="8A9B8A"/>
                </a:solidFill>
                <a:latin typeface="Quattrocento Sans" pitchFamily="34" charset="0"/>
                <a:ea typeface="Quattrocento Sans" pitchFamily="34" charset="-122"/>
                <a:cs typeface="Quattrocento Sans" pitchFamily="34" charset="-120"/>
              </a:rPr>
              <a:t>SQL PROJECT PRESENTATION</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Bookstore Management Database</dc:title>
  <dc:subject>Bookstore Management Database</dc:subject>
  <dc:creator>Kimi</dc:creator>
  <cp:lastModifiedBy>Kimi</cp:lastModifiedBy>
  <cp:revision>1</cp:revision>
  <dcterms:created xsi:type="dcterms:W3CDTF">2026-06-01T18:53:16Z</dcterms:created>
  <dcterms:modified xsi:type="dcterms:W3CDTF">2026-06-01T18:53:16Z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{"Label":"Bookstore Management Database","ContentProducer":"001191110108MACG2KBH8F10000","ProduceID":"19e84824-d232-87fc-8000-000019c2e7b7","ReservedCode1":"","ContentPropagator":"001191110108MACG2KBH8F20000","PropagateID":"19e84824-d232-87fc-8000-000019c2e7b7","ReservedCode2":""}</vt:lpwstr>
  </property>
</Properties>
</file>